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3" r:id="rId2"/>
  </p:sldMasterIdLst>
  <p:notesMasterIdLst>
    <p:notesMasterId r:id="rId40"/>
  </p:notesMasterIdLst>
  <p:sldIdLst>
    <p:sldId id="3283" r:id="rId3"/>
    <p:sldId id="3267" r:id="rId4"/>
    <p:sldId id="3512" r:id="rId5"/>
    <p:sldId id="3238" r:id="rId6"/>
    <p:sldId id="3524" r:id="rId7"/>
    <p:sldId id="3517" r:id="rId8"/>
    <p:sldId id="3534" r:id="rId9"/>
    <p:sldId id="3535" r:id="rId10"/>
    <p:sldId id="3536" r:id="rId11"/>
    <p:sldId id="259" r:id="rId12"/>
    <p:sldId id="260" r:id="rId13"/>
    <p:sldId id="261" r:id="rId14"/>
    <p:sldId id="3285" r:id="rId15"/>
    <p:sldId id="262" r:id="rId16"/>
    <p:sldId id="263" r:id="rId17"/>
    <p:sldId id="3284" r:id="rId18"/>
    <p:sldId id="3537" r:id="rId19"/>
    <p:sldId id="3553" r:id="rId20"/>
    <p:sldId id="3548" r:id="rId21"/>
    <p:sldId id="3287" r:id="rId22"/>
    <p:sldId id="3544" r:id="rId23"/>
    <p:sldId id="3545" r:id="rId24"/>
    <p:sldId id="3546" r:id="rId25"/>
    <p:sldId id="258" r:id="rId26"/>
    <p:sldId id="269" r:id="rId27"/>
    <p:sldId id="3538" r:id="rId28"/>
    <p:sldId id="265" r:id="rId29"/>
    <p:sldId id="267" r:id="rId30"/>
    <p:sldId id="3547" r:id="rId31"/>
    <p:sldId id="3539" r:id="rId32"/>
    <p:sldId id="268" r:id="rId33"/>
    <p:sldId id="2690" r:id="rId34"/>
    <p:sldId id="3286" r:id="rId35"/>
    <p:sldId id="3549" r:id="rId36"/>
    <p:sldId id="3550" r:id="rId37"/>
    <p:sldId id="3551" r:id="rId38"/>
    <p:sldId id="3552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E1E828-E653-B0BF-2A85-A1741DC64004}" name="Farkas, Mátyás" initials="MF" userId="S::mfarkas@imf.org::e845d0c0-1925-4c44-8917-83c01ab326c4" providerId="AD"/>
  <p188:author id="{C1AF50E0-D49C-73F1-8C35-EB50B37DA371}" name="Linde, Jesper L" initials="LJL" userId="S::JLinde@imf.org::723dd2ac-4d1d-4fb1-9caf-d5042cfd0ec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FAFAFB"/>
    <a:srgbClr val="F5F5F5"/>
    <a:srgbClr val="0F9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186" autoAdjust="0"/>
  </p:normalViewPr>
  <p:slideViewPr>
    <p:cSldViewPr snapToGrid="0" snapToObjects="1">
      <p:cViewPr varScale="1">
        <p:scale>
          <a:sx n="146" d="100"/>
          <a:sy n="146" d="100"/>
        </p:scale>
        <p:origin x="2910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55676-0A5C-48CA-899E-44334453C20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4B555-52C9-4B5B-BF37-BCC46ADC7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60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3149">
              <a:defRPr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defTabSz="933149">
              <a:defRPr/>
            </a:pPr>
            <a:fld id="{49E4E862-E263-8B4A-AFB5-DFAAA754BCA9}" type="datetime1">
              <a:rPr lang="en-US">
                <a:solidFill>
                  <a:prstClr val="black"/>
                </a:solidFill>
                <a:latin typeface="Calibri"/>
              </a:rPr>
              <a:pPr defTabSz="933149">
                <a:defRPr/>
              </a:pPr>
              <a:t>7/17/2026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33149">
              <a:defRPr/>
            </a:pPr>
            <a:fld id="{BA49F774-CCF9-492C-9AEB-F2814D4A6625}" type="slidenum">
              <a:rPr lang="en-US">
                <a:solidFill>
                  <a:prstClr val="black"/>
                </a:solidFill>
                <a:latin typeface="Calibri"/>
              </a:rPr>
              <a:pPr defTabSz="933149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754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83FDD-FF2D-B68C-2162-C2FC0002F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F6205-D61C-63B1-06AB-F0DCC8D1C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0AC4EA-C6F7-CF8D-4382-3495277A2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F8315-AD54-8E13-77D6-22D57AD5D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C9FC-9A08-4980-A368-8F887D2598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97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4E862-E263-8B4A-AFB5-DFAAA754BCA9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199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2C9FC-9A08-4980-A368-8F887D2598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51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1DF8-D6C6-43B3-BE15-0C65D3E993B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905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1DF8-D6C6-43B3-BE15-0C65D3E993B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698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1DF8-D6C6-43B3-BE15-0C65D3E993B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3421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DF629-410B-709C-EAC4-7A964232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0A4A0-C4D7-9C06-55D8-C4D27E21C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B17B9-5C08-C4AF-AEAE-A3CAA7536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9E68E-97EA-4EC2-9DFD-0F6951DF3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1DF8-D6C6-43B3-BE15-0C65D3E993B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860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919A-0F42-2F0E-8B8D-4863CAE00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DB31D-3BE1-AA62-ADDD-7B00C7AB9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869F0-D6E6-288E-7B9B-752FF9FF5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A6399-3994-02D6-341F-7E5AAA38E37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4E862-E263-8B4A-AFB5-DFAAA754BCA9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8436E8-8C65-F8AD-492F-5FDBF33945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759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4B555-52C9-4B5B-BF37-BCC46ADC77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85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1F6A-8691-CA3F-113C-11A80023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50D28-C890-27D6-D0CA-B188FE53D4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7F60B-74D2-3244-1D55-04CA71489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93BCD-4A48-32B6-CA83-B82299A157F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4E862-E263-8B4A-AFB5-DFAAA754BCA9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57879-E9CC-3BD9-48F7-5251243AA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069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4F380-B3C1-3B35-B8AB-803240EF4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7FB91-2C47-0587-ACAF-962346013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BA1B0-FCCF-397C-2366-74E9EB758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60543-D03C-0CFC-2FBB-925104469B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1DF8-D6C6-43B3-BE15-0C65D3E993B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6590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23074-C39B-CCAB-3C28-55455CDC9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6554BE-6CEA-5D4B-2022-FD96BDB06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CB44E5-0992-25FF-C982-610F50E4A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6497F-D4BA-738A-1A05-B2CA1F8AEEF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4E862-E263-8B4A-AFB5-DFAAA754BCA9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911AB-6BC5-CF9F-5234-B28FAF18F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9988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7B39-3F15-5781-AE38-A6605F51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1043C-7801-0D8C-AF08-0877FB771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65415-5FD1-1B9C-C59B-0103842C1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C6252-6701-5A24-C9B5-1A6125BA34C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E4E862-E263-8B4A-AFB5-DFAAA754BCA9}" type="datetime1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7/17/2026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FC0C2-BE5A-29BE-B9FE-63DED4DD7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49F774-CCF9-492C-9AEB-F2814D4A662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516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1DF8-D6C6-43B3-BE15-0C65D3E993B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146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E6713-161E-3166-F715-8A453349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97059-5BD0-A4A4-3C9D-D3637FCEA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75A15-E4E2-CA2E-CEC7-C085EF311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C1642-FF58-C241-A2A2-9A5C180AC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70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001DF8-D6C6-43B3-BE15-0C65D3E993B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470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462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605BF9-2A92-FA4A-AE68-6B1AFBD208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716" y="697154"/>
            <a:ext cx="1241727" cy="12437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9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52" y="1940934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52" y="4180267"/>
            <a:ext cx="5515284" cy="369332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Month </a:t>
            </a:r>
            <a:r>
              <a:rPr lang="en-US" dirty="0" err="1"/>
              <a:t>dd</a:t>
            </a:r>
            <a:r>
              <a:rPr lang="en-US" dirty="0"/>
              <a:t>, </a:t>
            </a:r>
            <a:r>
              <a:rPr lang="en-US" dirty="0" err="1"/>
              <a:t>yyyy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52" y="5500599"/>
            <a:ext cx="5515284" cy="592470"/>
          </a:xfrm>
        </p:spPr>
        <p:txBody>
          <a:bodyPr lIns="0" tIns="0" rIns="0" bIns="0" anchor="b" anchorCtr="0"/>
          <a:lstStyle>
            <a:lvl1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" y="6597164"/>
            <a:ext cx="4891088" cy="260840"/>
          </a:xfrm>
        </p:spPr>
        <p:txBody>
          <a:bodyPr lIns="91440" tIns="45720" rIns="91440" bIns="45720">
            <a:noAutofit/>
          </a:bodyPr>
          <a:lstStyle>
            <a:lvl1pPr>
              <a:defRPr sz="901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254488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4945">
          <p15:clr>
            <a:srgbClr val="FBAE40"/>
          </p15:clr>
        </p15:guide>
        <p15:guide id="4" pos="42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6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 dirty="0"/>
              <a:t>Slide Title for Single-Column,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2"/>
            <a:ext cx="9715500" cy="1461939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99" marR="0" indent="-225430" algn="l" defTabSz="9143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Paragraph/</a:t>
            </a:r>
            <a:r>
              <a:rPr lang="en-US" dirty="0" err="1"/>
              <a:t>unbulleted</a:t>
            </a:r>
            <a:r>
              <a:rPr lang="en-US" dirty="0"/>
              <a:t> text formatting</a:t>
            </a:r>
          </a:p>
          <a:p>
            <a:pPr lvl="1"/>
            <a:r>
              <a:rPr lang="en-US" dirty="0"/>
              <a:t>Click the “Indent More” button (in the Home ribbon, above) for first-level bullets</a:t>
            </a:r>
          </a:p>
          <a:p>
            <a:pPr marL="458799" marR="0" lvl="2" indent="-225430" algn="l" defTabSz="9143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 dirty="0"/>
              <a:t>Double-click the “Indent More” button (above) for second-level bullets</a:t>
            </a:r>
          </a:p>
          <a:p>
            <a:pPr lvl="3"/>
            <a:r>
              <a:rPr lang="en-US" dirty="0"/>
              <a:t>Triple-click the “Indent More” button (above) for third-level bullets</a:t>
            </a:r>
          </a:p>
          <a:p>
            <a:pPr lvl="4"/>
            <a:r>
              <a:rPr lang="en-US" dirty="0"/>
              <a:t>Quadruple-click the “Indent More” button (above) for fourth-level bullets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85B8E-4CFD-187A-FE17-4073BBB2410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7CDF41-9A55-588B-EA5A-65B97169D4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FF28B-F31D-D7E1-CECA-7A0F057B9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8215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6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 dirty="0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2"/>
            <a:ext cx="9715500" cy="1461939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99" marR="0" indent="-225430" algn="l" defTabSz="9143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Paragraph/</a:t>
            </a:r>
            <a:r>
              <a:rPr lang="en-US" dirty="0" err="1"/>
              <a:t>unbulleted</a:t>
            </a:r>
            <a:r>
              <a:rPr lang="en-US" dirty="0"/>
              <a:t> text formatting</a:t>
            </a:r>
          </a:p>
          <a:p>
            <a:pPr lvl="1"/>
            <a:r>
              <a:rPr lang="en-US" dirty="0"/>
              <a:t>Click the “Indent More” button (in the Home ribbon, above) for first-level bullets</a:t>
            </a:r>
          </a:p>
          <a:p>
            <a:pPr marL="458799" marR="0" lvl="2" indent="-225430" algn="l" defTabSz="9143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 dirty="0"/>
              <a:t>Double-click the “Indent More” button (above) for second-level bullets</a:t>
            </a:r>
          </a:p>
          <a:p>
            <a:pPr lvl="3"/>
            <a:r>
              <a:rPr lang="en-US" dirty="0"/>
              <a:t>Triple-click the “Indent More” button (above) for third-level bullets</a:t>
            </a:r>
          </a:p>
          <a:p>
            <a:pPr lvl="4"/>
            <a:r>
              <a:rPr lang="en-US" dirty="0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193494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3"/>
            <a:ext cx="10363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3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922812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230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3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3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07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1577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48955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605BF9-2A92-FA4A-AE68-6B1AFBD208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716" y="697154"/>
            <a:ext cx="1241727" cy="12437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9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52" y="1940934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52" y="4180267"/>
            <a:ext cx="5515284" cy="369332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Month </a:t>
            </a:r>
            <a:r>
              <a:rPr lang="en-US" dirty="0" err="1"/>
              <a:t>dd</a:t>
            </a:r>
            <a:r>
              <a:rPr lang="en-US" dirty="0"/>
              <a:t>, </a:t>
            </a:r>
            <a:r>
              <a:rPr lang="en-US" dirty="0" err="1"/>
              <a:t>yyyy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52" y="5500599"/>
            <a:ext cx="5515284" cy="592470"/>
          </a:xfrm>
        </p:spPr>
        <p:txBody>
          <a:bodyPr lIns="0" tIns="0" rIns="0" bIns="0" anchor="b" anchorCtr="0"/>
          <a:lstStyle>
            <a:lvl1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1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 dirty="0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" y="6597164"/>
            <a:ext cx="4891088" cy="260840"/>
          </a:xfrm>
        </p:spPr>
        <p:txBody>
          <a:bodyPr lIns="91440" tIns="45720" rIns="91440" bIns="45720">
            <a:noAutofit/>
          </a:bodyPr>
          <a:lstStyle>
            <a:lvl1pPr>
              <a:defRPr sz="901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22100003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3799">
          <p15:clr>
            <a:srgbClr val="FBAE40"/>
          </p15:clr>
        </p15:guide>
        <p15:guide id="3" pos="4945">
          <p15:clr>
            <a:srgbClr val="FBAE40"/>
          </p15:clr>
        </p15:guide>
        <p15:guide id="4" pos="423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40" y="491389"/>
            <a:ext cx="9715501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 dirty="0"/>
              <a:t>Title for Two-Column,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7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800" marR="0" indent="-225431" algn="l" defTabSz="9143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Paragraph/</a:t>
            </a:r>
            <a:r>
              <a:rPr lang="en-US" dirty="0" err="1"/>
              <a:t>unbulleted</a:t>
            </a:r>
            <a:r>
              <a:rPr lang="en-US" dirty="0"/>
              <a:t> text formatting</a:t>
            </a:r>
          </a:p>
          <a:p>
            <a:pPr lvl="1"/>
            <a:r>
              <a:rPr lang="en-US" dirty="0"/>
              <a:t>Click the “Indent More” button (in the Home ribbon, above) for first-level bullets</a:t>
            </a:r>
          </a:p>
          <a:p>
            <a:pPr marL="458800" marR="0" lvl="2" indent="-225431" algn="l" defTabSz="9143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 dirty="0"/>
              <a:t>Double-click the “Indent More” button (above) for second-level bullets</a:t>
            </a:r>
          </a:p>
          <a:p>
            <a:pPr lvl="3"/>
            <a:r>
              <a:rPr lang="en-US" dirty="0"/>
              <a:t>Triple-click the “Indent More” button (above) for third-level bullets</a:t>
            </a:r>
          </a:p>
          <a:p>
            <a:pPr lvl="4"/>
            <a:r>
              <a:rPr lang="en-US" dirty="0"/>
              <a:t>Quadruple-click the “Indent More” button (above) for fourth-level bullets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7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800" marR="0" indent="-225431" algn="l" defTabSz="9143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Paragraph/</a:t>
            </a:r>
            <a:r>
              <a:rPr lang="en-US" dirty="0" err="1"/>
              <a:t>unbulleted</a:t>
            </a:r>
            <a:r>
              <a:rPr lang="en-US" dirty="0"/>
              <a:t> text formatting</a:t>
            </a:r>
          </a:p>
          <a:p>
            <a:pPr lvl="1"/>
            <a:r>
              <a:rPr lang="en-US" dirty="0"/>
              <a:t>Click the “Indent More” button (in the Home ribbon, above) for first-level bullets</a:t>
            </a:r>
          </a:p>
          <a:p>
            <a:pPr marL="458800" marR="0" lvl="2" indent="-225431" algn="l" defTabSz="9143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 dirty="0"/>
              <a:t>Double-click the “Indent More” button (above) for second-level bullets</a:t>
            </a:r>
          </a:p>
          <a:p>
            <a:pPr lvl="3"/>
            <a:r>
              <a:rPr lang="en-US" dirty="0"/>
              <a:t>Triple-click the “Indent More” button (above) for third-level bullets</a:t>
            </a:r>
          </a:p>
          <a:p>
            <a:pPr lvl="4"/>
            <a:r>
              <a:rPr lang="en-US" dirty="0"/>
              <a:t>Quadruple-click the “Indent More” button (above) for fourth-level bullets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2B71F5-23BD-A943-8CA6-64D3C92123D3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538"/>
            <a:ext cx="0" cy="4425462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0127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275">
          <p15:clr>
            <a:srgbClr val="FBAE40"/>
          </p15:clr>
        </p15:guide>
        <p15:guide id="3" pos="1073">
          <p15:clr>
            <a:srgbClr val="FBAE40"/>
          </p15:clr>
        </p15:guide>
        <p15:guide id="4" pos="94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6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 dirty="0"/>
              <a:t>Slide Title for Single-Column,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2"/>
            <a:ext cx="9715500" cy="1461939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99" marR="0" indent="-225430" algn="l" defTabSz="9143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Paragraph/</a:t>
            </a:r>
            <a:r>
              <a:rPr lang="en-US" dirty="0" err="1"/>
              <a:t>unbulleted</a:t>
            </a:r>
            <a:r>
              <a:rPr lang="en-US" dirty="0"/>
              <a:t> text formatting</a:t>
            </a:r>
          </a:p>
          <a:p>
            <a:pPr lvl="1"/>
            <a:r>
              <a:rPr lang="en-US" dirty="0"/>
              <a:t>Click the “Indent More” button (in the Home ribbon, above) for first-level bullets</a:t>
            </a:r>
          </a:p>
          <a:p>
            <a:pPr marL="458799" marR="0" lvl="2" indent="-225430" algn="l" defTabSz="9143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 dirty="0"/>
              <a:t>Double-click the “Indent More” button (above) for second-level bullets</a:t>
            </a:r>
          </a:p>
          <a:p>
            <a:pPr lvl="3"/>
            <a:r>
              <a:rPr lang="en-US" dirty="0"/>
              <a:t>Triple-click the “Indent More” button (above) for third-level bullets</a:t>
            </a:r>
          </a:p>
          <a:p>
            <a:pPr lvl="4"/>
            <a:r>
              <a:rPr lang="en-US" dirty="0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32273299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-Column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6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 dirty="0"/>
              <a:t>Slide Title for Single-Column (W)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2"/>
            <a:ext cx="9715500" cy="1461939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99" marR="0" indent="-225430" algn="l" defTabSz="9143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Paragraph/</a:t>
            </a:r>
            <a:r>
              <a:rPr lang="en-US" dirty="0" err="1"/>
              <a:t>unbulleted</a:t>
            </a:r>
            <a:r>
              <a:rPr lang="en-US" dirty="0"/>
              <a:t> text formatting</a:t>
            </a:r>
          </a:p>
          <a:p>
            <a:pPr lvl="1"/>
            <a:r>
              <a:rPr lang="en-US" dirty="0"/>
              <a:t>Click the “Indent More” button (in the Home ribbon, above) for first-level bullets</a:t>
            </a:r>
          </a:p>
          <a:p>
            <a:pPr marL="458799" marR="0" lvl="2" indent="-225430" algn="l" defTabSz="91433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 dirty="0"/>
              <a:t>Double-click the “Indent More” button (above) for second-level bullets</a:t>
            </a:r>
          </a:p>
          <a:p>
            <a:pPr lvl="3"/>
            <a:r>
              <a:rPr lang="en-US" dirty="0"/>
              <a:t>Triple-click the “Indent More” button (above) for third-level bullets</a:t>
            </a:r>
          </a:p>
          <a:p>
            <a:pPr lvl="4"/>
            <a:r>
              <a:rPr lang="en-US" dirty="0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34196742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-Column (B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 dirty="0"/>
              <a:t>Title for Single-Column (B)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 marL="0" marR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/>
            </a:pPr>
            <a:r>
              <a:rPr lang="en-US" dirty="0"/>
              <a:t>Paragraph/</a:t>
            </a:r>
            <a:r>
              <a:rPr lang="en-US" dirty="0" err="1"/>
              <a:t>unbulleted</a:t>
            </a:r>
            <a:r>
              <a:rPr lang="en-US" dirty="0"/>
              <a:t> text formatting</a:t>
            </a:r>
          </a:p>
          <a:p>
            <a:pPr lvl="1"/>
            <a:r>
              <a:rPr lang="en-US" dirty="0"/>
              <a:t>Click the “Indent More” button (in the Home ribbon, above) for first-level bullets</a:t>
            </a:r>
          </a:p>
          <a:p>
            <a:pPr lvl="2"/>
            <a:r>
              <a:rPr lang="en-US" dirty="0"/>
              <a:t>Double-click the “Indent More” button (above) for second-level bullets</a:t>
            </a:r>
          </a:p>
          <a:p>
            <a:pPr lvl="3"/>
            <a:r>
              <a:rPr lang="en-US" dirty="0"/>
              <a:t>Triple-click the “Indent More” button (above) for third-level bullets</a:t>
            </a:r>
          </a:p>
          <a:p>
            <a:pPr lvl="4"/>
            <a:r>
              <a:rPr lang="en-US" dirty="0"/>
              <a:t>Quadruple-click the “Indent More” button (above) for fourth-level bullets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1EA4B-58AD-3842-9BEC-4B9FF60E019D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D9C8-9F14-B64C-88D7-AFEADAB39B39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3004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3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3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3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3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3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165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54196">
        <a:defRPr>
          <a:latin typeface="+mn-lt"/>
          <a:ea typeface="+mn-ea"/>
          <a:cs typeface="+mn-cs"/>
        </a:defRPr>
      </a:lvl2pPr>
      <a:lvl3pPr marL="1108391">
        <a:defRPr>
          <a:latin typeface="+mn-lt"/>
          <a:ea typeface="+mn-ea"/>
          <a:cs typeface="+mn-cs"/>
        </a:defRPr>
      </a:lvl3pPr>
      <a:lvl4pPr marL="1662587">
        <a:defRPr>
          <a:latin typeface="+mn-lt"/>
          <a:ea typeface="+mn-ea"/>
          <a:cs typeface="+mn-cs"/>
        </a:defRPr>
      </a:lvl4pPr>
      <a:lvl5pPr marL="2216784">
        <a:defRPr>
          <a:latin typeface="+mn-lt"/>
          <a:ea typeface="+mn-ea"/>
          <a:cs typeface="+mn-cs"/>
        </a:defRPr>
      </a:lvl5pPr>
      <a:lvl6pPr marL="2770980">
        <a:defRPr>
          <a:latin typeface="+mn-lt"/>
          <a:ea typeface="+mn-ea"/>
          <a:cs typeface="+mn-cs"/>
        </a:defRPr>
      </a:lvl6pPr>
      <a:lvl7pPr marL="3325175">
        <a:defRPr>
          <a:latin typeface="+mn-lt"/>
          <a:ea typeface="+mn-ea"/>
          <a:cs typeface="+mn-cs"/>
        </a:defRPr>
      </a:lvl7pPr>
      <a:lvl8pPr marL="3879371">
        <a:defRPr>
          <a:latin typeface="+mn-lt"/>
          <a:ea typeface="+mn-ea"/>
          <a:cs typeface="+mn-cs"/>
        </a:defRPr>
      </a:lvl8pPr>
      <a:lvl9pPr marL="443356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54196">
        <a:defRPr>
          <a:latin typeface="+mn-lt"/>
          <a:ea typeface="+mn-ea"/>
          <a:cs typeface="+mn-cs"/>
        </a:defRPr>
      </a:lvl2pPr>
      <a:lvl3pPr marL="1108391">
        <a:defRPr>
          <a:latin typeface="+mn-lt"/>
          <a:ea typeface="+mn-ea"/>
          <a:cs typeface="+mn-cs"/>
        </a:defRPr>
      </a:lvl3pPr>
      <a:lvl4pPr marL="1662587">
        <a:defRPr>
          <a:latin typeface="+mn-lt"/>
          <a:ea typeface="+mn-ea"/>
          <a:cs typeface="+mn-cs"/>
        </a:defRPr>
      </a:lvl4pPr>
      <a:lvl5pPr marL="2216784">
        <a:defRPr>
          <a:latin typeface="+mn-lt"/>
          <a:ea typeface="+mn-ea"/>
          <a:cs typeface="+mn-cs"/>
        </a:defRPr>
      </a:lvl5pPr>
      <a:lvl6pPr marL="2770980">
        <a:defRPr>
          <a:latin typeface="+mn-lt"/>
          <a:ea typeface="+mn-ea"/>
          <a:cs typeface="+mn-cs"/>
        </a:defRPr>
      </a:lvl6pPr>
      <a:lvl7pPr marL="3325175">
        <a:defRPr>
          <a:latin typeface="+mn-lt"/>
          <a:ea typeface="+mn-ea"/>
          <a:cs typeface="+mn-cs"/>
        </a:defRPr>
      </a:lvl7pPr>
      <a:lvl8pPr marL="3879371">
        <a:defRPr>
          <a:latin typeface="+mn-lt"/>
          <a:ea typeface="+mn-ea"/>
          <a:cs typeface="+mn-cs"/>
        </a:defRPr>
      </a:lvl8pPr>
      <a:lvl9pPr marL="4433567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sv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9.png"/><Relationship Id="rId5" Type="http://schemas.openxmlformats.org/officeDocument/2006/relationships/image" Target="../media/image33.png"/><Relationship Id="rId4" Type="http://schemas.openxmlformats.org/officeDocument/2006/relationships/image" Target="../media/image34.png"/><Relationship Id="rId9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matyasfarkas.eu/bvar-scenario/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3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4EC1-60D1-CD48-8690-FF0B6D8AC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24582" y="1511669"/>
            <a:ext cx="6785039" cy="2528199"/>
          </a:xfrm>
        </p:spPr>
        <p:txBody>
          <a:bodyPr>
            <a:normAutofit/>
          </a:bodyPr>
          <a:lstStyle/>
          <a:p>
            <a:r>
              <a:rPr lang="en-US" sz="3600" b="1" dirty="0"/>
              <a:t>MFFM</a:t>
            </a:r>
            <a:br>
              <a:rPr lang="en-US" sz="3600" b="1" dirty="0"/>
            </a:br>
            <a:r>
              <a:rPr lang="en-US" sz="2400" b="1" dirty="0"/>
              <a:t>A global projection and scenario tool</a:t>
            </a:r>
            <a:endParaRPr lang="en-US" sz="3600" b="1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BF0901B-0518-EE4D-B056-660E22B8C5D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9B6E078-7493-68FD-86E7-5AD748B80551}"/>
              </a:ext>
            </a:extLst>
          </p:cNvPr>
          <p:cNvSpPr txBox="1">
            <a:spLocks/>
          </p:cNvSpPr>
          <p:nvPr/>
        </p:nvSpPr>
        <p:spPr>
          <a:xfrm>
            <a:off x="5324583" y="4428923"/>
            <a:ext cx="6207760" cy="1108171"/>
          </a:xfrm>
          <a:prstGeom prst="rect">
            <a:avLst/>
          </a:prstGeom>
        </p:spPr>
        <p:txBody>
          <a:bodyPr vert="horz" lIns="0" tIns="91440" rIns="0" bIns="0" rtlCol="0">
            <a:noAutofit/>
          </a:bodyPr>
          <a:lstStyle>
            <a:lvl1pPr marL="0" indent="0" algn="l" defTabSz="914314" rtl="0" eaLnBrk="1" latinLnBrk="0" hangingPunct="1">
              <a:spcBef>
                <a:spcPts val="2400"/>
              </a:spcBef>
              <a:buClr>
                <a:schemeClr val="accent1"/>
              </a:buClr>
              <a:buSzPct val="110000"/>
              <a:buFont typeface="Wingdings" charset="2"/>
              <a:buNone/>
              <a:tabLst/>
              <a:defRPr sz="2000" b="1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157" indent="0" algn="ctr" defTabSz="914314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None/>
              <a:tabLst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14" indent="0" algn="ctr" defTabSz="914314" rtl="0" eaLnBrk="1" latinLnBrk="0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65000"/>
              <a:buFont typeface="ArialMT"/>
              <a:buNone/>
              <a:tabLst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472" indent="0" algn="ctr" defTabSz="914314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LucidaGrande" charset="0"/>
              <a:buNone/>
              <a:tabLst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628" indent="0" algn="ctr" defTabSz="914314" rtl="0" eaLnBrk="1" latinLnBrk="0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Font typeface=".HelveticaNeueDeskInterface-Regular"/>
              <a:buNone/>
              <a:tabLst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785" indent="0" algn="ctr" defTabSz="914314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942" indent="0" algn="ctr" defTabSz="914314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100" indent="0" algn="ctr" defTabSz="914314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257" indent="0" algn="ctr" defTabSz="914314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800" dirty="0"/>
              <a:t>MCM Strategic </a:t>
            </a:r>
            <a:r>
              <a:rPr lang="en-US" sz="1800"/>
              <a:t>FosS </a:t>
            </a:r>
            <a:r>
              <a:rPr lang="en-US" sz="1800" dirty="0"/>
              <a:t>meeting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1800" dirty="0"/>
              <a:t>16</a:t>
            </a:r>
            <a:r>
              <a:rPr lang="en-US" sz="1800" baseline="30000" dirty="0"/>
              <a:t>th</a:t>
            </a:r>
            <a:r>
              <a:rPr lang="en-US" sz="1800" dirty="0"/>
              <a:t> July 2026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C7A1073-0359-9F9D-3907-188E8C0665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24583" y="5537094"/>
            <a:ext cx="6552021" cy="1015825"/>
          </a:xfrm>
        </p:spPr>
        <p:txBody>
          <a:bodyPr>
            <a:normAutofit/>
          </a:bodyPr>
          <a:lstStyle/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2400" b="1" i="1" dirty="0">
                <a:solidFill>
                  <a:srgbClr val="FF0000"/>
                </a:solidFill>
              </a:rPr>
              <a:t>Mátyás Farkas </a:t>
            </a:r>
            <a:r>
              <a:rPr lang="en-US" sz="2400" b="1" i="1" dirty="0">
                <a:solidFill>
                  <a:schemeClr val="tx2"/>
                </a:solidFill>
              </a:rPr>
              <a:t>and Jesper </a:t>
            </a:r>
            <a:r>
              <a:rPr lang="en-US" sz="2400" b="1" i="1" dirty="0" err="1">
                <a:solidFill>
                  <a:schemeClr val="tx2"/>
                </a:solidFill>
              </a:rPr>
              <a:t>Lindé</a:t>
            </a:r>
            <a:br>
              <a:rPr lang="en-US" sz="2400" b="1" i="1" dirty="0">
                <a:solidFill>
                  <a:schemeClr val="tx2"/>
                </a:solidFill>
              </a:rPr>
            </a:br>
            <a:r>
              <a:rPr lang="en-US" sz="1800" b="1" i="1" dirty="0">
                <a:solidFill>
                  <a:schemeClr val="tx2"/>
                </a:solidFill>
              </a:rPr>
              <a:t>Monetary Modelling Unit</a:t>
            </a:r>
            <a:endParaRPr lang="en-US" sz="2400" b="1" i="1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9AB90-FBB8-378B-4628-A8B5171A9529}"/>
              </a:ext>
            </a:extLst>
          </p:cNvPr>
          <p:cNvSpPr txBox="1"/>
          <p:nvPr/>
        </p:nvSpPr>
        <p:spPr>
          <a:xfrm>
            <a:off x="117982" y="5657671"/>
            <a:ext cx="46551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chemeClr val="bg1"/>
                </a:solidFill>
              </a:rPr>
              <a:t>The views expressed here are those of the authors and do not necessarily represent the views of the IMF, its Executive Board, or IMF management.</a:t>
            </a:r>
          </a:p>
        </p:txBody>
      </p:sp>
    </p:spTree>
    <p:extLst>
      <p:ext uri="{BB962C8B-B14F-4D97-AF65-F5344CB8AC3E}">
        <p14:creationId xmlns:p14="http://schemas.microsoft.com/office/powerpoint/2010/main" val="260149872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09402-A091-0419-C5D9-00E8E796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6555C6A-1BD5-123C-3D87-7C510610491C}"/>
              </a:ext>
            </a:extLst>
          </p:cNvPr>
          <p:cNvSpPr txBox="1">
            <a:spLocks/>
          </p:cNvSpPr>
          <p:nvPr/>
        </p:nvSpPr>
        <p:spPr>
          <a:xfrm>
            <a:off x="609600" y="905776"/>
            <a:ext cx="10972800" cy="5463462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554196">
              <a:defRPr>
                <a:latin typeface="+mn-lt"/>
                <a:ea typeface="+mn-ea"/>
                <a:cs typeface="+mn-cs"/>
              </a:defRPr>
            </a:lvl2pPr>
            <a:lvl3pPr marL="1108391">
              <a:defRPr>
                <a:latin typeface="+mn-lt"/>
                <a:ea typeface="+mn-ea"/>
                <a:cs typeface="+mn-cs"/>
              </a:defRPr>
            </a:lvl3pPr>
            <a:lvl4pPr marL="1662587">
              <a:defRPr>
                <a:latin typeface="+mn-lt"/>
                <a:ea typeface="+mn-ea"/>
                <a:cs typeface="+mn-cs"/>
              </a:defRPr>
            </a:lvl4pPr>
            <a:lvl5pPr marL="2216784">
              <a:defRPr>
                <a:latin typeface="+mn-lt"/>
                <a:ea typeface="+mn-ea"/>
                <a:cs typeface="+mn-cs"/>
              </a:defRPr>
            </a:lvl5pPr>
            <a:lvl6pPr marL="2770980">
              <a:defRPr>
                <a:latin typeface="+mn-lt"/>
                <a:ea typeface="+mn-ea"/>
                <a:cs typeface="+mn-cs"/>
              </a:defRPr>
            </a:lvl6pPr>
            <a:lvl7pPr marL="3325175">
              <a:defRPr>
                <a:latin typeface="+mn-lt"/>
                <a:ea typeface="+mn-ea"/>
                <a:cs typeface="+mn-cs"/>
              </a:defRPr>
            </a:lvl7pPr>
            <a:lvl8pPr marL="3879371">
              <a:defRPr>
                <a:latin typeface="+mn-lt"/>
                <a:ea typeface="+mn-ea"/>
                <a:cs typeface="+mn-cs"/>
              </a:defRPr>
            </a:lvl8pPr>
            <a:lvl9pPr marL="4433567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Background: BVARs replacing GFM in FSAPs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Forecasting and scenario analysis made easy: </a:t>
            </a:r>
            <a:r>
              <a:rPr lang="en-US" sz="2800" b="1" dirty="0">
                <a:solidFill>
                  <a:srgbClr val="FF0000"/>
                </a:solidFill>
              </a:rPr>
              <a:t>MFFM</a:t>
            </a:r>
          </a:p>
          <a:p>
            <a:pPr marL="839946" lvl="1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0000"/>
                </a:solidFill>
              </a:rPr>
              <a:t>MFFM </a:t>
            </a:r>
            <a:r>
              <a:rPr lang="en-US" sz="2800" b="1" dirty="0"/>
              <a:t>= Monetary-Financial-Fiscal </a:t>
            </a:r>
            <a:r>
              <a:rPr lang="en-US" sz="2800" b="1" dirty="0" err="1"/>
              <a:t>Macromodel</a:t>
            </a:r>
            <a:r>
              <a:rPr lang="en-US" sz="2800" dirty="0"/>
              <a:t> tool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kern="0" dirty="0">
                <a:solidFill>
                  <a:sysClr val="windowText" lastClr="000000"/>
                </a:solidFill>
              </a:rPr>
              <a:t>Forecasting and scenario with MFFM for US 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b="1" kern="0" dirty="0">
                <a:solidFill>
                  <a:sysClr val="windowText" lastClr="000000"/>
                </a:solidFill>
              </a:rPr>
              <a:t>MFFM is a GVAR: Showcase Global Solve: </a:t>
            </a:r>
            <a:r>
              <a:rPr lang="en-US" sz="2800" kern="0" dirty="0">
                <a:solidFill>
                  <a:sysClr val="windowText" lastClr="000000"/>
                </a:solidFill>
              </a:rPr>
              <a:t>Putting all countries together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b="1" kern="0" dirty="0">
                <a:solidFill>
                  <a:sysClr val="windowText" lastClr="000000"/>
                </a:solidFill>
              </a:rPr>
              <a:t>Extensions: </a:t>
            </a:r>
            <a:r>
              <a:rPr lang="en-US" sz="2800" kern="0" dirty="0">
                <a:solidFill>
                  <a:sysClr val="windowText" lastClr="000000"/>
                </a:solidFill>
              </a:rPr>
              <a:t>Long-run targets, external forecasts, structural identification including policy counterfactuals</a:t>
            </a:r>
          </a:p>
          <a:p>
            <a:pPr marL="285750" indent="-28575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800" b="1" kern="0" dirty="0">
                <a:solidFill>
                  <a:sysClr val="windowText" lastClr="000000"/>
                </a:solidFill>
              </a:rPr>
              <a:t>In sum</a:t>
            </a:r>
            <a:r>
              <a:rPr lang="en-US" sz="2800" b="1" kern="0" dirty="0"/>
              <a:t>: MFFM is a </a:t>
            </a:r>
            <a:r>
              <a:rPr lang="en-US" sz="2800" kern="0" dirty="0"/>
              <a:t>simple to use tool for all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4022237-5817-7F05-DD4B-B9AE56F6C6D7}"/>
              </a:ext>
            </a:extLst>
          </p:cNvPr>
          <p:cNvSpPr txBox="1">
            <a:spLocks/>
          </p:cNvSpPr>
          <p:nvPr/>
        </p:nvSpPr>
        <p:spPr>
          <a:xfrm>
            <a:off x="609600" y="413333"/>
            <a:ext cx="10972800" cy="492443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kern="0" dirty="0">
                <a:latin typeface="Arial Black" panose="020B0A04020102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1882191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2B482-0C4F-4EE7-A1DE-C4AD7327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23" y="2967606"/>
            <a:ext cx="11908465" cy="118398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Background: BVARs replacing GFM in FSAPs</a:t>
            </a:r>
          </a:p>
        </p:txBody>
      </p:sp>
    </p:spTree>
    <p:extLst>
      <p:ext uri="{BB962C8B-B14F-4D97-AF65-F5344CB8AC3E}">
        <p14:creationId xmlns:p14="http://schemas.microsoft.com/office/powerpoint/2010/main" val="323172492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808A33-6A41-83BC-2A1B-6C3D705CF89B}"/>
              </a:ext>
            </a:extLst>
          </p:cNvPr>
          <p:cNvSpPr txBox="1">
            <a:spLocks/>
          </p:cNvSpPr>
          <p:nvPr/>
        </p:nvSpPr>
        <p:spPr>
          <a:xfrm>
            <a:off x="589547" y="194237"/>
            <a:ext cx="10972800" cy="1145058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 kern="0" dirty="0">
                <a:latin typeface="Arial Black" panose="020B0A04020102020204" pitchFamily="34" charset="0"/>
              </a:rPr>
              <a:t>Background: Need to phase out GFM</a:t>
            </a:r>
            <a:endParaRPr lang="en-US" sz="3200" kern="0" dirty="0">
              <a:latin typeface="Arial Black" panose="020B0A040201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0F9C6-C256-F832-D80C-F6755CA24211}"/>
              </a:ext>
            </a:extLst>
          </p:cNvPr>
          <p:cNvSpPr txBox="1"/>
          <p:nvPr/>
        </p:nvSpPr>
        <p:spPr>
          <a:xfrm>
            <a:off x="589547" y="1479103"/>
            <a:ext cx="5617948" cy="77559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400" b="1" dirty="0">
                <a:solidFill>
                  <a:srgbClr val="1C3663"/>
                </a:solidFill>
                <a:latin typeface="Calibri"/>
              </a:rPr>
              <a:t>Global Macrofinancial Model (GFM):</a:t>
            </a:r>
          </a:p>
          <a:p>
            <a:pPr algn="l"/>
            <a:r>
              <a:rPr lang="en-US" sz="2400" b="1" dirty="0">
                <a:solidFill>
                  <a:srgbClr val="1C3663"/>
                </a:solidFill>
                <a:latin typeface="Calibri"/>
              </a:rPr>
              <a:t>An Estimated Global DSGE (by F. Vitek)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2957F-EBBB-4D8D-0B18-44BCBB6DB81F}"/>
              </a:ext>
            </a:extLst>
          </p:cNvPr>
          <p:cNvSpPr txBox="1"/>
          <p:nvPr/>
        </p:nvSpPr>
        <p:spPr>
          <a:xfrm>
            <a:off x="446773" y="2808698"/>
            <a:ext cx="5394960" cy="128240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Calibri" panose="020F0502020204030204" pitchFamily="34" charset="0"/>
              <a:buChar char="⁻"/>
            </a:pPr>
            <a:r>
              <a:rPr lang="en-US" sz="2400" dirty="0">
                <a:solidFill>
                  <a:srgbClr val="962D2D"/>
                </a:solidFill>
                <a:latin typeface="Calibri"/>
              </a:rPr>
              <a:t>Operationally heavy 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Calibri" panose="020F0502020204030204" pitchFamily="34" charset="0"/>
              <a:buChar char="⁻"/>
            </a:pPr>
            <a:r>
              <a:rPr lang="en-US" sz="2400" dirty="0">
                <a:solidFill>
                  <a:srgbClr val="962D2D"/>
                </a:solidFill>
                <a:latin typeface="Calibri"/>
              </a:rPr>
              <a:t>Complex workflow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Calibri" panose="020F0502020204030204" pitchFamily="34" charset="0"/>
              <a:buChar char="⁻"/>
            </a:pPr>
            <a:r>
              <a:rPr lang="en-US" sz="2400" b="1" dirty="0">
                <a:solidFill>
                  <a:srgbClr val="962D2D"/>
                </a:solidFill>
                <a:latin typeface="Calibri"/>
              </a:rPr>
              <a:t>Cannot be updated</a:t>
            </a:r>
            <a:endParaRPr lang="en-US" sz="2000" b="1" i="1" dirty="0">
              <a:solidFill>
                <a:srgbClr val="962D2D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46AE34-B244-BBF6-C3C8-8739B59A0D73}"/>
              </a:ext>
            </a:extLst>
          </p:cNvPr>
          <p:cNvSpPr txBox="1"/>
          <p:nvPr/>
        </p:nvSpPr>
        <p:spPr>
          <a:xfrm>
            <a:off x="6350267" y="1479103"/>
            <a:ext cx="5394960" cy="8987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800" b="1" dirty="0">
                <a:solidFill>
                  <a:srgbClr val="1C3663"/>
                </a:solidFill>
                <a:latin typeface="Calibri"/>
              </a:rPr>
              <a:t>BVARs to complement GFM based on stakeholder needs: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AF06FF-8C46-9FB8-C437-E464426706FD}"/>
              </a:ext>
            </a:extLst>
          </p:cNvPr>
          <p:cNvSpPr txBox="1"/>
          <p:nvPr/>
        </p:nvSpPr>
        <p:spPr>
          <a:xfrm>
            <a:off x="6350267" y="2697891"/>
            <a:ext cx="5394960" cy="298158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7744B"/>
                </a:solidFill>
                <a:latin typeface="Calibri"/>
              </a:rPr>
              <a:t>Easy to use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7744B"/>
                </a:solidFill>
                <a:latin typeface="Calibri"/>
              </a:rPr>
              <a:t>One interface</a:t>
            </a: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7744B"/>
                </a:solidFill>
                <a:latin typeface="Calibri"/>
              </a:rPr>
              <a:t>Data dependent, re-estimated</a:t>
            </a:r>
            <a:endParaRPr sz="2400" b="1" dirty="0">
              <a:solidFill>
                <a:srgbClr val="27744B"/>
              </a:solidFill>
              <a:latin typeface="Calibri"/>
            </a:endParaRP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7744B"/>
                </a:solidFill>
                <a:latin typeface="Calibri"/>
              </a:rPr>
              <a:t>S</a:t>
            </a:r>
            <a:r>
              <a:rPr sz="2400" b="1" dirty="0">
                <a:solidFill>
                  <a:srgbClr val="27744B"/>
                </a:solidFill>
                <a:latin typeface="Calibri"/>
              </a:rPr>
              <a:t>cenario</a:t>
            </a:r>
            <a:r>
              <a:rPr lang="en-US" sz="2400" b="1" dirty="0">
                <a:solidFill>
                  <a:srgbClr val="27744B"/>
                </a:solidFill>
                <a:latin typeface="Calibri"/>
              </a:rPr>
              <a:t> tool </a:t>
            </a:r>
            <a:r>
              <a:rPr sz="2400" b="1" dirty="0">
                <a:solidFill>
                  <a:srgbClr val="27744B"/>
                </a:solidFill>
                <a:latin typeface="Calibri"/>
              </a:rPr>
              <a:t>for FSAP</a:t>
            </a:r>
            <a:r>
              <a:rPr lang="en-US" sz="2400" b="1" dirty="0">
                <a:solidFill>
                  <a:srgbClr val="27744B"/>
                </a:solidFill>
                <a:latin typeface="Calibri"/>
              </a:rPr>
              <a:t>s</a:t>
            </a:r>
            <a:r>
              <a:rPr sz="2400" b="1" dirty="0">
                <a:solidFill>
                  <a:srgbClr val="27744B"/>
                </a:solidFill>
                <a:latin typeface="Calibri"/>
              </a:rPr>
              <a:t> &amp; Article IV.</a:t>
            </a:r>
            <a:endParaRPr lang="en-US" sz="2400" b="1" dirty="0">
              <a:solidFill>
                <a:srgbClr val="27744B"/>
              </a:solidFill>
              <a:latin typeface="Calibri"/>
            </a:endParaRP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7744B"/>
                </a:solidFill>
                <a:latin typeface="Calibri"/>
              </a:rPr>
              <a:t>Integrated fiscal block</a:t>
            </a:r>
            <a:endParaRPr sz="2400" b="1" dirty="0">
              <a:solidFill>
                <a:srgbClr val="27744B"/>
              </a:solidFill>
              <a:latin typeface="Calibri"/>
            </a:endParaRPr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27744B"/>
                </a:solidFill>
                <a:latin typeface="Calibri"/>
              </a:rPr>
              <a:t>Flexible to incorporate external forecasts</a:t>
            </a:r>
            <a:endParaRPr sz="2400" i="1" dirty="0">
              <a:solidFill>
                <a:srgbClr val="962D2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777918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7507-4472-480F-AF52-2B970778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21" y="160021"/>
            <a:ext cx="10787449" cy="891540"/>
          </a:xfrm>
        </p:spPr>
        <p:txBody>
          <a:bodyPr>
            <a:normAutofit/>
          </a:bodyPr>
          <a:lstStyle/>
          <a:p>
            <a:r>
              <a:rPr lang="en-US" kern="0" dirty="0">
                <a:latin typeface="Arial Black" panose="020B0A04020102020204" pitchFamily="34" charset="0"/>
              </a:rPr>
              <a:t>Time series model – Bayesian VAR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2D9AA6-F0B5-D3D2-D404-383C3D110A86}"/>
              </a:ext>
            </a:extLst>
          </p:cNvPr>
          <p:cNvSpPr txBox="1">
            <a:spLocks/>
          </p:cNvSpPr>
          <p:nvPr/>
        </p:nvSpPr>
        <p:spPr>
          <a:xfrm>
            <a:off x="449158" y="904775"/>
            <a:ext cx="11421374" cy="5582651"/>
          </a:xfrm>
          <a:prstGeom prst="rect">
            <a:avLst/>
          </a:prstGeom>
        </p:spPr>
        <p:txBody>
          <a:bodyPr/>
          <a:lstStyle>
            <a:lvl1pPr marL="298450" indent="-298450" algn="l" rtl="0" eaLnBrk="0" fontAlgn="base" hangingPunct="0"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Char char="•"/>
              <a:defRPr sz="2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96900" indent="-296863" algn="l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>
                <a:solidFill>
                  <a:schemeClr val="tx2"/>
                </a:solidFill>
                <a:latin typeface="+mn-lt"/>
                <a:cs typeface="+mn-cs"/>
              </a:defRPr>
            </a:lvl2pPr>
            <a:lvl3pPr marL="914400" indent="-315913" algn="l" rtl="0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1600">
                <a:solidFill>
                  <a:schemeClr val="tx2"/>
                </a:solidFill>
                <a:latin typeface="+mn-lt"/>
                <a:cs typeface="+mn-cs"/>
              </a:defRPr>
            </a:lvl3pPr>
            <a:lvl4pPr marL="1219200" indent="-303213" algn="l" rtl="0" eaLnBrk="0" fontAlgn="base" hangingPunct="0">
              <a:spcBef>
                <a:spcPct val="0"/>
              </a:spcBef>
              <a:spcAft>
                <a:spcPct val="0"/>
              </a:spcAft>
              <a:buChar char="–"/>
              <a:defRPr sz="1600">
                <a:solidFill>
                  <a:schemeClr val="tx2"/>
                </a:solidFill>
                <a:latin typeface="+mn-lt"/>
                <a:cs typeface="+mn-cs"/>
              </a:defRPr>
            </a:lvl4pPr>
            <a:lvl5pPr marL="1524000" indent="-303213" algn="l" rtl="0" eaLnBrk="0" fontAlgn="base" hangingPunct="0"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1600" i="1">
                <a:solidFill>
                  <a:schemeClr val="tx2"/>
                </a:solidFill>
                <a:latin typeface="+mn-lt"/>
                <a:cs typeface="+mn-cs"/>
              </a:defRPr>
            </a:lvl5pPr>
            <a:lvl6pPr marL="1981200" indent="-303213" algn="l" rtl="0" eaLnBrk="1" fontAlgn="base" hangingPunct="1"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1600" i="1">
                <a:solidFill>
                  <a:schemeClr val="tx1"/>
                </a:solidFill>
                <a:latin typeface="+mn-lt"/>
                <a:cs typeface="+mn-cs"/>
              </a:defRPr>
            </a:lvl6pPr>
            <a:lvl7pPr marL="2438400" indent="-303213" algn="l" rtl="0" eaLnBrk="1" fontAlgn="base" hangingPunct="1"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1600" i="1">
                <a:solidFill>
                  <a:schemeClr val="tx1"/>
                </a:solidFill>
                <a:latin typeface="+mn-lt"/>
                <a:cs typeface="+mn-cs"/>
              </a:defRPr>
            </a:lvl7pPr>
            <a:lvl8pPr marL="2895600" indent="-303213" algn="l" rtl="0" eaLnBrk="1" fontAlgn="base" hangingPunct="1"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1600" i="1">
                <a:solidFill>
                  <a:schemeClr val="tx1"/>
                </a:solidFill>
                <a:latin typeface="+mn-lt"/>
                <a:cs typeface="+mn-cs"/>
              </a:defRPr>
            </a:lvl8pPr>
            <a:lvl9pPr marL="3352800" indent="-303213" algn="l" rtl="0" eaLnBrk="1" fontAlgn="base" hangingPunct="1">
              <a:spcBef>
                <a:spcPct val="0"/>
              </a:spcBef>
              <a:spcAft>
                <a:spcPct val="0"/>
              </a:spcAft>
              <a:buFont typeface="Times" pitchFamily="18" charset="0"/>
              <a:buChar char="•"/>
              <a:defRPr sz="1600" i="1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underlying model is a 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large-scale Bayesian VAR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sz="2000" b="1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 BVAR is estimated 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with 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Giannonne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/Lenza/</a:t>
            </a:r>
            <a:r>
              <a:rPr lang="en-GB" sz="2000" dirty="0" err="1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Primiceri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(2012)-type prior:</a:t>
            </a:r>
          </a:p>
          <a:p>
            <a:pPr lvl="1" eaLnBrk="1" hangingPunct="1"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en-GB" sz="16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GB" sz="1600" i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Maximizing hyperparameters corresponds to minimizing the one-step-ahead out-of-sample forecast error.</a:t>
            </a:r>
            <a:r>
              <a:rPr lang="en-GB" sz="16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lvl="1" eaLnBrk="1" hangingPunct="1"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en-GB" sz="16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Marginal Likelihood is Inverse Wishart-Normal distributed conditional on hyperpriors.</a:t>
            </a:r>
          </a:p>
          <a:p>
            <a:pPr eaLnBrk="1" hangingPunct="1"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en-GB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Given initial state in e.g. 2026Q2, model can be used to calculate </a:t>
            </a:r>
            <a:r>
              <a:rPr lang="en-GB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unconditional forecast distribution</a:t>
            </a:r>
            <a:r>
              <a:rPr lang="en-GB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2026Q3-.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GB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conditioning on certain variables in the BVAR 2026Q3- (interest rate spreads or higher energy prices), model can be used to calculate a </a:t>
            </a:r>
            <a:r>
              <a:rPr lang="en-GB" sz="2000" b="1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forecast distribution</a:t>
            </a:r>
            <a:r>
              <a:rPr lang="en-GB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GB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Waggoner-Zha (1998, </a:t>
            </a:r>
            <a:r>
              <a:rPr lang="en-GB" sz="2000" kern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ReStat</a:t>
            </a:r>
            <a:r>
              <a:rPr lang="en-GB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the conditioning variables explained by the most likely set of shocks driving them.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GB" sz="2000" kern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we do not condition on forecasted endogenously, conditional on the paths for the subset of variables we specify certain paths for.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F665-80A1-2964-5C45-40B2999C0706}"/>
                  </a:ext>
                </a:extLst>
              </p:cNvPr>
              <p:cNvSpPr txBox="1"/>
              <p:nvPr/>
            </p:nvSpPr>
            <p:spPr>
              <a:xfrm>
                <a:off x="2488184" y="1451025"/>
                <a:ext cx="5106141" cy="4947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=</m:t>
                      </m:r>
                      <m:r>
                        <a:rPr lang="en-GB" sz="2400" b="1" i="1" smtClean="0">
                          <a:latin typeface="Cambria Math"/>
                        </a:rPr>
                        <m:t>𝑪</m:t>
                      </m:r>
                      <m:r>
                        <a:rPr lang="en-GB" sz="2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𝒑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  <a:ea typeface="Cambria Math"/>
                            </a:rPr>
                            <m:t>𝜺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/>
                              <a:ea typeface="Cambria Math"/>
                            </a:rPr>
                            <m:t>𝒕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/>
                        </a:rPr>
                        <m:t>,</m:t>
                      </m:r>
                    </m:oMath>
                  </m:oMathPara>
                </a14:m>
                <a:endParaRPr lang="en-GB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A11F665-80A1-2964-5C45-40B2999C0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184" y="1451025"/>
                <a:ext cx="5106141" cy="494751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8FB918-7CF8-DC00-A63D-ED39DEC2B93E}"/>
                  </a:ext>
                </a:extLst>
              </p:cNvPr>
              <p:cNvSpPr txBox="1"/>
              <p:nvPr/>
            </p:nvSpPr>
            <p:spPr>
              <a:xfrm>
                <a:off x="7444115" y="1439549"/>
                <a:ext cx="17224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𝜺</m:t>
                        </m:r>
                      </m:e>
                      <m:sub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𝒕</m:t>
                        </m:r>
                      </m:sub>
                    </m:sSub>
                    <m:r>
                      <a:rPr lang="en-GB" sz="2400" b="1" i="1" smtClean="0">
                        <a:latin typeface="Cambria Math"/>
                        <a:ea typeface="Cambria Math"/>
                      </a:rPr>
                      <m:t>~</m:t>
                    </m:r>
                    <m:r>
                      <a:rPr lang="en-GB" sz="2400" b="1" i="1" smtClean="0">
                        <a:latin typeface="Cambria Math"/>
                        <a:ea typeface="Cambria Math"/>
                      </a:rPr>
                      <m:t>𝑵</m:t>
                    </m:r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l-GR" sz="2400" b="1" i="1" smtClean="0">
                            <a:latin typeface="Cambria Math"/>
                            <a:ea typeface="Cambria Math"/>
                          </a:rPr>
                          <m:t>𝜮</m:t>
                        </m:r>
                      </m:e>
                    </m:d>
                  </m:oMath>
                </a14:m>
                <a:r>
                  <a:rPr lang="en-GB" sz="2400" b="1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8FB918-7CF8-DC00-A63D-ED39DEC2B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115" y="1439549"/>
                <a:ext cx="1722459" cy="461665"/>
              </a:xfrm>
              <a:prstGeom prst="rect">
                <a:avLst/>
              </a:prstGeom>
              <a:blipFill>
                <a:blip r:embed="rId4"/>
                <a:stretch>
                  <a:fillRect t="-10526" r="-530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192299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8CDEBFC-F32B-1F38-3956-A83D6C82A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877" y="456607"/>
            <a:ext cx="9042128" cy="56585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F17507-4472-480F-AF52-2B970778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005" y="0"/>
            <a:ext cx="9826333" cy="646331"/>
          </a:xfrm>
        </p:spPr>
        <p:txBody>
          <a:bodyPr>
            <a:normAutofit fontScale="90000"/>
          </a:bodyPr>
          <a:lstStyle/>
          <a:p>
            <a:r>
              <a:rPr lang="en-US" dirty="0"/>
              <a:t>The US data – 32 variables following Crump et al. (2024)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8A860-88A8-A965-B506-F214E8904FFD}"/>
              </a:ext>
            </a:extLst>
          </p:cNvPr>
          <p:cNvSpPr txBox="1"/>
          <p:nvPr/>
        </p:nvSpPr>
        <p:spPr>
          <a:xfrm>
            <a:off x="498688" y="6444783"/>
            <a:ext cx="99997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Source: 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Crump, R. K.,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Eusepi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S., Giannone, D., Qian, E., &amp; </a:t>
            </a:r>
            <a:r>
              <a:rPr lang="en-US" sz="105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Sbordone</a:t>
            </a:r>
            <a:r>
              <a:rPr lang="en-US" sz="105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A. M. (2024): A large Bayesian VAR of the United States economy. </a:t>
            </a:r>
            <a:r>
              <a:rPr lang="en-US" sz="105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IJCB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75983-5196-4841-869A-8A5C6F1F992A}"/>
              </a:ext>
            </a:extLst>
          </p:cNvPr>
          <p:cNvSpPr txBox="1"/>
          <p:nvPr/>
        </p:nvSpPr>
        <p:spPr>
          <a:xfrm>
            <a:off x="886877" y="6018348"/>
            <a:ext cx="8729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Roboto" panose="02000000000000000000" pitchFamily="2" charset="0"/>
              </a:rPr>
              <a:t>S&amp;P CoreLogic Case-Shiller U.S. National Home Price Index               Standard &amp; Poor’s                 SA, Jan 2000 =1	             100 x log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CAA3B-BE56-A588-9963-0C83D84CF09B}"/>
              </a:ext>
            </a:extLst>
          </p:cNvPr>
          <p:cNvSpPr/>
          <p:nvPr/>
        </p:nvSpPr>
        <p:spPr>
          <a:xfrm>
            <a:off x="1021642" y="4358539"/>
            <a:ext cx="9042127" cy="197221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25464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DA3A10-BC79-DBB3-229E-C6FF2A45F7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0" r="3380" b="3027"/>
          <a:stretch>
            <a:fillRect/>
          </a:stretch>
        </p:blipFill>
        <p:spPr>
          <a:xfrm>
            <a:off x="48126" y="756270"/>
            <a:ext cx="12192000" cy="610172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9F17507-4472-480F-AF52-2B970778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005" y="91440"/>
            <a:ext cx="10392435" cy="953589"/>
          </a:xfrm>
        </p:spPr>
        <p:txBody>
          <a:bodyPr>
            <a:normAutofit/>
          </a:bodyPr>
          <a:lstStyle/>
          <a:p>
            <a:r>
              <a:rPr lang="en-US" sz="3200" dirty="0"/>
              <a:t>Unconditional vs. Conditional BVAR forecasts</a:t>
            </a:r>
          </a:p>
        </p:txBody>
      </p:sp>
    </p:spTree>
    <p:extLst>
      <p:ext uri="{BB962C8B-B14F-4D97-AF65-F5344CB8AC3E}">
        <p14:creationId xmlns:p14="http://schemas.microsoft.com/office/powerpoint/2010/main" val="257852932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2D3BA-6118-C790-1D0B-FF3414AC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9D0C32-24F6-754F-E583-1ECD7A6883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14"/>
          <a:stretch>
            <a:fillRect/>
          </a:stretch>
        </p:blipFill>
        <p:spPr>
          <a:xfrm>
            <a:off x="101436" y="553538"/>
            <a:ext cx="11887200" cy="630446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07B8701-6B45-2E05-9199-FB7AFE2FE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005" y="91440"/>
            <a:ext cx="10392435" cy="953589"/>
          </a:xfrm>
        </p:spPr>
        <p:txBody>
          <a:bodyPr>
            <a:normAutofit/>
          </a:bodyPr>
          <a:lstStyle/>
          <a:p>
            <a:r>
              <a:rPr lang="en-US" sz="3200" dirty="0"/>
              <a:t>Comparison of BVAR and GFM scenarios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3688A2-758D-AC42-D559-22B9496B648C}"/>
              </a:ext>
            </a:extLst>
          </p:cNvPr>
          <p:cNvSpPr/>
          <p:nvPr/>
        </p:nvSpPr>
        <p:spPr>
          <a:xfrm>
            <a:off x="872962" y="1254034"/>
            <a:ext cx="5325364" cy="5512526"/>
          </a:xfrm>
          <a:prstGeom prst="rect">
            <a:avLst/>
          </a:prstGeom>
          <a:solidFill>
            <a:schemeClr val="tx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3C7FD1-8108-399E-F21E-00F11F9903BE}"/>
              </a:ext>
            </a:extLst>
          </p:cNvPr>
          <p:cNvSpPr/>
          <p:nvPr/>
        </p:nvSpPr>
        <p:spPr>
          <a:xfrm>
            <a:off x="8621484" y="4990011"/>
            <a:ext cx="2403567" cy="1776549"/>
          </a:xfrm>
          <a:prstGeom prst="rect">
            <a:avLst/>
          </a:prstGeom>
          <a:solidFill>
            <a:schemeClr val="tx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1318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57963-011E-4A49-1895-F2748D510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3910-FB34-921B-D339-6AC80C032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23" y="2967606"/>
            <a:ext cx="11908465" cy="118398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The new MFFM tool</a:t>
            </a:r>
          </a:p>
        </p:txBody>
      </p:sp>
    </p:spTree>
    <p:extLst>
      <p:ext uri="{BB962C8B-B14F-4D97-AF65-F5344CB8AC3E}">
        <p14:creationId xmlns:p14="http://schemas.microsoft.com/office/powerpoint/2010/main" val="100610301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2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Monetary-Financial-Fiscal Model: A global projection and scenario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05156"/>
            <a:ext cx="10972800" cy="6540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2000" dirty="0">
                <a:solidFill>
                  <a:srgbClr val="232323"/>
                </a:solidFill>
                <a:latin typeface="Calibri"/>
              </a:rPr>
              <a:t>A point-and-click platform</a:t>
            </a:r>
            <a:r>
              <a:rPr lang="en-US" sz="2000" dirty="0">
                <a:solidFill>
                  <a:srgbClr val="232323"/>
                </a:solidFill>
                <a:latin typeface="Calibri"/>
              </a:rPr>
              <a:t> - combining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the Fund’s workhorse models (Bayesian VAR baselines, a cross-country GVAR, DSGE policy) behind a single interface. Today’s tour, in five steps: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604CA63-8D28-4D5B-BC2E-44A51D718B59}"/>
              </a:ext>
            </a:extLst>
          </p:cNvPr>
          <p:cNvGrpSpPr/>
          <p:nvPr/>
        </p:nvGrpSpPr>
        <p:grpSpPr>
          <a:xfrm>
            <a:off x="402336" y="2948941"/>
            <a:ext cx="11448287" cy="914400"/>
            <a:chOff x="371703" y="1600200"/>
            <a:chExt cx="11448287" cy="914400"/>
          </a:xfrm>
        </p:grpSpPr>
        <p:sp>
          <p:nvSpPr>
            <p:cNvPr id="5" name="Rounded Rectangle 4"/>
            <p:cNvSpPr/>
            <p:nvPr/>
          </p:nvSpPr>
          <p:spPr>
            <a:xfrm>
              <a:off x="371703" y="1600200"/>
              <a:ext cx="2084831" cy="914400"/>
            </a:xfrm>
            <a:prstGeom prst="roundRect">
              <a:avLst/>
            </a:prstGeom>
            <a:solidFill>
              <a:srgbClr val="EBF1F9"/>
            </a:solidFill>
            <a:ln w="8890">
              <a:solidFill>
                <a:srgbClr val="1C36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b="1" dirty="0">
                  <a:solidFill>
                    <a:srgbClr val="1C3663"/>
                  </a:solidFill>
                  <a:latin typeface="Calibri"/>
                </a:rPr>
                <a:t>Baseline</a:t>
              </a:r>
            </a:p>
            <a:p>
              <a:pPr algn="ctr"/>
              <a:r>
                <a:rPr sz="1200" dirty="0">
                  <a:solidFill>
                    <a:srgbClr val="232323"/>
                  </a:solidFill>
                  <a:latin typeface="Calibri"/>
                </a:rPr>
                <a:t>data-driven forecast, 50 economies</a:t>
              </a:r>
            </a:p>
          </p:txBody>
        </p:sp>
        <p:sp>
          <p:nvSpPr>
            <p:cNvPr id="6" name="Right Arrow 5"/>
            <p:cNvSpPr/>
            <p:nvPr/>
          </p:nvSpPr>
          <p:spPr>
            <a:xfrm>
              <a:off x="2465679" y="2011680"/>
              <a:ext cx="237744" cy="91440"/>
            </a:xfrm>
            <a:prstGeom prst="rightArrow">
              <a:avLst/>
            </a:prstGeom>
            <a:solidFill>
              <a:srgbClr val="305B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12567" y="1600200"/>
              <a:ext cx="2084831" cy="914400"/>
            </a:xfrm>
            <a:prstGeom prst="roundRect">
              <a:avLst/>
            </a:prstGeom>
            <a:solidFill>
              <a:srgbClr val="EBF1F9"/>
            </a:solidFill>
            <a:ln w="8890">
              <a:solidFill>
                <a:srgbClr val="1C36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b="1" dirty="0">
                  <a:solidFill>
                    <a:srgbClr val="1C3663"/>
                  </a:solidFill>
                  <a:latin typeface="Calibri"/>
                </a:rPr>
                <a:t>Conditioning</a:t>
              </a:r>
            </a:p>
            <a:p>
              <a:pPr algn="ctr"/>
              <a:r>
                <a:rPr sz="1200" dirty="0">
                  <a:solidFill>
                    <a:srgbClr val="232323"/>
                  </a:solidFill>
                  <a:latin typeface="Calibri"/>
                </a:rPr>
                <a:t>drag a path, or import a forecast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4806543" y="2011680"/>
              <a:ext cx="237744" cy="91440"/>
            </a:xfrm>
            <a:prstGeom prst="rightArrow">
              <a:avLst/>
            </a:prstGeom>
            <a:solidFill>
              <a:srgbClr val="305B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53431" y="1600200"/>
              <a:ext cx="2084831" cy="914400"/>
            </a:xfrm>
            <a:prstGeom prst="roundRect">
              <a:avLst/>
            </a:prstGeom>
            <a:solidFill>
              <a:srgbClr val="EBF1F9"/>
            </a:solidFill>
            <a:ln w="8890">
              <a:solidFill>
                <a:srgbClr val="1C36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b="1" dirty="0">
                  <a:solidFill>
                    <a:srgbClr val="1C3663"/>
                  </a:solidFill>
                  <a:latin typeface="Calibri"/>
                </a:rPr>
                <a:t>Global solve</a:t>
              </a:r>
            </a:p>
            <a:p>
              <a:pPr algn="ctr"/>
              <a:r>
                <a:rPr sz="1200" dirty="0">
                  <a:solidFill>
                    <a:srgbClr val="232323"/>
                  </a:solidFill>
                  <a:latin typeface="Calibri"/>
                </a:rPr>
                <a:t>one country moves the rest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147407" y="2011680"/>
              <a:ext cx="237744" cy="91440"/>
            </a:xfrm>
            <a:prstGeom prst="rightArrow">
              <a:avLst/>
            </a:prstGeom>
            <a:solidFill>
              <a:srgbClr val="305B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394295" y="1600200"/>
              <a:ext cx="2084831" cy="914400"/>
            </a:xfrm>
            <a:prstGeom prst="roundRect">
              <a:avLst/>
            </a:prstGeom>
            <a:solidFill>
              <a:srgbClr val="EBF1F9"/>
            </a:solidFill>
            <a:ln w="8890">
              <a:solidFill>
                <a:srgbClr val="1C36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b="1" dirty="0">
                  <a:solidFill>
                    <a:srgbClr val="1C3663"/>
                  </a:solidFill>
                  <a:latin typeface="Calibri"/>
                </a:rPr>
                <a:t>Extensions</a:t>
              </a:r>
            </a:p>
            <a:p>
              <a:pPr algn="ctr"/>
              <a:r>
                <a:rPr lang="en-US" sz="1200" dirty="0">
                  <a:solidFill>
                    <a:srgbClr val="232323"/>
                  </a:solidFill>
                  <a:latin typeface="Calibri"/>
                </a:rPr>
                <a:t>Long-run targets, policy counterfactual</a:t>
              </a:r>
              <a:r>
                <a:rPr sz="1200" dirty="0">
                  <a:solidFill>
                    <a:srgbClr val="232323"/>
                  </a:solidFill>
                  <a:latin typeface="Calibri"/>
                </a:rPr>
                <a:t>, external forecasts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9488271" y="2011680"/>
              <a:ext cx="237744" cy="91440"/>
            </a:xfrm>
            <a:prstGeom prst="rightArrow">
              <a:avLst/>
            </a:prstGeom>
            <a:solidFill>
              <a:srgbClr val="305B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735159" y="1600200"/>
              <a:ext cx="2084831" cy="914400"/>
            </a:xfrm>
            <a:prstGeom prst="roundRect">
              <a:avLst/>
            </a:prstGeom>
            <a:solidFill>
              <a:srgbClr val="EBF1F9"/>
            </a:solidFill>
            <a:ln w="8890">
              <a:solidFill>
                <a:srgbClr val="1C36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b="1" dirty="0">
                  <a:solidFill>
                    <a:srgbClr val="1C3663"/>
                  </a:solidFill>
                  <a:latin typeface="Calibri"/>
                </a:rPr>
                <a:t>Conclusion</a:t>
              </a:r>
            </a:p>
            <a:p>
              <a:pPr algn="ctr"/>
              <a:r>
                <a:rPr sz="1200" dirty="0">
                  <a:solidFill>
                    <a:srgbClr val="232323"/>
                  </a:solidFill>
                  <a:latin typeface="Calibri"/>
                </a:rPr>
                <a:t>bands · export · share · decide</a:t>
              </a: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72870" y="4343401"/>
            <a:ext cx="548640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b="1" dirty="0">
                <a:solidFill>
                  <a:srgbClr val="1C3663"/>
                </a:solidFill>
                <a:latin typeface="Calibri"/>
              </a:rPr>
              <a:t>Key advantages</a:t>
            </a:r>
            <a:endParaRPr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2870" y="4709161"/>
            <a:ext cx="5760720" cy="12252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6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Speed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-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a coherent global “what-if”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 live tool.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lang="en-US" sz="1600" b="1" dirty="0">
                <a:solidFill>
                  <a:srgbClr val="27744B"/>
                </a:solidFill>
              </a:rPr>
              <a:t>+ </a:t>
            </a:r>
            <a:r>
              <a:rPr lang="en-US" sz="1600" b="1" dirty="0">
                <a:solidFill>
                  <a:srgbClr val="1C3663"/>
                </a:solidFill>
              </a:rPr>
              <a:t>Accessible </a:t>
            </a:r>
            <a:r>
              <a:rPr lang="en-US" sz="1600" dirty="0">
                <a:solidFill>
                  <a:srgbClr val="232323"/>
                </a:solidFill>
              </a:rPr>
              <a:t>- simple is beautiful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6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Coherence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-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every number is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globally </a:t>
            </a:r>
            <a:r>
              <a:rPr sz="1600" dirty="0">
                <a:solidFill>
                  <a:srgbClr val="232323"/>
                </a:solidFill>
                <a:latin typeface="Calibri"/>
              </a:rPr>
              <a:t>consistent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6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Reuse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-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folds in the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insights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we already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have </a:t>
            </a:r>
            <a:r>
              <a:rPr sz="1600" dirty="0">
                <a:solidFill>
                  <a:srgbClr val="232323"/>
                </a:solidFill>
                <a:latin typeface="Calibri"/>
              </a:rPr>
              <a:t>(WEO, SPF, desk)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030" y="4343401"/>
            <a:ext cx="5394960" cy="3139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b="1" dirty="0">
                <a:solidFill>
                  <a:srgbClr val="1C3663"/>
                </a:solidFill>
                <a:latin typeface="Calibri"/>
              </a:rPr>
              <a:t>Main questions to answer:</a:t>
            </a:r>
            <a:endParaRPr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5030" y="4709161"/>
            <a:ext cx="5394960" cy="12236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lang="en-US" sz="1600" b="1" dirty="0">
                <a:solidFill>
                  <a:srgbClr val="1C3663"/>
                </a:solidFill>
              </a:rPr>
              <a:t>▸ </a:t>
            </a:r>
            <a:r>
              <a:rPr lang="en-US" sz="1600" dirty="0">
                <a:solidFill>
                  <a:srgbClr val="232323"/>
                </a:solidFill>
              </a:rPr>
              <a:t>What is the new global scenario with updated WEO forecast?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600" b="1" dirty="0">
                <a:solidFill>
                  <a:srgbClr val="1C3663"/>
                </a:solidFill>
                <a:latin typeface="Calibri"/>
              </a:rPr>
              <a:t>▸ </a:t>
            </a:r>
            <a:r>
              <a:rPr sz="1600" dirty="0">
                <a:solidFill>
                  <a:srgbClr val="232323"/>
                </a:solidFill>
                <a:latin typeface="Calibri"/>
              </a:rPr>
              <a:t>If US growth surprises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, </a:t>
            </a:r>
            <a:r>
              <a:rPr sz="1600" dirty="0">
                <a:solidFill>
                  <a:srgbClr val="232323"/>
                </a:solidFill>
                <a:latin typeface="Calibri"/>
              </a:rPr>
              <a:t>who else moves, and by how much?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600" b="1" dirty="0">
                <a:solidFill>
                  <a:srgbClr val="1C3663"/>
                </a:solidFill>
                <a:latin typeface="Calibri"/>
              </a:rPr>
              <a:t>▸ </a:t>
            </a:r>
            <a:r>
              <a:rPr sz="1600" dirty="0">
                <a:solidFill>
                  <a:srgbClr val="232323"/>
                </a:solidFill>
                <a:latin typeface="Calibri"/>
              </a:rPr>
              <a:t>If the Fed holds rates higher for longer, what happens here?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600" b="1" dirty="0">
                <a:solidFill>
                  <a:srgbClr val="1C3663"/>
                </a:solidFill>
                <a:latin typeface="Calibri"/>
              </a:rPr>
              <a:t>▸ </a:t>
            </a:r>
            <a:r>
              <a:rPr sz="1600" dirty="0">
                <a:solidFill>
                  <a:srgbClr val="232323"/>
                </a:solidFill>
                <a:latin typeface="Calibri"/>
              </a:rPr>
              <a:t>If we take the WEO as given, what does it imply for </a:t>
            </a:r>
            <a:r>
              <a:rPr lang="en-US" sz="1600" dirty="0" err="1">
                <a:solidFill>
                  <a:srgbClr val="232323"/>
                </a:solidFill>
                <a:latin typeface="Calibri"/>
              </a:rPr>
              <a:t>RoW</a:t>
            </a:r>
            <a:r>
              <a:rPr sz="1600" dirty="0">
                <a:solidFill>
                  <a:srgbClr val="232323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Baseline: API data inputs + BVAR estimates 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487" y="1372652"/>
            <a:ext cx="10332720" cy="47859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lang="en-US" b="1" dirty="0">
                <a:solidFill>
                  <a:srgbClr val="1C3663"/>
                </a:solidFill>
                <a:latin typeface="Calibri"/>
              </a:rPr>
              <a:t>US inflation, policy rate and GDP </a:t>
            </a:r>
          </a:p>
          <a:p>
            <a:pPr algn="ctr">
              <a:lnSpc>
                <a:spcPct val="102000"/>
              </a:lnSpc>
            </a:pPr>
            <a:r>
              <a:rPr lang="en-US" sz="1050" dirty="0">
                <a:solidFill>
                  <a:srgbClr val="696969"/>
                </a:solidFill>
                <a:latin typeface="Calibri"/>
              </a:rPr>
              <a:t>One consistent forecast, with uncertainty bands.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1892642"/>
            <a:ext cx="8686800" cy="3741515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24239" y="5675555"/>
            <a:ext cx="8686800" cy="19607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050" dirty="0">
                <a:solidFill>
                  <a:srgbClr val="696969"/>
                </a:solidFill>
                <a:latin typeface="Calibri"/>
              </a:rPr>
              <a:t>Source: IMF staff calculations.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sz="2200" b="1" dirty="0">
                <a:solidFill>
                  <a:srgbClr val="1C3663"/>
                </a:solidFill>
                <a:latin typeface="Calibri"/>
              </a:rPr>
              <a:t>The </a:t>
            </a:r>
            <a:r>
              <a:rPr lang="en-US" sz="2200" b="1" dirty="0">
                <a:solidFill>
                  <a:srgbClr val="1C3663"/>
                </a:solidFill>
                <a:latin typeface="Calibri"/>
              </a:rPr>
              <a:t>b</a:t>
            </a:r>
            <a:r>
              <a:rPr sz="2200" b="1" dirty="0">
                <a:solidFill>
                  <a:srgbClr val="1C3663"/>
                </a:solidFill>
                <a:latin typeface="Calibri"/>
              </a:rPr>
              <a:t>aseline:  </a:t>
            </a:r>
            <a:r>
              <a:rPr sz="2200" dirty="0">
                <a:solidFill>
                  <a:srgbClr val="232323"/>
                </a:solidFill>
                <a:latin typeface="Calibri"/>
              </a:rPr>
              <a:t>A ready-made, internally consistent forecast</a:t>
            </a:r>
            <a:r>
              <a:rPr lang="sv-SE" sz="22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-</a:t>
            </a:r>
            <a:r>
              <a:rPr sz="2200" dirty="0">
                <a:solidFill>
                  <a:srgbClr val="232323"/>
                </a:solidFill>
                <a:latin typeface="Calibri"/>
              </a:rPr>
              <a:t> the common starting point every scenario departs from</a:t>
            </a:r>
            <a:r>
              <a:rPr lang="sv-SE" sz="2200" dirty="0">
                <a:solidFill>
                  <a:srgbClr val="232323"/>
                </a:solidFill>
                <a:latin typeface="Calibri"/>
              </a:rPr>
              <a:t> (</a:t>
            </a:r>
            <a:r>
              <a:rPr lang="en-US" sz="2200" dirty="0">
                <a:solidFill>
                  <a:srgbClr val="232323"/>
                </a:solidFill>
              </a:rPr>
              <a:t>for all </a:t>
            </a:r>
            <a:r>
              <a:rPr lang="en-US" sz="2200" b="1" dirty="0">
                <a:solidFill>
                  <a:srgbClr val="1C3663"/>
                </a:solidFill>
              </a:rPr>
              <a:t>50 economies</a:t>
            </a:r>
            <a:r>
              <a:rPr lang="sv-SE" sz="2200" dirty="0">
                <a:solidFill>
                  <a:srgbClr val="232323"/>
                </a:solidFill>
                <a:latin typeface="Calibri"/>
              </a:rPr>
              <a:t>)</a:t>
            </a:r>
            <a:r>
              <a:rPr sz="22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5C0C0D0-EBB3-202C-7726-6B2DA0B152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53" b="11289"/>
          <a:stretch>
            <a:fillRect/>
          </a:stretch>
        </p:blipFill>
        <p:spPr>
          <a:xfrm>
            <a:off x="6616596" y="1924811"/>
            <a:ext cx="4496106" cy="254784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Baseline: 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Fiscal 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block and fiscal accounting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39" y="1554480"/>
            <a:ext cx="5537299" cy="274280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323"/>
                </a:solidFill>
                <a:latin typeface="Calibri"/>
              </a:rPr>
              <a:t>Revenue, spending, the interest bill </a:t>
            </a:r>
            <a:r>
              <a:rPr lang="en-US" sz="2000" dirty="0">
                <a:solidFill>
                  <a:srgbClr val="232323"/>
                </a:solidFill>
                <a:latin typeface="Calibri"/>
              </a:rPr>
              <a:t>and </a:t>
            </a:r>
            <a:r>
              <a:rPr lang="en-US" sz="2000" dirty="0" err="1">
                <a:solidFill>
                  <a:srgbClr val="232323"/>
                </a:solidFill>
                <a:latin typeface="Calibri"/>
              </a:rPr>
              <a:t>debtresid</a:t>
            </a:r>
            <a:r>
              <a:rPr lang="en-US" sz="2000">
                <a:solidFill>
                  <a:srgbClr val="232323"/>
                </a:solidFill>
                <a:latin typeface="Calibri"/>
              </a:rPr>
              <a:t> (share of GDP)</a:t>
            </a:r>
            <a:r>
              <a:rPr sz="2000">
                <a:solidFill>
                  <a:srgbClr val="232323"/>
                </a:solidFill>
                <a:latin typeface="Calibri"/>
              </a:rPr>
              <a:t> </a:t>
            </a:r>
            <a:r>
              <a:rPr sz="2000" dirty="0">
                <a:solidFill>
                  <a:srgbClr val="232323"/>
                </a:solidFill>
                <a:latin typeface="Calibri"/>
              </a:rPr>
              <a:t>are </a:t>
            </a:r>
            <a:r>
              <a:rPr lang="en-US" sz="2000" dirty="0">
                <a:solidFill>
                  <a:srgbClr val="232323"/>
                </a:solidFill>
                <a:latin typeface="Calibri"/>
              </a:rPr>
              <a:t>included as observables in BVAR</a:t>
            </a:r>
            <a:r>
              <a:rPr lang="en-US" sz="2000" b="1" dirty="0">
                <a:solidFill>
                  <a:srgbClr val="1C3663"/>
                </a:solidFill>
                <a:latin typeface="Calibri"/>
              </a:rPr>
              <a:t>.</a:t>
            </a: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C3663"/>
                </a:solidFill>
                <a:latin typeface="Calibri"/>
              </a:rPr>
              <a:t>Given the four endogenous fiscal variables, </a:t>
            </a:r>
            <a:r>
              <a:rPr lang="en-US" sz="2000" b="1" dirty="0">
                <a:solidFill>
                  <a:srgbClr val="1C3663"/>
                </a:solidFill>
                <a:latin typeface="Calibri"/>
              </a:rPr>
              <a:t>D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ebt-to-GDP </a:t>
            </a:r>
            <a:r>
              <a:rPr sz="2000" dirty="0">
                <a:solidFill>
                  <a:srgbClr val="232323"/>
                </a:solidFill>
                <a:latin typeface="Calibri"/>
              </a:rPr>
              <a:t>follows from the </a:t>
            </a:r>
            <a:r>
              <a:rPr lang="en-US" sz="2000" b="1" dirty="0">
                <a:solidFill>
                  <a:srgbClr val="1C3663"/>
                </a:solidFill>
                <a:latin typeface="Calibri"/>
              </a:rPr>
              <a:t>debt accumulation equation </a:t>
            </a:r>
            <a:r>
              <a:rPr lang="en-US" sz="2000" dirty="0">
                <a:solidFill>
                  <a:srgbClr val="1C3663"/>
                </a:solidFill>
                <a:latin typeface="Calibri"/>
              </a:rPr>
              <a:t>(satellite model)</a:t>
            </a:r>
            <a:r>
              <a:rPr sz="2000" dirty="0">
                <a:solidFill>
                  <a:srgbClr val="232323"/>
                </a:solidFill>
                <a:latin typeface="Calibri"/>
              </a:rPr>
              <a:t>.</a:t>
            </a:r>
            <a:endParaRPr lang="en-US" sz="2000" dirty="0">
              <a:solidFill>
                <a:srgbClr val="232323"/>
              </a:solidFill>
              <a:latin typeface="Calibri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323"/>
                </a:solidFill>
                <a:latin typeface="Calibri"/>
              </a:rPr>
              <a:t>No separate spreadsheet: the fiscal story is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consistent with the macro forecast</a:t>
            </a:r>
            <a:r>
              <a:rPr lang="en-US" sz="2000" b="1" dirty="0">
                <a:solidFill>
                  <a:srgbClr val="1C3663"/>
                </a:solidFill>
                <a:latin typeface="Calibri"/>
              </a:rPr>
              <a:t>.</a:t>
            </a:r>
            <a:endParaRPr sz="130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81790" y="1600199"/>
            <a:ext cx="5165719" cy="2977617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65800" y="1607917"/>
            <a:ext cx="5739688" cy="27943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600" dirty="0">
                <a:solidFill>
                  <a:srgbClr val="696969"/>
                </a:solidFill>
                <a:latin typeface="Calibri"/>
              </a:rPr>
              <a:t>US debt-to-GDP rises to  1</a:t>
            </a:r>
            <a:r>
              <a:rPr lang="en-US" sz="1600" dirty="0">
                <a:solidFill>
                  <a:srgbClr val="696969"/>
                </a:solidFill>
                <a:latin typeface="Calibri"/>
              </a:rPr>
              <a:t>28</a:t>
            </a:r>
            <a:r>
              <a:rPr sz="1600" dirty="0">
                <a:solidFill>
                  <a:srgbClr val="696969"/>
                </a:solidFill>
                <a:latin typeface="Calibri"/>
              </a:rPr>
              <a:t>% by 2031, with</a:t>
            </a:r>
            <a:r>
              <a:rPr lang="en-US" sz="1600" dirty="0">
                <a:solidFill>
                  <a:srgbClr val="696969"/>
                </a:solidFill>
                <a:latin typeface="Calibri"/>
              </a:rPr>
              <a:t> CI</a:t>
            </a:r>
            <a:r>
              <a:rPr sz="1600" dirty="0">
                <a:solidFill>
                  <a:srgbClr val="696969"/>
                </a:solidFill>
                <a:latin typeface="Calibri"/>
              </a:rPr>
              <a:t> band.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sz="2200" b="1" dirty="0">
                <a:solidFill>
                  <a:srgbClr val="1C3663"/>
                </a:solidFill>
                <a:latin typeface="Calibri"/>
              </a:rPr>
              <a:t>Debt sustainability </a:t>
            </a:r>
            <a:r>
              <a:rPr lang="en-US" sz="2200" b="1" dirty="0">
                <a:solidFill>
                  <a:srgbClr val="1C3663"/>
                </a:solidFill>
                <a:latin typeface="Calibri"/>
              </a:rPr>
              <a:t>analysis 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is integrated into the scenario analysis</a:t>
            </a:r>
            <a:r>
              <a:rPr sz="22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A3329BF-6F53-D435-6BE5-8D6729C58EED}"/>
              </a:ext>
            </a:extLst>
          </p:cNvPr>
          <p:cNvGrpSpPr/>
          <p:nvPr/>
        </p:nvGrpSpPr>
        <p:grpSpPr>
          <a:xfrm>
            <a:off x="619963" y="4321279"/>
            <a:ext cx="5029200" cy="1371600"/>
            <a:chOff x="548640" y="3200400"/>
            <a:chExt cx="5029200" cy="1371600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3200400"/>
              <a:ext cx="5029200" cy="1371600"/>
            </a:xfrm>
            <a:prstGeom prst="roundRect">
              <a:avLst/>
            </a:prstGeom>
            <a:solidFill>
              <a:srgbClr val="F4F5F7"/>
            </a:solidFill>
            <a:ln w="9525">
              <a:solidFill>
                <a:srgbClr val="D2D6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3232" y="3291840"/>
              <a:ext cx="4754880" cy="283154"/>
            </a:xfrm>
            <a:prstGeom prst="rect">
              <a:avLst/>
            </a:prstGeom>
            <a:noFill/>
          </p:spPr>
          <p:txBody>
            <a:bodyPr wrap="square" lIns="54864" tIns="18288" rIns="54864" bIns="18288" anchor="t">
              <a:spAutoFit/>
            </a:bodyPr>
            <a:lstStyle/>
            <a:p>
              <a:r>
                <a:rPr lang="en-US" sz="1600" b="1" dirty="0">
                  <a:solidFill>
                    <a:srgbClr val="1C3663"/>
                  </a:solidFill>
                  <a:latin typeface="Calibri"/>
                </a:rPr>
                <a:t>Government Debt Flow Accounting</a:t>
              </a:r>
              <a:endParaRPr sz="1600" b="1" i="0" dirty="0">
                <a:solidFill>
                  <a:srgbClr val="1C3663"/>
                </a:solidFill>
                <a:latin typeface="Calibri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3723212"/>
              <a:ext cx="5010912" cy="298543"/>
            </a:xfrm>
            <a:prstGeom prst="rect">
              <a:avLst/>
            </a:prstGeom>
            <a:noFill/>
          </p:spPr>
          <p:txBody>
            <a:bodyPr wrap="square" lIns="54864" tIns="18288" rIns="54864" bIns="18288" anchor="ctr">
              <a:spAutoFit/>
            </a:bodyPr>
            <a:lstStyle/>
            <a:p>
              <a:pPr algn="ctr"/>
              <a:r>
                <a:rPr sz="1700" i="1" dirty="0">
                  <a:solidFill>
                    <a:srgbClr val="232323"/>
                  </a:solidFill>
                  <a:latin typeface="Cambria Math"/>
                </a:rPr>
                <a:t>d</a:t>
              </a:r>
              <a:r>
                <a:rPr sz="1700" i="0" baseline="-25000" dirty="0">
                  <a:solidFill>
                    <a:srgbClr val="232323"/>
                  </a:solidFill>
                  <a:latin typeface="Cambria Math"/>
                </a:rPr>
                <a:t>t</a:t>
              </a:r>
              <a:r>
                <a:rPr sz="1700" i="0" dirty="0">
                  <a:solidFill>
                    <a:srgbClr val="232323"/>
                  </a:solidFill>
                  <a:latin typeface="Cambria Math"/>
                </a:rPr>
                <a:t>  =  </a:t>
              </a:r>
              <a:r>
                <a:rPr sz="1700" i="1" dirty="0">
                  <a:solidFill>
                    <a:srgbClr val="232323"/>
                  </a:solidFill>
                  <a:latin typeface="Cambria Math"/>
                </a:rPr>
                <a:t>d</a:t>
              </a:r>
              <a:r>
                <a:rPr sz="1700" i="0" baseline="-25000" dirty="0">
                  <a:solidFill>
                    <a:srgbClr val="232323"/>
                  </a:solidFill>
                  <a:latin typeface="Cambria Math"/>
                </a:rPr>
                <a:t>t−1</a:t>
              </a:r>
              <a:r>
                <a:rPr sz="1700" i="0" dirty="0">
                  <a:solidFill>
                    <a:srgbClr val="232323"/>
                  </a:solidFill>
                  <a:latin typeface="Cambria Math"/>
                </a:rPr>
                <a:t> · (1+</a:t>
              </a:r>
              <a:r>
                <a:rPr sz="1700" i="1" dirty="0">
                  <a:solidFill>
                    <a:srgbClr val="232323"/>
                  </a:solidFill>
                  <a:latin typeface="Cambria Math"/>
                </a:rPr>
                <a:t>i</a:t>
              </a:r>
              <a:r>
                <a:rPr sz="1700" i="0" baseline="-25000" dirty="0">
                  <a:solidFill>
                    <a:srgbClr val="232323"/>
                  </a:solidFill>
                  <a:latin typeface="Cambria Math"/>
                </a:rPr>
                <a:t>t</a:t>
              </a:r>
              <a:r>
                <a:rPr sz="1700" i="0" dirty="0">
                  <a:solidFill>
                    <a:srgbClr val="232323"/>
                  </a:solidFill>
                  <a:latin typeface="Cambria Math"/>
                </a:rPr>
                <a:t>) / (1+</a:t>
              </a:r>
              <a:r>
                <a:rPr sz="1700" i="1" dirty="0">
                  <a:solidFill>
                    <a:srgbClr val="232323"/>
                  </a:solidFill>
                  <a:latin typeface="Cambria Math"/>
                </a:rPr>
                <a:t>g</a:t>
              </a:r>
              <a:r>
                <a:rPr sz="1700" i="0" baseline="-25000" dirty="0">
                  <a:solidFill>
                    <a:srgbClr val="232323"/>
                  </a:solidFill>
                  <a:latin typeface="Cambria Math"/>
                </a:rPr>
                <a:t>t</a:t>
              </a:r>
              <a:r>
                <a:rPr sz="1700" i="0" dirty="0">
                  <a:solidFill>
                    <a:srgbClr val="232323"/>
                  </a:solidFill>
                  <a:latin typeface="Cambria Math"/>
                </a:rPr>
                <a:t>)  −</a:t>
              </a:r>
              <a:r>
                <a:rPr lang="en-US" sz="1700" i="1" dirty="0">
                  <a:solidFill>
                    <a:srgbClr val="232323"/>
                  </a:solidFill>
                  <a:latin typeface="Cambria Math"/>
                </a:rPr>
                <a:t> </a:t>
              </a:r>
              <a:r>
                <a:rPr lang="en-US" sz="1700" i="1" dirty="0" err="1">
                  <a:solidFill>
                    <a:srgbClr val="232323"/>
                  </a:solidFill>
                  <a:latin typeface="Cambria Math"/>
                </a:rPr>
                <a:t>rev</a:t>
              </a:r>
              <a:r>
                <a:rPr lang="en-US" sz="1700" baseline="-25000" dirty="0" err="1">
                  <a:solidFill>
                    <a:srgbClr val="232323"/>
                  </a:solidFill>
                  <a:latin typeface="Cambria Math"/>
                </a:rPr>
                <a:t>t</a:t>
              </a:r>
              <a:r>
                <a:rPr sz="1700" i="0" dirty="0">
                  <a:solidFill>
                    <a:srgbClr val="232323"/>
                  </a:solidFill>
                  <a:latin typeface="Cambria Math"/>
                </a:rPr>
                <a:t> </a:t>
              </a:r>
              <a:r>
                <a:rPr lang="en-US" sz="1700" i="0" dirty="0">
                  <a:solidFill>
                    <a:srgbClr val="232323"/>
                  </a:solidFill>
                  <a:latin typeface="Cambria Math"/>
                </a:rPr>
                <a:t>+</a:t>
              </a:r>
              <a:r>
                <a:rPr sz="1700" i="0" dirty="0">
                  <a:solidFill>
                    <a:srgbClr val="232323"/>
                  </a:solidFill>
                  <a:latin typeface="Cambria Math"/>
                </a:rPr>
                <a:t> </a:t>
              </a:r>
              <a:r>
                <a:rPr lang="en-US" sz="1700" i="1" dirty="0" err="1">
                  <a:solidFill>
                    <a:srgbClr val="232323"/>
                  </a:solidFill>
                  <a:latin typeface="Cambria Math"/>
                </a:rPr>
                <a:t>exp</a:t>
              </a:r>
              <a:r>
                <a:rPr lang="en-US" sz="1700" i="0" baseline="-25000" dirty="0" err="1">
                  <a:solidFill>
                    <a:srgbClr val="232323"/>
                  </a:solidFill>
                  <a:latin typeface="Cambria Math"/>
                </a:rPr>
                <a:t>t</a:t>
              </a:r>
              <a:r>
                <a:rPr sz="1700" i="0" dirty="0">
                  <a:solidFill>
                    <a:srgbClr val="232323"/>
                  </a:solidFill>
                  <a:latin typeface="Cambria Math"/>
                </a:rPr>
                <a:t>  +  </a:t>
              </a:r>
              <a:r>
                <a:rPr lang="en-US" sz="1700" i="1" dirty="0" err="1">
                  <a:solidFill>
                    <a:srgbClr val="232323"/>
                  </a:solidFill>
                  <a:latin typeface="Cambria Math"/>
                </a:rPr>
                <a:t>sfa</a:t>
              </a:r>
              <a:r>
                <a:rPr sz="1700" i="0" baseline="-25000" dirty="0" err="1">
                  <a:solidFill>
                    <a:srgbClr val="232323"/>
                  </a:solidFill>
                  <a:latin typeface="Cambria Math"/>
                </a:rPr>
                <a:t>t</a:t>
              </a:r>
              <a:endParaRPr sz="1700" i="0" baseline="-25000" dirty="0">
                <a:solidFill>
                  <a:srgbClr val="232323"/>
                </a:solidFill>
                <a:latin typeface="Cambria Math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0080" y="4151376"/>
              <a:ext cx="4846320" cy="344710"/>
            </a:xfrm>
            <a:prstGeom prst="rect">
              <a:avLst/>
            </a:prstGeom>
            <a:noFill/>
          </p:spPr>
          <p:txBody>
            <a:bodyPr wrap="square" lIns="54864" tIns="18288" rIns="54864" bIns="18288" anchor="t">
              <a:spAutoFit/>
            </a:bodyPr>
            <a:lstStyle/>
            <a:p>
              <a:pPr algn="ctr"/>
              <a:r>
                <a:rPr sz="1000" b="0" i="0" dirty="0">
                  <a:solidFill>
                    <a:srgbClr val="696969"/>
                  </a:solidFill>
                  <a:latin typeface="Calibri"/>
                </a:rPr>
                <a:t>d = debt/GDP · </a:t>
              </a:r>
              <a:r>
                <a:rPr sz="1000" b="0" i="0" dirty="0" err="1">
                  <a:solidFill>
                    <a:srgbClr val="696969"/>
                  </a:solidFill>
                  <a:latin typeface="Calibri"/>
                </a:rPr>
                <a:t>i</a:t>
              </a:r>
              <a:r>
                <a:rPr sz="1000" b="0" i="0" dirty="0">
                  <a:solidFill>
                    <a:srgbClr val="696969"/>
                  </a:solidFill>
                  <a:latin typeface="Calibri"/>
                </a:rPr>
                <a:t> = eff. interest rate · g = nominal GDP growth · </a:t>
              </a:r>
              <a:r>
                <a:rPr lang="en-US" sz="1000" dirty="0">
                  <a:solidFill>
                    <a:srgbClr val="696969"/>
                  </a:solidFill>
                  <a:latin typeface="Calibri"/>
                </a:rPr>
                <a:t>rev</a:t>
              </a:r>
              <a:r>
                <a:rPr sz="1000" b="0" i="0" dirty="0">
                  <a:solidFill>
                    <a:srgbClr val="696969"/>
                  </a:solidFill>
                  <a:latin typeface="Calibri"/>
                </a:rPr>
                <a:t> = </a:t>
              </a:r>
              <a:r>
                <a:rPr lang="en-US" sz="1000" b="0" i="0" dirty="0">
                  <a:solidFill>
                    <a:srgbClr val="696969"/>
                  </a:solidFill>
                  <a:latin typeface="Calibri"/>
                </a:rPr>
                <a:t>revenue/GDP exp = Primary Expenditure/GDP,</a:t>
              </a:r>
              <a:r>
                <a:rPr sz="1000" b="0" i="0" dirty="0">
                  <a:solidFill>
                    <a:srgbClr val="696969"/>
                  </a:solidFill>
                  <a:latin typeface="Calibri"/>
                </a:rPr>
                <a:t>· </a:t>
              </a:r>
              <a:r>
                <a:rPr sz="1000" b="0" i="0" dirty="0" err="1">
                  <a:solidFill>
                    <a:srgbClr val="696969"/>
                  </a:solidFill>
                  <a:latin typeface="Calibri"/>
                </a:rPr>
                <a:t>sfa</a:t>
              </a:r>
              <a:r>
                <a:rPr sz="1000" b="0" i="0" dirty="0">
                  <a:solidFill>
                    <a:srgbClr val="696969"/>
                  </a:solidFill>
                  <a:latin typeface="Calibri"/>
                </a:rPr>
                <a:t> = stock-flow adj</a:t>
              </a:r>
              <a:r>
                <a:rPr lang="en-US" sz="1000" dirty="0">
                  <a:solidFill>
                    <a:srgbClr val="696969"/>
                  </a:solidFill>
                  <a:latin typeface="Calibri"/>
                </a:rPr>
                <a:t>ustment/GDP</a:t>
              </a:r>
              <a:endParaRPr sz="1000" b="0" i="0" dirty="0">
                <a:solidFill>
                  <a:srgbClr val="696969"/>
                </a:solidFill>
                <a:latin typeface="Calibri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A8DBDB8B-10F4-7788-4A81-BF6B86F201C5}"/>
              </a:ext>
            </a:extLst>
          </p:cNvPr>
          <p:cNvSpPr txBox="1"/>
          <p:nvPr/>
        </p:nvSpPr>
        <p:spPr>
          <a:xfrm>
            <a:off x="6477733" y="4746051"/>
            <a:ext cx="1807430" cy="19607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1050" dirty="0">
                <a:solidFill>
                  <a:srgbClr val="696969"/>
                </a:solidFill>
                <a:latin typeface="Calibri"/>
              </a:rPr>
              <a:t>Source: IMF staff calculations.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D63C0-89C1-75E5-ACBE-9ECE00E7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FC2EB26-1F49-471C-FA27-14FAD8E1D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89" y="1462222"/>
            <a:ext cx="5029200" cy="3904713"/>
          </a:xfrm>
          <a:prstGeom prst="rect">
            <a:avLst/>
          </a:prstGeom>
        </p:spPr>
      </p:pic>
      <p:sp>
        <p:nvSpPr>
          <p:cNvPr id="15" name="Rounded Rectangle 17"/>
          <p:cNvSpPr/>
          <p:nvPr/>
        </p:nvSpPr>
        <p:spPr>
          <a:xfrm>
            <a:off x="457199" y="5806509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lang="en-US" sz="2200" b="1" dirty="0">
                <a:solidFill>
                  <a:srgbClr val="1C3663"/>
                </a:solidFill>
                <a:latin typeface="Calibri"/>
              </a:rPr>
              <a:t>Conditioning: 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 The most likely outcome given the data and the model.</a:t>
            </a:r>
            <a:endParaRPr sz="220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027E3D-016A-C9D5-C2E7-97F43C24233B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4876B-3741-3EDB-32F7-CF508D79D5DB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Conditioning: A naïve spread shock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08C661E-480F-EAD8-A550-CEE1E00CA1A2}"/>
              </a:ext>
            </a:extLst>
          </p:cNvPr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AD2BAF9-0C40-8770-5C8D-BCA1D4758B22}"/>
              </a:ext>
            </a:extLst>
          </p:cNvPr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6129AB-A687-3567-B291-60C728B318DB}"/>
              </a:ext>
            </a:extLst>
          </p:cNvPr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ED70FF58-8CF8-DD56-C629-9E4F0977B9BA}"/>
              </a:ext>
            </a:extLst>
          </p:cNvPr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9151FA-1887-48CC-F72D-14500A3F5160}"/>
              </a:ext>
            </a:extLst>
          </p:cNvPr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E6B4B36D-0807-031C-C585-AC15E9832ADA}"/>
              </a:ext>
            </a:extLst>
          </p:cNvPr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03C7A9-5D87-6612-B927-A8B3B6F34B9B}"/>
              </a:ext>
            </a:extLst>
          </p:cNvPr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02D25B39-2A10-885B-F336-AF4D83791A5C}"/>
              </a:ext>
            </a:extLst>
          </p:cNvPr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11DF433-20DF-F56A-B4BD-D645D82C91CE}"/>
              </a:ext>
            </a:extLst>
          </p:cNvPr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0BA90-1B11-2DF1-88A9-D60F1B600AD6}"/>
              </a:ext>
            </a:extLst>
          </p:cNvPr>
          <p:cNvSpPr txBox="1"/>
          <p:nvPr/>
        </p:nvSpPr>
        <p:spPr>
          <a:xfrm>
            <a:off x="548640" y="1417320"/>
            <a:ext cx="5219395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400" b="1" dirty="0">
                <a:solidFill>
                  <a:srgbClr val="1C3663"/>
                </a:solidFill>
                <a:latin typeface="Calibri"/>
              </a:rPr>
              <a:t>Financial shock – A naïve spread shock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1652433-4860-27F0-196F-176EA26A67A5}"/>
              </a:ext>
            </a:extLst>
          </p:cNvPr>
          <p:cNvSpPr/>
          <p:nvPr/>
        </p:nvSpPr>
        <p:spPr>
          <a:xfrm>
            <a:off x="6180794" y="1303044"/>
            <a:ext cx="5462566" cy="4362472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676DE3F-24EA-1D6E-87A3-782C315C33AC}"/>
              </a:ext>
            </a:extLst>
          </p:cNvPr>
          <p:cNvSpPr/>
          <p:nvPr/>
        </p:nvSpPr>
        <p:spPr>
          <a:xfrm>
            <a:off x="6899541" y="2442716"/>
            <a:ext cx="2033601" cy="19513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442676D2-B6C0-7F71-03EC-B9525431D781}"/>
              </a:ext>
            </a:extLst>
          </p:cNvPr>
          <p:cNvSpPr/>
          <p:nvPr/>
        </p:nvSpPr>
        <p:spPr>
          <a:xfrm>
            <a:off x="548640" y="1993391"/>
            <a:ext cx="4978949" cy="28504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32323"/>
                </a:solidFill>
              </a:rPr>
              <a:t>Simply pin </a:t>
            </a:r>
          </a:p>
          <a:p>
            <a:pPr algn="ctr">
              <a:lnSpc>
                <a:spcPct val="102000"/>
              </a:lnSpc>
              <a:spcAft>
                <a:spcPts val="500"/>
              </a:spcAft>
            </a:pPr>
            <a:r>
              <a:rPr lang="en-US" sz="2000" dirty="0">
                <a:solidFill>
                  <a:srgbClr val="232323"/>
                </a:solidFill>
              </a:rPr>
              <a:t>10Y </a:t>
            </a:r>
            <a:r>
              <a:rPr lang="en-US" sz="2000" b="1" dirty="0">
                <a:solidFill>
                  <a:srgbClr val="1C3663"/>
                </a:solidFill>
              </a:rPr>
              <a:t>BAA Corporate Yield </a:t>
            </a:r>
          </a:p>
          <a:p>
            <a:pPr algn="ctr">
              <a:lnSpc>
                <a:spcPct val="102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1C3663"/>
                </a:solidFill>
              </a:rPr>
              <a:t>nowcast</a:t>
            </a:r>
            <a:r>
              <a:rPr lang="en-US" sz="2000" b="1" dirty="0">
                <a:solidFill>
                  <a:srgbClr val="232323"/>
                </a:solidFill>
              </a:rPr>
              <a:t> </a:t>
            </a:r>
          </a:p>
          <a:p>
            <a:pPr algn="ctr">
              <a:lnSpc>
                <a:spcPct val="102000"/>
              </a:lnSpc>
              <a:spcAft>
                <a:spcPts val="500"/>
              </a:spcAft>
            </a:pPr>
            <a:r>
              <a:rPr lang="en-US" sz="2000" dirty="0">
                <a:solidFill>
                  <a:srgbClr val="232323"/>
                </a:solidFill>
              </a:rPr>
              <a:t>to increase by </a:t>
            </a:r>
            <a:r>
              <a:rPr lang="en-US" sz="2000" b="1" dirty="0">
                <a:solidFill>
                  <a:srgbClr val="1C3663"/>
                </a:solidFill>
              </a:rPr>
              <a:t>100 bps.</a:t>
            </a:r>
          </a:p>
        </p:txBody>
      </p:sp>
      <p:pic>
        <p:nvPicPr>
          <p:cNvPr id="22" name="Graphic 21" descr="Pin with solid fill">
            <a:extLst>
              <a:ext uri="{FF2B5EF4-FFF2-40B4-BE49-F238E27FC236}">
                <a16:creationId xmlns:a16="http://schemas.microsoft.com/office/drawing/2014/main" id="{3B4E3955-1A22-F283-D604-633B94DA8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573394">
            <a:off x="671769" y="2067223"/>
            <a:ext cx="595895" cy="595895"/>
          </a:xfrm>
          <a:prstGeom prst="rect">
            <a:avLst/>
          </a:prstGeom>
        </p:spPr>
      </p:pic>
      <p:pic>
        <p:nvPicPr>
          <p:cNvPr id="23" name="Graphic 22" descr="Pin with solid fill">
            <a:extLst>
              <a:ext uri="{FF2B5EF4-FFF2-40B4-BE49-F238E27FC236}">
                <a16:creationId xmlns:a16="http://schemas.microsoft.com/office/drawing/2014/main" id="{8BE303D0-8DEC-65CB-320F-DB99224935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507065">
            <a:off x="7824206" y="2747939"/>
            <a:ext cx="178254" cy="17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54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00DFE8D-CD42-0CE2-7CB7-F8E8ABFB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133" y="3930776"/>
            <a:ext cx="4114800" cy="267422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DED1206-AA81-CA51-1B03-18054074A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133" y="1145450"/>
            <a:ext cx="4114800" cy="270033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2C56BB2-6562-DBA1-B721-2FE143CD9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3888" y="3930776"/>
            <a:ext cx="4114800" cy="268460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Conditioning: Most likely path is not sufficiently precise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793A464-94DC-FD12-DFD6-EBF748938095}"/>
              </a:ext>
            </a:extLst>
          </p:cNvPr>
          <p:cNvSpPr/>
          <p:nvPr/>
        </p:nvSpPr>
        <p:spPr>
          <a:xfrm>
            <a:off x="5942803" y="1521054"/>
            <a:ext cx="2033601" cy="19513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EE5303A-8AE3-2F35-5CA8-20B134D151F6}"/>
              </a:ext>
            </a:extLst>
          </p:cNvPr>
          <p:cNvSpPr/>
          <p:nvPr/>
        </p:nvSpPr>
        <p:spPr>
          <a:xfrm>
            <a:off x="1568100" y="4314018"/>
            <a:ext cx="2033601" cy="195134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3A211-AEC4-FC96-C02F-1BF4FF3AFBF2}"/>
              </a:ext>
            </a:extLst>
          </p:cNvPr>
          <p:cNvSpPr txBox="1"/>
          <p:nvPr/>
        </p:nvSpPr>
        <p:spPr>
          <a:xfrm>
            <a:off x="1547013" y="6176471"/>
            <a:ext cx="10147264" cy="711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endParaRPr lang="en-US" sz="1800" dirty="0">
              <a:solidFill>
                <a:srgbClr val="232323"/>
              </a:solidFill>
              <a:latin typeface="Calibri"/>
            </a:endParaRPr>
          </a:p>
          <a:p>
            <a:pPr marL="285750" indent="-285750">
              <a:lnSpc>
                <a:spcPct val="102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00B050"/>
                </a:solidFill>
                <a:latin typeface="Calibri"/>
              </a:rPr>
              <a:t>Private yields up</a:t>
            </a:r>
            <a:r>
              <a:rPr lang="en-US" b="1" dirty="0">
                <a:solidFill>
                  <a:srgbClr val="00B050"/>
                </a:solidFill>
              </a:rPr>
              <a:t>, GDP declines                </a:t>
            </a:r>
            <a:r>
              <a:rPr lang="en-US" b="1" dirty="0">
                <a:solidFill>
                  <a:srgbClr val="00B050"/>
                </a:solidFill>
                <a:latin typeface="Calibri"/>
              </a:rPr>
              <a:t>      </a:t>
            </a:r>
            <a:r>
              <a:rPr lang="en-US" b="1" dirty="0">
                <a:solidFill>
                  <a:srgbClr val="FF0000"/>
                </a:solidFill>
                <a:latin typeface="Calibri"/>
              </a:rPr>
              <a:t>X   P</a:t>
            </a:r>
            <a:r>
              <a:rPr lang="en-US" sz="1800" b="1" dirty="0">
                <a:solidFill>
                  <a:srgbClr val="FF0000"/>
                </a:solidFill>
                <a:latin typeface="Calibri"/>
              </a:rPr>
              <a:t>olicy rate and 10-year government yield increase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5A784E-EB15-8AB0-F26E-FDE666A1F1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013" y="1207008"/>
            <a:ext cx="4114800" cy="2660637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09F1B1BD-79F0-0008-9D31-6A682DEFDD00}"/>
              </a:ext>
            </a:extLst>
          </p:cNvPr>
          <p:cNvSpPr/>
          <p:nvPr/>
        </p:nvSpPr>
        <p:spPr>
          <a:xfrm>
            <a:off x="1580520" y="1580279"/>
            <a:ext cx="2033601" cy="195134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0F2D9D2-D3D5-C689-399D-47DBD774B498}"/>
              </a:ext>
            </a:extLst>
          </p:cNvPr>
          <p:cNvSpPr/>
          <p:nvPr/>
        </p:nvSpPr>
        <p:spPr>
          <a:xfrm>
            <a:off x="5949685" y="4309510"/>
            <a:ext cx="2033601" cy="19513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C1E7BCAA-AD93-FAFB-221D-906F335529EB}"/>
              </a:ext>
            </a:extLst>
          </p:cNvPr>
          <p:cNvGrpSpPr/>
          <p:nvPr/>
        </p:nvGrpSpPr>
        <p:grpSpPr>
          <a:xfrm>
            <a:off x="6181512" y="1510137"/>
            <a:ext cx="5349771" cy="3877111"/>
            <a:chOff x="6181512" y="1510137"/>
            <a:chExt cx="5349771" cy="3357461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0102B96-E1C3-4C3B-FD4A-3599FE794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81512" y="3144223"/>
              <a:ext cx="2468880" cy="172337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E167164-2AA3-12D5-202C-CD986D867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1512" y="1515325"/>
              <a:ext cx="2467414" cy="161037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C2EEF16-8258-9296-F05D-95E348CE2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62403" y="1510137"/>
              <a:ext cx="2468880" cy="1615558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4E207EE-CB52-E3BC-777F-39640B394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62403" y="3203160"/>
              <a:ext cx="2468880" cy="1605499"/>
            </a:xfrm>
            <a:prstGeom prst="rect">
              <a:avLst/>
            </a:prstGeom>
          </p:spPr>
        </p:pic>
      </p:grp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402C91E9-9113-0E44-D3A6-0FA5C52CBAFF}"/>
              </a:ext>
            </a:extLst>
          </p:cNvPr>
          <p:cNvSpPr/>
          <p:nvPr/>
        </p:nvSpPr>
        <p:spPr>
          <a:xfrm>
            <a:off x="453958" y="1993391"/>
            <a:ext cx="4978949" cy="285045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lang="en-US" sz="2000" dirty="0">
                <a:solidFill>
                  <a:srgbClr val="232323"/>
                </a:solidFill>
              </a:rPr>
              <a:t>   Pin </a:t>
            </a:r>
            <a:r>
              <a:rPr lang="en-US" sz="2000" b="1" dirty="0">
                <a:solidFill>
                  <a:srgbClr val="1C3663"/>
                </a:solidFill>
              </a:rPr>
              <a:t>BAA Corporate Yield NC</a:t>
            </a:r>
            <a:r>
              <a:rPr lang="en-US" sz="2000" b="1" dirty="0">
                <a:solidFill>
                  <a:srgbClr val="232323"/>
                </a:solidFill>
              </a:rPr>
              <a:t> </a:t>
            </a:r>
            <a:r>
              <a:rPr lang="en-US" sz="2000" dirty="0">
                <a:solidFill>
                  <a:srgbClr val="232323"/>
                </a:solidFill>
              </a:rPr>
              <a:t>to </a:t>
            </a:r>
            <a:r>
              <a:rPr lang="en-US" sz="2000" dirty="0">
                <a:solidFill>
                  <a:srgbClr val="00B050"/>
                </a:solidFill>
              </a:rPr>
              <a:t>+100bps</a:t>
            </a:r>
          </a:p>
          <a:p>
            <a:pPr algn="ctr">
              <a:lnSpc>
                <a:spcPct val="102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FF0000"/>
                </a:solidFill>
              </a:rPr>
              <a:t>+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lang="en-US" sz="2000" dirty="0">
                <a:solidFill>
                  <a:srgbClr val="232323"/>
                </a:solidFill>
              </a:rPr>
              <a:t>   Pin </a:t>
            </a:r>
            <a:r>
              <a:rPr lang="en-US" sz="2000" b="1" dirty="0">
                <a:solidFill>
                  <a:srgbClr val="1C3663"/>
                </a:solidFill>
              </a:rPr>
              <a:t>10Y Gov Yield</a:t>
            </a:r>
            <a:r>
              <a:rPr lang="en-US" sz="2000" b="1" dirty="0">
                <a:solidFill>
                  <a:srgbClr val="232323"/>
                </a:solidFill>
              </a:rPr>
              <a:t> </a:t>
            </a:r>
            <a:r>
              <a:rPr lang="en-US" sz="2000" b="1" dirty="0">
                <a:solidFill>
                  <a:srgbClr val="1C3663"/>
                </a:solidFill>
              </a:rPr>
              <a:t>NC</a:t>
            </a:r>
            <a:r>
              <a:rPr lang="en-US" sz="2000" b="1" dirty="0">
                <a:solidFill>
                  <a:srgbClr val="232323"/>
                </a:solidFill>
              </a:rPr>
              <a:t> </a:t>
            </a:r>
            <a:r>
              <a:rPr lang="en-US" sz="2000" dirty="0">
                <a:solidFill>
                  <a:srgbClr val="232323"/>
                </a:solidFill>
              </a:rPr>
              <a:t>to </a:t>
            </a:r>
            <a:r>
              <a:rPr lang="en-US" sz="2000" dirty="0">
                <a:solidFill>
                  <a:srgbClr val="FF0000"/>
                </a:solidFill>
              </a:rPr>
              <a:t>0 first period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lang="en-US" sz="2000" dirty="0">
                <a:solidFill>
                  <a:srgbClr val="FF0000"/>
                </a:solidFill>
              </a:rPr>
              <a:t>				     =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                        “</a:t>
            </a:r>
            <a:r>
              <a:rPr lang="en-US" sz="2000" b="1" dirty="0">
                <a:solidFill>
                  <a:srgbClr val="FF0000"/>
                </a:solidFill>
              </a:rPr>
              <a:t>true spread shock</a:t>
            </a:r>
            <a:r>
              <a:rPr lang="en-US" sz="2000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B8043C7B-6298-AC98-0B44-7CEC1E2B508D}"/>
              </a:ext>
            </a:extLst>
          </p:cNvPr>
          <p:cNvSpPr/>
          <p:nvPr/>
        </p:nvSpPr>
        <p:spPr>
          <a:xfrm>
            <a:off x="453958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sz="2200" b="1" dirty="0">
                <a:solidFill>
                  <a:srgbClr val="1C3663"/>
                </a:solidFill>
                <a:latin typeface="Calibri"/>
              </a:rPr>
              <a:t>Fit the pins to the story:  </a:t>
            </a:r>
            <a:r>
              <a:rPr sz="2200" dirty="0">
                <a:solidFill>
                  <a:srgbClr val="232323"/>
                </a:solidFill>
                <a:latin typeface="Calibri"/>
              </a:rPr>
              <a:t>Two pins 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are sufficient</a:t>
            </a:r>
            <a:r>
              <a:rPr sz="22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a spread shock </a:t>
            </a:r>
            <a:r>
              <a:rPr sz="2200" dirty="0">
                <a:solidFill>
                  <a:srgbClr val="232323"/>
                </a:solidFill>
                <a:latin typeface="Calibri"/>
              </a:rPr>
              <a:t>scenario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, </a:t>
            </a:r>
          </a:p>
          <a:p>
            <a:pPr algn="ctr">
              <a:lnSpc>
                <a:spcPct val="102000"/>
              </a:lnSpc>
            </a:pPr>
            <a:r>
              <a:rPr sz="2200" dirty="0">
                <a:solidFill>
                  <a:srgbClr val="232323"/>
                </a:solidFill>
                <a:latin typeface="Calibri"/>
              </a:rPr>
              <a:t>the model keeps everything else </a:t>
            </a:r>
            <a:r>
              <a:rPr sz="2200" i="1" dirty="0">
                <a:solidFill>
                  <a:srgbClr val="232323"/>
                </a:solidFill>
                <a:latin typeface="Calibri"/>
              </a:rPr>
              <a:t>consistent</a:t>
            </a:r>
            <a:r>
              <a:rPr sz="22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Conditioning: True spread shock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417320"/>
            <a:ext cx="5219395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2400" b="1" dirty="0">
                <a:solidFill>
                  <a:srgbClr val="1C3663"/>
                </a:solidFill>
                <a:latin typeface="Calibri"/>
              </a:rPr>
              <a:t>Financial shock – A true spread shock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743878" y="1316736"/>
            <a:ext cx="6053177" cy="4163814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Graphic 22" descr="Pin with solid fill">
            <a:extLst>
              <a:ext uri="{FF2B5EF4-FFF2-40B4-BE49-F238E27FC236}">
                <a16:creationId xmlns:a16="http://schemas.microsoft.com/office/drawing/2014/main" id="{BF38F536-8577-78DB-26E8-5952A9525E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416019" y="3191048"/>
            <a:ext cx="595895" cy="595895"/>
          </a:xfrm>
          <a:prstGeom prst="rect">
            <a:avLst/>
          </a:prstGeom>
        </p:spPr>
      </p:pic>
      <p:pic>
        <p:nvPicPr>
          <p:cNvPr id="24" name="Graphic 23" descr="Pin with solid fill">
            <a:extLst>
              <a:ext uri="{FF2B5EF4-FFF2-40B4-BE49-F238E27FC236}">
                <a16:creationId xmlns:a16="http://schemas.microsoft.com/office/drawing/2014/main" id="{EDBC9965-D358-182F-E977-7B970B9C6E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416021" y="2432148"/>
            <a:ext cx="595895" cy="595895"/>
          </a:xfrm>
          <a:prstGeom prst="rect">
            <a:avLst/>
          </a:prstGeom>
        </p:spPr>
      </p:pic>
      <p:pic>
        <p:nvPicPr>
          <p:cNvPr id="25" name="Graphic 24" descr="Pin with solid fill">
            <a:extLst>
              <a:ext uri="{FF2B5EF4-FFF2-40B4-BE49-F238E27FC236}">
                <a16:creationId xmlns:a16="http://schemas.microsoft.com/office/drawing/2014/main" id="{7D523B90-2C33-536B-EF38-E2D8A2CAB4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6791798" y="1963573"/>
            <a:ext cx="178254" cy="178254"/>
          </a:xfrm>
          <a:prstGeom prst="rect">
            <a:avLst/>
          </a:prstGeom>
        </p:spPr>
      </p:pic>
      <p:pic>
        <p:nvPicPr>
          <p:cNvPr id="26" name="Graphic 25" descr="Pin with solid fill">
            <a:extLst>
              <a:ext uri="{FF2B5EF4-FFF2-40B4-BE49-F238E27FC236}">
                <a16:creationId xmlns:a16="http://schemas.microsoft.com/office/drawing/2014/main" id="{8EA1ACEB-4D60-A137-3356-EF1071C09C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6778478" y="3955127"/>
            <a:ext cx="178254" cy="1782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053E3-764E-BBAD-3EC4-E0118AFEF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ED991FBC-C65E-6ED2-E581-E8C2C5533219}"/>
              </a:ext>
            </a:extLst>
          </p:cNvPr>
          <p:cNvGrpSpPr/>
          <p:nvPr/>
        </p:nvGrpSpPr>
        <p:grpSpPr>
          <a:xfrm>
            <a:off x="600456" y="3667075"/>
            <a:ext cx="10991088" cy="2527839"/>
            <a:chOff x="600456" y="3667075"/>
            <a:chExt cx="10991088" cy="2527839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D2F9FA6-9DEE-D176-83F1-C0A775255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456" y="3667075"/>
              <a:ext cx="10972800" cy="2527839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E2FB428-A767-75ED-8989-60D7F7C5D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6694"/>
            <a:stretch>
              <a:fillRect/>
            </a:stretch>
          </p:blipFill>
          <p:spPr>
            <a:xfrm>
              <a:off x="4268571" y="3667075"/>
              <a:ext cx="3654552" cy="2527839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EF866C3A-E6D1-E2B4-3356-B1DE1BF57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6653"/>
            <a:stretch>
              <a:fillRect/>
            </a:stretch>
          </p:blipFill>
          <p:spPr>
            <a:xfrm>
              <a:off x="7932420" y="3774070"/>
              <a:ext cx="3659124" cy="2368887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A52803B-ABE6-D0B3-6105-73CC10DF1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456" y="1295715"/>
            <a:ext cx="10972800" cy="237136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7BE024-B1D5-A0C6-634C-46BC12560AD6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D2FBF-4DDF-5C5C-2FBD-4619F6BA96E2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Conditioning: True spread shock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998D069-7017-4CBB-E24A-969625D290B9}"/>
              </a:ext>
            </a:extLst>
          </p:cNvPr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54350DF-2529-9393-D7D3-DA317AA8323A}"/>
              </a:ext>
            </a:extLst>
          </p:cNvPr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59195B-E6F5-4F3F-D0F3-98D3F398B1C6}"/>
              </a:ext>
            </a:extLst>
          </p:cNvPr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D1732F4-C6F7-0436-B6E3-1255239F71AF}"/>
              </a:ext>
            </a:extLst>
          </p:cNvPr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1B1CA0B-C1C0-4A5B-66F6-10B57C871ED6}"/>
              </a:ext>
            </a:extLst>
          </p:cNvPr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94F66A8-6319-1F06-DDBA-A3CC1D20AEF9}"/>
              </a:ext>
            </a:extLst>
          </p:cNvPr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9184EA3-6D5A-830E-4401-1A0592004D2F}"/>
              </a:ext>
            </a:extLst>
          </p:cNvPr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A0FD1A0E-E567-059A-B25E-EDDCF6294284}"/>
              </a:ext>
            </a:extLst>
          </p:cNvPr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6ADBB5E-C81F-F14A-9C21-0F8E3F8D29DC}"/>
              </a:ext>
            </a:extLst>
          </p:cNvPr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9673CF-8702-8FD4-BD9D-00ADA0859435}"/>
              </a:ext>
            </a:extLst>
          </p:cNvPr>
          <p:cNvSpPr/>
          <p:nvPr/>
        </p:nvSpPr>
        <p:spPr>
          <a:xfrm>
            <a:off x="4413783" y="1411472"/>
            <a:ext cx="2033601" cy="195134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5D86F8-827D-B7AB-EEFE-0DAA29000640}"/>
              </a:ext>
            </a:extLst>
          </p:cNvPr>
          <p:cNvSpPr/>
          <p:nvPr/>
        </p:nvSpPr>
        <p:spPr>
          <a:xfrm>
            <a:off x="735201" y="1426021"/>
            <a:ext cx="2033601" cy="195134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325118-E104-2E21-A3BB-99114429AEE4}"/>
              </a:ext>
            </a:extLst>
          </p:cNvPr>
          <p:cNvSpPr/>
          <p:nvPr/>
        </p:nvSpPr>
        <p:spPr>
          <a:xfrm>
            <a:off x="8217966" y="1426020"/>
            <a:ext cx="2033601" cy="1951349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97B19F6-A7BC-E7A2-E802-193633718459}"/>
              </a:ext>
            </a:extLst>
          </p:cNvPr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sz="2200" b="1" dirty="0">
                <a:solidFill>
                  <a:srgbClr val="1C3663"/>
                </a:solidFill>
                <a:latin typeface="Calibri"/>
              </a:rPr>
              <a:t>Fit the pins to the story:  </a:t>
            </a:r>
            <a:r>
              <a:rPr sz="2200" dirty="0">
                <a:solidFill>
                  <a:srgbClr val="232323"/>
                </a:solidFill>
                <a:latin typeface="Calibri"/>
              </a:rPr>
              <a:t>Two pins for a 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true spread shock. </a:t>
            </a:r>
            <a:endParaRPr sz="2200" dirty="0">
              <a:solidFill>
                <a:srgbClr val="23232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5372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5AFF0-0946-2424-CAD1-8E7AAA29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477C-307A-8985-0FEE-8B005E862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23" y="2967606"/>
            <a:ext cx="11908465" cy="118398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Global Solve with the MFFM tool</a:t>
            </a:r>
          </a:p>
        </p:txBody>
      </p:sp>
    </p:spTree>
    <p:extLst>
      <p:ext uri="{BB962C8B-B14F-4D97-AF65-F5344CB8AC3E}">
        <p14:creationId xmlns:p14="http://schemas.microsoft.com/office/powerpoint/2010/main" val="196389340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5B21-ABB0-8D49-6C44-F235761D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8F83-A456-AD4E-6B3C-F144F278C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21" y="160021"/>
            <a:ext cx="10787449" cy="891540"/>
          </a:xfrm>
        </p:spPr>
        <p:txBody>
          <a:bodyPr>
            <a:normAutofit/>
          </a:bodyPr>
          <a:lstStyle/>
          <a:p>
            <a:r>
              <a:rPr lang="en-US" kern="0" dirty="0">
                <a:latin typeface="Arial Black" panose="020B0A04020102020204" pitchFamily="34" charset="0"/>
              </a:rPr>
              <a:t>The MFFM GBVAR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7566C07-7214-D4A1-2707-26F7BF80FF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9158" y="904775"/>
                <a:ext cx="11421374" cy="5582651"/>
              </a:xfrm>
              <a:prstGeom prst="rect">
                <a:avLst/>
              </a:prstGeom>
            </p:spPr>
            <p:txBody>
              <a:bodyPr/>
              <a:lstStyle>
                <a:lvl1pPr marL="298450" indent="-298450" algn="l" rtl="0" eaLnBrk="0" fontAlgn="base" hangingPunct="0"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596900" indent="-296863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har char="–"/>
                  <a:defRPr>
                    <a:solidFill>
                      <a:schemeClr val="tx2"/>
                    </a:solidFill>
                    <a:latin typeface="+mn-lt"/>
                    <a:cs typeface="+mn-cs"/>
                  </a:defRPr>
                </a:lvl2pPr>
                <a:lvl3pPr marL="914400" indent="-315913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2"/>
                    </a:solidFill>
                    <a:latin typeface="+mn-lt"/>
                    <a:cs typeface="+mn-cs"/>
                  </a:defRPr>
                </a:lvl3pPr>
                <a:lvl4pPr marL="1219200" indent="-303213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2"/>
                    </a:solidFill>
                    <a:latin typeface="+mn-lt"/>
                    <a:cs typeface="+mn-cs"/>
                  </a:defRPr>
                </a:lvl4pPr>
                <a:lvl5pPr marL="1524000" indent="-303213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2"/>
                    </a:solidFill>
                    <a:latin typeface="+mn-lt"/>
                    <a:cs typeface="+mn-cs"/>
                  </a:defRPr>
                </a:lvl5pPr>
                <a:lvl6pPr marL="1981200" indent="-303213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438400" indent="-303213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895600" indent="-303213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352800" indent="-303213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Char char="§"/>
                  <a:defRPr/>
                </a:pP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The underlying model is a </a:t>
                </a:r>
                <a:r>
                  <a:rPr lang="en-US" sz="2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Bayesian VAR</a:t>
                </a:r>
              </a:p>
              <a:p>
                <a:pPr eaLnBrk="1" hangingPunct="1">
                  <a:buFont typeface="Wingdings" panose="05000000000000000000" pitchFamily="2" charset="2"/>
                  <a:buChar char="§"/>
                  <a:defRPr/>
                </a:pPr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§"/>
                  <a:defRPr/>
                </a:pPr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§"/>
                  <a:defRPr/>
                </a:pPr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marL="0" indent="0" eaLnBrk="1" hangingPunct="1">
                  <a:buNone/>
                  <a:defRPr/>
                </a:pPr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foreign variables, defined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1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GB" sz="2000" b="1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1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solidFill>
                                      <a:schemeClr val="tx2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  <m:r>
                              <a:rPr lang="en-US" sz="2000" b="1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sz="2000" b="1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solidFill>
                                  <a:schemeClr val="tx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trade share of country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pPr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Only a subset of variables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included as foreign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lvl="1"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en-GB" sz="16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GDP (trade weighted average)</a:t>
                </a:r>
              </a:p>
              <a:p>
                <a:pPr lvl="1"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en-GB" sz="16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Inflation (GDP deflator, trade weighted average)</a:t>
                </a:r>
              </a:p>
              <a:p>
                <a:pPr lvl="1"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en-GB" sz="16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Short-term policy rate (trade weighted average; first principal component of yield curve factor model)</a:t>
                </a:r>
              </a:p>
              <a:p>
                <a:pPr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global variables (e.g. oil prices, 5 in total), endogenous in the US, but exogenous in other countries.</a:t>
                </a:r>
              </a:p>
              <a:p>
                <a:pPr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 now, include 33 economic-blocks (50 countries, Euro area is one block)</a:t>
                </a:r>
              </a:p>
              <a:p>
                <a:pPr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endParaRPr lang="en-GB" sz="2000" kern="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77566C07-7214-D4A1-2707-26F7BF80F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58" y="904775"/>
                <a:ext cx="11421374" cy="5582651"/>
              </a:xfrm>
              <a:prstGeom prst="rect">
                <a:avLst/>
              </a:prstGeom>
              <a:blipFill>
                <a:blip r:embed="rId3"/>
                <a:stretch>
                  <a:fillRect l="-481" t="-437" b="-4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D5341E-15EF-DC12-3135-44238023D769}"/>
                  </a:ext>
                </a:extLst>
              </p:cNvPr>
              <p:cNvSpPr txBox="1"/>
              <p:nvPr/>
            </p:nvSpPr>
            <p:spPr>
              <a:xfrm>
                <a:off x="2488184" y="1451025"/>
                <a:ext cx="5585952" cy="1310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𝒑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US" sz="24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𝚲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GB" sz="2400" b="1" i="1" smtClean="0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2400" b="1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2400" b="1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r>
                                <a:rPr lang="en-US" sz="2400" b="1" i="1">
                                  <a:solidFill>
                                    <a:srgbClr val="4F81BD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𝚲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2400" b="1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𝚲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sSubSup>
                        <m:sSubSup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400" b="1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sz="2400" b="1" i="1">
                              <a:latin typeface="Cambria Math"/>
                              <a:ea typeface="Cambria Math"/>
                            </a:rPr>
                            <m:t>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  <a:ea typeface="Cambria Math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D5341E-15EF-DC12-3135-44238023D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184" y="1451025"/>
                <a:ext cx="5585952" cy="1310680"/>
              </a:xfrm>
              <a:prstGeom prst="rect">
                <a:avLst/>
              </a:prstGeom>
              <a:blipFill>
                <a:blip r:embed="rId4"/>
                <a:stretch>
                  <a:fillRect b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96F796-BDF9-9AC0-ABA3-731DA4E54B84}"/>
                  </a:ext>
                </a:extLst>
              </p:cNvPr>
              <p:cNvSpPr txBox="1"/>
              <p:nvPr/>
            </p:nvSpPr>
            <p:spPr>
              <a:xfrm>
                <a:off x="8200197" y="1450348"/>
                <a:ext cx="17224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𝜺</m:t>
                        </m:r>
                      </m:e>
                      <m:sub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𝒕</m:t>
                        </m:r>
                      </m:sub>
                    </m:sSub>
                    <m:r>
                      <a:rPr lang="en-GB" sz="2400" b="1" i="1" smtClean="0">
                        <a:latin typeface="Cambria Math"/>
                        <a:ea typeface="Cambria Math"/>
                      </a:rPr>
                      <m:t>~</m:t>
                    </m:r>
                    <m:r>
                      <a:rPr lang="en-GB" sz="2400" b="1" i="1" smtClean="0">
                        <a:latin typeface="Cambria Math"/>
                        <a:ea typeface="Cambria Math"/>
                      </a:rPr>
                      <m:t>𝑵</m:t>
                    </m:r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l-GR" sz="2400" b="1" i="1" smtClean="0">
                            <a:latin typeface="Cambria Math"/>
                            <a:ea typeface="Cambria Math"/>
                          </a:rPr>
                          <m:t>𝜮</m:t>
                        </m:r>
                      </m:e>
                    </m:d>
                  </m:oMath>
                </a14:m>
                <a:r>
                  <a:rPr lang="en-GB" sz="2400" b="1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96F796-BDF9-9AC0-ABA3-731DA4E54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197" y="1450348"/>
                <a:ext cx="1722459" cy="461665"/>
              </a:xfrm>
              <a:prstGeom prst="rect">
                <a:avLst/>
              </a:prstGeom>
              <a:blipFill>
                <a:blip r:embed="rId5"/>
                <a:stretch>
                  <a:fillRect t="-10526" r="-530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34391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166E5-61FD-9F74-79EE-E01894B6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94AB5105-C354-77E2-B012-6A0E6CC68CCD}"/>
              </a:ext>
            </a:extLst>
          </p:cNvPr>
          <p:cNvSpPr/>
          <p:nvPr/>
        </p:nvSpPr>
        <p:spPr>
          <a:xfrm>
            <a:off x="8400741" y="2959550"/>
            <a:ext cx="4074741" cy="146304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8">
            <a:extLst>
              <a:ext uri="{FF2B5EF4-FFF2-40B4-BE49-F238E27FC236}">
                <a16:creationId xmlns:a16="http://schemas.microsoft.com/office/drawing/2014/main" id="{F33DCEB8-17E8-A262-2669-2B72C8F99089}"/>
              </a:ext>
            </a:extLst>
          </p:cNvPr>
          <p:cNvSpPr/>
          <p:nvPr/>
        </p:nvSpPr>
        <p:spPr>
          <a:xfrm>
            <a:off x="8335188" y="3005109"/>
            <a:ext cx="4074741" cy="146304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55C7F458-1DF9-D8F7-294B-FD13622F9E7F}"/>
              </a:ext>
            </a:extLst>
          </p:cNvPr>
          <p:cNvSpPr/>
          <p:nvPr/>
        </p:nvSpPr>
        <p:spPr>
          <a:xfrm>
            <a:off x="8259327" y="3049050"/>
            <a:ext cx="4074741" cy="146304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E9BD6896-2427-AF32-EF69-4901FF395DDA}"/>
              </a:ext>
            </a:extLst>
          </p:cNvPr>
          <p:cNvSpPr/>
          <p:nvPr/>
        </p:nvSpPr>
        <p:spPr>
          <a:xfrm>
            <a:off x="8191082" y="3094222"/>
            <a:ext cx="4074741" cy="146304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8">
            <a:extLst>
              <a:ext uri="{FF2B5EF4-FFF2-40B4-BE49-F238E27FC236}">
                <a16:creationId xmlns:a16="http://schemas.microsoft.com/office/drawing/2014/main" id="{A5547C9B-185B-7FE6-8DD4-C6BB0B375E43}"/>
              </a:ext>
            </a:extLst>
          </p:cNvPr>
          <p:cNvSpPr/>
          <p:nvPr/>
        </p:nvSpPr>
        <p:spPr>
          <a:xfrm>
            <a:off x="8118560" y="3151067"/>
            <a:ext cx="4074741" cy="146304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9BE415-0B6C-157E-3C87-122745521E98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CE30C4-5F9A-880F-9394-33F367C0CF49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Methodology: How the MFFM GBVAR is solved and estimated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6C4097-EFED-BECD-3EDD-7384C2AEBFFD}"/>
                  </a:ext>
                </a:extLst>
              </p:cNvPr>
              <p:cNvSpPr txBox="1"/>
              <p:nvPr/>
            </p:nvSpPr>
            <p:spPr>
              <a:xfrm>
                <a:off x="346266" y="1130633"/>
                <a:ext cx="3396193" cy="4573624"/>
              </a:xfrm>
              <a:prstGeom prst="rect">
                <a:avLst/>
              </a:prstGeom>
              <a:noFill/>
            </p:spPr>
            <p:txBody>
              <a:bodyPr wrap="square" lIns="54864" tIns="18288" rIns="54864" bIns="18288" anchor="t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sz="2000" b="1" i="0" dirty="0">
                    <a:solidFill>
                      <a:srgbClr val="1C3663"/>
                    </a:solidFill>
                    <a:latin typeface="Calibri"/>
                  </a:rPr>
                  <a:t>▸  </a:t>
                </a:r>
                <a:r>
                  <a:rPr lang="en-US" sz="2000" b="1" dirty="0">
                    <a:solidFill>
                      <a:srgbClr val="1C3663"/>
                    </a:solidFill>
                    <a:latin typeface="Calibri"/>
                  </a:rPr>
                  <a:t>Idea from GVAR literature: </a:t>
                </a:r>
                <a:r>
                  <a:rPr lang="en-US" sz="2000" b="0" i="0" dirty="0">
                    <a:solidFill>
                      <a:srgbClr val="232323"/>
                    </a:solidFill>
                    <a:latin typeface="Calibri"/>
                  </a:rPr>
                  <a:t>Instead of estimating a ~1180-variable VAR, estimate a panel of country VARs tied with foreign variables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000" b="0" i="0" dirty="0">
                    <a:solidFill>
                      <a:srgbClr val="232323"/>
                    </a:solidFill>
                    <a:latin typeface="Calibri"/>
                  </a:rPr>
                  <a:t>). 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2000" b="1" dirty="0">
                    <a:solidFill>
                      <a:srgbClr val="1C3663"/>
                    </a:solidFill>
                  </a:rPr>
                  <a:t>▸  Challenge: </a:t>
                </a:r>
                <a:r>
                  <a:rPr lang="en-US" sz="2000" dirty="0">
                    <a:solidFill>
                      <a:srgbClr val="232323"/>
                    </a:solidFill>
                    <a:latin typeface="Calibri"/>
                  </a:rPr>
                  <a:t>Large unbalanced panel and missing data. </a:t>
                </a:r>
              </a:p>
              <a:p>
                <a:pPr>
                  <a:spcAft>
                    <a:spcPts val="800"/>
                  </a:spcAft>
                </a:pPr>
                <a:r>
                  <a:rPr sz="2000" b="1" i="0" dirty="0">
                    <a:solidFill>
                      <a:srgbClr val="1C3663"/>
                    </a:solidFill>
                    <a:latin typeface="Calibri"/>
                  </a:rPr>
                  <a:t>▸ </a:t>
                </a:r>
                <a:r>
                  <a:rPr lang="en-US" sz="2000" b="1" i="0" dirty="0">
                    <a:solidFill>
                      <a:srgbClr val="1C3663"/>
                    </a:solidFill>
                    <a:latin typeface="Calibri"/>
                  </a:rPr>
                  <a:t> Solution: </a:t>
                </a:r>
                <a:r>
                  <a:rPr sz="2000" b="1" i="0" dirty="0">
                    <a:solidFill>
                      <a:srgbClr val="1C3663"/>
                    </a:solidFill>
                    <a:latin typeface="Calibri"/>
                  </a:rPr>
                  <a:t> </a:t>
                </a:r>
                <a:r>
                  <a:rPr lang="en-US" sz="2000" b="1" dirty="0">
                    <a:solidFill>
                      <a:srgbClr val="232323"/>
                    </a:solidFill>
                    <a:latin typeface="Calibri"/>
                  </a:rPr>
                  <a:t>EM algorithm:  </a:t>
                </a:r>
                <a:r>
                  <a:rPr lang="en-US" sz="2000" dirty="0">
                    <a:solidFill>
                      <a:srgbClr val="232323"/>
                    </a:solidFill>
                    <a:latin typeface="Calibri"/>
                  </a:rPr>
                  <a:t>Use</a:t>
                </a:r>
                <a:r>
                  <a:rPr lang="en-US" sz="2000" b="0" i="0" dirty="0">
                    <a:solidFill>
                      <a:srgbClr val="232323"/>
                    </a:solidFill>
                    <a:latin typeface="Calibri"/>
                  </a:rPr>
                  <a:t> the country BVAR to predict missing values, re- estimate, and repeat until convergence =&gt; E</a:t>
                </a:r>
                <a:r>
                  <a:rPr sz="2000" b="0" i="0" dirty="0">
                    <a:solidFill>
                      <a:srgbClr val="232323"/>
                    </a:solidFill>
                    <a:latin typeface="Calibri"/>
                  </a:rPr>
                  <a:t>very economy</a:t>
                </a:r>
                <a:r>
                  <a:rPr lang="en-US" sz="2000" b="0" i="0" dirty="0">
                    <a:solidFill>
                      <a:srgbClr val="232323"/>
                    </a:solidFill>
                    <a:latin typeface="Calibri"/>
                  </a:rPr>
                  <a:t> is</a:t>
                </a:r>
                <a:r>
                  <a:rPr sz="2000" b="0" i="0" dirty="0">
                    <a:solidFill>
                      <a:srgbClr val="232323"/>
                    </a:solidFill>
                    <a:latin typeface="Calibri"/>
                  </a:rPr>
                  <a:t> </a:t>
                </a:r>
                <a:r>
                  <a:rPr sz="2000" b="1" i="0" dirty="0">
                    <a:solidFill>
                      <a:srgbClr val="232323"/>
                    </a:solidFill>
                    <a:latin typeface="Calibri"/>
                  </a:rPr>
                  <a:t>mutually consistent</a:t>
                </a:r>
                <a:r>
                  <a:rPr lang="en-US" sz="2000" b="1" i="0" dirty="0">
                    <a:solidFill>
                      <a:srgbClr val="232323"/>
                    </a:solidFill>
                    <a:latin typeface="Calibri"/>
                  </a:rPr>
                  <a:t>.</a:t>
                </a:r>
                <a:endParaRPr sz="2000" b="0" i="0" dirty="0">
                  <a:solidFill>
                    <a:srgbClr val="696969"/>
                  </a:solidFill>
                  <a:latin typeface="Calibri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6C4097-EFED-BECD-3EDD-7384C2AEB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66" y="1130633"/>
                <a:ext cx="3396193" cy="4573624"/>
              </a:xfrm>
              <a:prstGeom prst="rect">
                <a:avLst/>
              </a:prstGeom>
              <a:blipFill>
                <a:blip r:embed="rId2"/>
                <a:stretch>
                  <a:fillRect l="-3052" t="-1598" r="-1795" b="-1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E02ED267-602F-254C-651A-DAA8D9E8DAF4}"/>
              </a:ext>
            </a:extLst>
          </p:cNvPr>
          <p:cNvGrpSpPr/>
          <p:nvPr/>
        </p:nvGrpSpPr>
        <p:grpSpPr>
          <a:xfrm>
            <a:off x="4905536" y="802081"/>
            <a:ext cx="5669280" cy="1463040"/>
            <a:chOff x="6858000" y="1234440"/>
            <a:chExt cx="4846320" cy="914400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87BEBE2-B268-1DE7-0FC1-1ADF73AF7C4E}"/>
                </a:ext>
              </a:extLst>
            </p:cNvPr>
            <p:cNvSpPr/>
            <p:nvPr/>
          </p:nvSpPr>
          <p:spPr>
            <a:xfrm>
              <a:off x="7883872" y="1234440"/>
              <a:ext cx="2762357" cy="914400"/>
            </a:xfrm>
            <a:prstGeom prst="roundRect">
              <a:avLst/>
            </a:prstGeom>
            <a:solidFill>
              <a:srgbClr val="F4F5F7"/>
            </a:solidFill>
            <a:ln w="9525">
              <a:solidFill>
                <a:srgbClr val="D2D6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8CCABB-B29D-0277-3CC1-B5A2C9E1A19A}"/>
                </a:ext>
              </a:extLst>
            </p:cNvPr>
            <p:cNvSpPr txBox="1"/>
            <p:nvPr/>
          </p:nvSpPr>
          <p:spPr>
            <a:xfrm>
              <a:off x="7022592" y="1298448"/>
              <a:ext cx="4517136" cy="344710"/>
            </a:xfrm>
            <a:prstGeom prst="rect">
              <a:avLst/>
            </a:prstGeom>
            <a:noFill/>
          </p:spPr>
          <p:txBody>
            <a:bodyPr wrap="square" lIns="54864" tIns="18288" rIns="54864" bIns="18288" anchor="t">
              <a:spAutoFit/>
            </a:bodyPr>
            <a:lstStyle/>
            <a:p>
              <a:pPr algn="ctr"/>
              <a:r>
                <a:rPr lang="en-US" sz="2000" b="1" i="0" dirty="0">
                  <a:solidFill>
                    <a:srgbClr val="1C3663"/>
                  </a:solidFill>
                  <a:latin typeface="Calibri"/>
                </a:rPr>
                <a:t>(Re)</a:t>
              </a:r>
              <a:r>
                <a:rPr lang="en-US" sz="2000" b="1" dirty="0">
                  <a:solidFill>
                    <a:srgbClr val="1C3663"/>
                  </a:solidFill>
                  <a:latin typeface="Calibri"/>
                </a:rPr>
                <a:t>B</a:t>
              </a:r>
              <a:r>
                <a:rPr lang="en-US" sz="2000" b="1" i="0" dirty="0">
                  <a:solidFill>
                    <a:srgbClr val="1C3663"/>
                  </a:solidFill>
                  <a:latin typeface="Calibri"/>
                </a:rPr>
                <a:t>uild foreign variables</a:t>
              </a:r>
              <a:endParaRPr sz="2000" b="1" i="0" dirty="0">
                <a:solidFill>
                  <a:srgbClr val="1C3663"/>
                </a:solidFill>
                <a:latin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388A424-60B5-33D6-BD26-2EF533CBCD6A}"/>
                    </a:ext>
                  </a:extLst>
                </p:cNvPr>
                <p:cNvSpPr txBox="1"/>
                <p:nvPr/>
              </p:nvSpPr>
              <p:spPr>
                <a:xfrm>
                  <a:off x="6858000" y="1710953"/>
                  <a:ext cx="4846320" cy="327133"/>
                </a:xfrm>
                <a:prstGeom prst="rect">
                  <a:avLst/>
                </a:prstGeom>
                <a:noFill/>
              </p:spPr>
              <p:txBody>
                <a:bodyPr wrap="square" lIns="54864" tIns="18288" rIns="54864" bIns="18288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6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sz="1600" b="1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acc>
                          </m:e>
                          <m:sup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1600" b="1" i="1" smtClean="0">
                            <a:latin typeface="Cambria Math" panose="02040503050406030204" pitchFamily="18" charset="0"/>
                          </a:rPr>
                          <m:t>= </m:t>
                        </m:r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ar-AE" sz="16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1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  <m:sSup>
                          <m:sSupPr>
                            <m:ctrlPr>
                              <a:rPr lang="ar-AE" sz="1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ar-AE" sz="1600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1600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600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  <m:r>
                                      <a:rPr lang="en-US" sz="1600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a:rPr lang="en-US" sz="1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1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sz="1700" b="1" i="1" baseline="-25000" dirty="0">
                    <a:solidFill>
                      <a:srgbClr val="232323"/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C388A424-60B5-33D6-BD26-2EF533CBCD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0" y="1710953"/>
                  <a:ext cx="4846320" cy="327133"/>
                </a:xfrm>
                <a:prstGeom prst="rect">
                  <a:avLst/>
                </a:prstGeom>
                <a:blipFill>
                  <a:blip r:embed="rId3"/>
                  <a:stretch>
                    <a:fillRect t="-172093" b="-2418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3D5415-5520-59C9-585E-ADC52087C8CA}"/>
              </a:ext>
            </a:extLst>
          </p:cNvPr>
          <p:cNvSpPr/>
          <p:nvPr/>
        </p:nvSpPr>
        <p:spPr>
          <a:xfrm>
            <a:off x="8066312" y="3190730"/>
            <a:ext cx="4074741" cy="146304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B25310-71F9-1B19-06C8-399C9107A2D0}"/>
              </a:ext>
            </a:extLst>
          </p:cNvPr>
          <p:cNvSpPr txBox="1"/>
          <p:nvPr/>
        </p:nvSpPr>
        <p:spPr>
          <a:xfrm>
            <a:off x="8314944" y="3284115"/>
            <a:ext cx="4517136" cy="34471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r>
              <a:rPr lang="en-US" sz="2000" b="1" dirty="0">
                <a:solidFill>
                  <a:srgbClr val="1C3663"/>
                </a:solidFill>
                <a:latin typeface="Calibri"/>
              </a:rPr>
              <a:t>Estimate country BVAR with GLP</a:t>
            </a:r>
            <a:endParaRPr sz="2000" b="1" i="0" dirty="0">
              <a:solidFill>
                <a:srgbClr val="1C3663"/>
              </a:solidFill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9D7CCA-4347-6543-D0E6-A4EC9D127604}"/>
                  </a:ext>
                </a:extLst>
              </p:cNvPr>
              <p:cNvSpPr txBox="1"/>
              <p:nvPr/>
            </p:nvSpPr>
            <p:spPr>
              <a:xfrm>
                <a:off x="8170816" y="3743875"/>
                <a:ext cx="3865735" cy="810415"/>
              </a:xfrm>
              <a:prstGeom prst="rect">
                <a:avLst/>
              </a:prstGeom>
              <a:noFill/>
            </p:spPr>
            <p:txBody>
              <a:bodyPr wrap="square" lIns="54864" tIns="18288" rIns="54864" bIns="18288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1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600" b="1" i="1"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sub>
                                    <m:sup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acc>
                            </m:e>
                            <m:sup>
                              <m:r>
                                <a:rPr lang="en-US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r>
                        <a:rPr lang="en-GB" sz="1600" b="1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GB" sz="1600" b="1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1" i="1">
                                  <a:latin typeface="Cambria Math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sz="16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600" b="1" i="1">
                                  <a:latin typeface="Cambria Math"/>
                                </a:rPr>
                                <m:t>𝒕</m:t>
                              </m:r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1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Sup>
                                    <m:sSubSupPr>
                                      <m:ctrlP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  <m:r>
                                        <a:rPr lang="en-US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b="1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  <m:sup>
                                      <m:r>
                                        <a:rPr lang="en-US" sz="1600" b="1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acc>
                            </m:e>
                            <m:sup>
                              <m:r>
                                <a:rPr lang="en-US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1600" b="1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d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GB" sz="1600" b="1" i="1" smtClean="0">
                          <a:latin typeface="Cambria Math"/>
                        </a:rPr>
                        <m:t> </m:t>
                      </m:r>
                      <m:r>
                        <a:rPr lang="en-GB" sz="16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sz="16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sz="1600" b="1" i="1">
                              <a:latin typeface="Cambria Math"/>
                              <a:ea typeface="Cambria Math"/>
                            </a:rPr>
                            <m:t>𝜺</m:t>
                          </m:r>
                        </m:e>
                        <m:sub>
                          <m:r>
                            <a:rPr lang="en-GB" sz="1600" b="1" i="1">
                              <a:latin typeface="Cambria Math"/>
                              <a:ea typeface="Cambria Math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9D7CCA-4347-6543-D0E6-A4EC9D127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0816" y="3743875"/>
                <a:ext cx="3865735" cy="8104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9572F219-002B-DB35-2FDA-BE9AC6841156}"/>
              </a:ext>
            </a:extLst>
          </p:cNvPr>
          <p:cNvGrpSpPr/>
          <p:nvPr/>
        </p:nvGrpSpPr>
        <p:grpSpPr>
          <a:xfrm>
            <a:off x="3913898" y="3190730"/>
            <a:ext cx="3201271" cy="1463040"/>
            <a:chOff x="4077134" y="4452027"/>
            <a:chExt cx="5336844" cy="1232946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121D6AB1-83C0-3592-D136-4670B82CFE7B}"/>
                </a:ext>
              </a:extLst>
            </p:cNvPr>
            <p:cNvSpPr/>
            <p:nvPr/>
          </p:nvSpPr>
          <p:spPr>
            <a:xfrm>
              <a:off x="4077134" y="4452027"/>
              <a:ext cx="5130875" cy="1232946"/>
            </a:xfrm>
            <a:prstGeom prst="roundRect">
              <a:avLst/>
            </a:prstGeom>
            <a:solidFill>
              <a:srgbClr val="F4F5F7"/>
            </a:solidFill>
            <a:ln w="9525">
              <a:solidFill>
                <a:srgbClr val="D2D6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9A80071-D970-E210-2DAD-CC899463D785}"/>
                </a:ext>
              </a:extLst>
            </p:cNvPr>
            <p:cNvSpPr txBox="1"/>
            <p:nvPr/>
          </p:nvSpPr>
          <p:spPr>
            <a:xfrm>
              <a:off x="4077134" y="4545045"/>
              <a:ext cx="5130875" cy="290497"/>
            </a:xfrm>
            <a:prstGeom prst="rect">
              <a:avLst/>
            </a:prstGeom>
            <a:noFill/>
          </p:spPr>
          <p:txBody>
            <a:bodyPr wrap="square" lIns="54864" tIns="18288" rIns="54864" bIns="18288" anchor="t">
              <a:spAutoFit/>
            </a:bodyPr>
            <a:lstStyle/>
            <a:p>
              <a:r>
                <a:rPr lang="en-US" sz="2000" b="1" dirty="0">
                  <a:solidFill>
                    <a:srgbClr val="1C3663"/>
                  </a:solidFill>
                  <a:latin typeface="Calibri"/>
                </a:rPr>
                <a:t> Predict missing values</a:t>
              </a:r>
              <a:endParaRPr sz="2000" b="1" i="0" dirty="0">
                <a:solidFill>
                  <a:srgbClr val="1C3663"/>
                </a:solidFill>
                <a:latin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12438CD-6C89-D25F-6649-F60BF444534E}"/>
                    </a:ext>
                  </a:extLst>
                </p:cNvPr>
                <p:cNvSpPr txBox="1"/>
                <p:nvPr/>
              </p:nvSpPr>
              <p:spPr>
                <a:xfrm>
                  <a:off x="4077136" y="5156864"/>
                  <a:ext cx="5336842" cy="404567"/>
                </a:xfrm>
                <a:prstGeom prst="rect">
                  <a:avLst/>
                </a:prstGeom>
                <a:noFill/>
              </p:spPr>
              <p:txBody>
                <a:bodyPr wrap="square" lIns="54864" tIns="18288" rIns="54864" bIns="18288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b="1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en-US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  <m:sup>
                                    <m:r>
                                      <a:rPr lang="en-US" b="1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p>
                                </m:sSubSup>
                              </m:e>
                            </m:acc>
                          </m:e>
                          <m:sup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𝑩𝑽𝑨𝑹</m:t>
                        </m:r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>
                                    <a:latin typeface="Cambria Math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b="1" i="1">
                                    <a:latin typeface="Cambria Math"/>
                                  </a:rPr>
                                  <m:t>𝒕</m:t>
                                </m:r>
                              </m:sub>
                            </m:s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1" i="1">
                                    <a:solidFill>
                                      <a:srgbClr val="00206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Sup>
                                      <m:sSubSupPr>
                                        <m:ctrlPr>
                                          <a:rPr lang="en-US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  <m:sup>
                                        <m:r>
                                          <a:rPr lang="en-US" b="1" i="1">
                                            <a:solidFill>
                                              <a:srgbClr val="00206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acc>
                              </m:e>
                              <m:sup>
                                <m:d>
                                  <m:dPr>
                                    <m:ctrlPr>
                                      <a:rPr lang="en-US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  <a:endParaRPr sz="1700" i="1" dirty="0">
                    <a:solidFill>
                      <a:srgbClr val="232323"/>
                    </a:solidFill>
                    <a:latin typeface="Cambria Math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12438CD-6C89-D25F-6649-F60BF44453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7136" y="5156864"/>
                  <a:ext cx="5336842" cy="40456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1D0C9A8-B13B-EE07-B518-6A84A0C9FD54}"/>
              </a:ext>
            </a:extLst>
          </p:cNvPr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lang="en-US" sz="2200" b="1" dirty="0">
                <a:solidFill>
                  <a:srgbClr val="1C3663"/>
                </a:solidFill>
                <a:latin typeface="Calibri"/>
              </a:rPr>
              <a:t>Global solve ensures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 that </a:t>
            </a:r>
            <a:r>
              <a:rPr lang="en-US" sz="2200" b="0" i="0" dirty="0">
                <a:solidFill>
                  <a:srgbClr val="232323"/>
                </a:solidFill>
                <a:latin typeface="Calibri"/>
              </a:rPr>
              <a:t>every country's forecast is internally and externally consistent.</a:t>
            </a:r>
            <a:endParaRPr sz="2200" b="0" i="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26" name="Arrow: Bent 25">
            <a:extLst>
              <a:ext uri="{FF2B5EF4-FFF2-40B4-BE49-F238E27FC236}">
                <a16:creationId xmlns:a16="http://schemas.microsoft.com/office/drawing/2014/main" id="{0BA92614-1B23-265E-AA80-5E41DA62255B}"/>
              </a:ext>
            </a:extLst>
          </p:cNvPr>
          <p:cNvSpPr/>
          <p:nvPr/>
        </p:nvSpPr>
        <p:spPr>
          <a:xfrm>
            <a:off x="4541472" y="1445190"/>
            <a:ext cx="1371600" cy="1371600"/>
          </a:xfrm>
          <a:prstGeom prst="bentArrow">
            <a:avLst>
              <a:gd name="adj1" fmla="val 25000"/>
              <a:gd name="adj2" fmla="val 7857"/>
              <a:gd name="adj3" fmla="val 25000"/>
              <a:gd name="adj4" fmla="val 745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Curved Left 27">
            <a:extLst>
              <a:ext uri="{FF2B5EF4-FFF2-40B4-BE49-F238E27FC236}">
                <a16:creationId xmlns:a16="http://schemas.microsoft.com/office/drawing/2014/main" id="{E2379928-7AE9-846A-6EB6-5DDDABAE896C}"/>
              </a:ext>
            </a:extLst>
          </p:cNvPr>
          <p:cNvSpPr/>
          <p:nvPr/>
        </p:nvSpPr>
        <p:spPr>
          <a:xfrm rot="5400000">
            <a:off x="7110378" y="3738413"/>
            <a:ext cx="731520" cy="2921384"/>
          </a:xfrm>
          <a:prstGeom prst="curvedLeftArrow">
            <a:avLst>
              <a:gd name="adj1" fmla="val 49100"/>
              <a:gd name="adj2" fmla="val 491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Arrow: Bent 28">
            <a:extLst>
              <a:ext uri="{FF2B5EF4-FFF2-40B4-BE49-F238E27FC236}">
                <a16:creationId xmlns:a16="http://schemas.microsoft.com/office/drawing/2014/main" id="{A2F234BD-4AFD-15AB-FE73-B30D9091C259}"/>
              </a:ext>
            </a:extLst>
          </p:cNvPr>
          <p:cNvSpPr/>
          <p:nvPr/>
        </p:nvSpPr>
        <p:spPr>
          <a:xfrm rot="5400000">
            <a:off x="9529590" y="1522479"/>
            <a:ext cx="1371600" cy="1371600"/>
          </a:xfrm>
          <a:prstGeom prst="bentArrow">
            <a:avLst>
              <a:gd name="adj1" fmla="val 25000"/>
              <a:gd name="adj2" fmla="val 7857"/>
              <a:gd name="adj3" fmla="val 25000"/>
              <a:gd name="adj4" fmla="val 745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47812B3-DC94-493B-3D7B-F82AA6D0D42B}"/>
                  </a:ext>
                </a:extLst>
              </p:cNvPr>
              <p:cNvSpPr txBox="1"/>
              <p:nvPr/>
            </p:nvSpPr>
            <p:spPr>
              <a:xfrm>
                <a:off x="1155124" y="1337813"/>
                <a:ext cx="64171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47812B3-DC94-493B-3D7B-F82AA6D0D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124" y="1337813"/>
                <a:ext cx="641712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636670E-3AF6-B52B-928E-2EDC897CA181}"/>
                  </a:ext>
                </a:extLst>
              </p:cNvPr>
              <p:cNvSpPr txBox="1"/>
              <p:nvPr/>
            </p:nvSpPr>
            <p:spPr>
              <a:xfrm rot="19482611">
                <a:off x="5088693" y="2909812"/>
                <a:ext cx="6417128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𝑒𝑎𝑐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𝑐𝑜𝑢𝑛𝑡𝑟𝑦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636670E-3AF6-B52B-928E-2EDC897CA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82611">
                <a:off x="5088693" y="2909812"/>
                <a:ext cx="6417128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625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0D21-BE32-A7A0-AC9A-8F7398680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F79AF9A-4853-0E6F-018E-78F939545AF0}"/>
              </a:ext>
            </a:extLst>
          </p:cNvPr>
          <p:cNvSpPr/>
          <p:nvPr/>
        </p:nvSpPr>
        <p:spPr>
          <a:xfrm>
            <a:off x="176350" y="1219462"/>
            <a:ext cx="11959044" cy="5609058"/>
          </a:xfrm>
          <a:prstGeom prst="roundRect">
            <a:avLst>
              <a:gd name="adj" fmla="val 711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3833BF-3DA1-70C9-A153-66096C17D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44" b="2701"/>
          <a:stretch>
            <a:fillRect/>
          </a:stretch>
        </p:blipFill>
        <p:spPr>
          <a:xfrm>
            <a:off x="467717" y="1544074"/>
            <a:ext cx="3200400" cy="25435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0195F49-48D9-BB20-A2F8-59C74F39C8E2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6A5184-D77F-0195-E784-6D0A610D120E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Global solve: Assess impact on other economies of US conditioning…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BF305E-93BF-2D0B-EDD2-57CFE46192DE}"/>
              </a:ext>
            </a:extLst>
          </p:cNvPr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73E31D6-AED7-3D16-21B8-21D19FC972F9}"/>
              </a:ext>
            </a:extLst>
          </p:cNvPr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F9E5F3-684A-2554-D4CB-7344159C9E29}"/>
              </a:ext>
            </a:extLst>
          </p:cNvPr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444553C7-81DF-BC38-2054-28CC7F0B85E6}"/>
              </a:ext>
            </a:extLst>
          </p:cNvPr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6AF164-F465-C8CC-F2CB-AB6F0CABCF49}"/>
              </a:ext>
            </a:extLst>
          </p:cNvPr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9ECF61F-D83E-5C8F-6BC4-53B8BBCBF04F}"/>
              </a:ext>
            </a:extLst>
          </p:cNvPr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1CC79B-5E4C-BF97-067C-EC327031F6A4}"/>
              </a:ext>
            </a:extLst>
          </p:cNvPr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14531052-A45D-345E-554E-246A0B80B1CD}"/>
              </a:ext>
            </a:extLst>
          </p:cNvPr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FBA5B4F-B735-0264-4560-1F4A62AE7545}"/>
              </a:ext>
            </a:extLst>
          </p:cNvPr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D61803-51AF-87F6-0E0D-A788FAB9E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244"/>
          <a:stretch>
            <a:fillRect/>
          </a:stretch>
        </p:blipFill>
        <p:spPr>
          <a:xfrm>
            <a:off x="437451" y="4110785"/>
            <a:ext cx="3200400" cy="26141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1657D0-99A2-7BB8-C75E-D603492469F7}"/>
              </a:ext>
            </a:extLst>
          </p:cNvPr>
          <p:cNvSpPr txBox="1"/>
          <p:nvPr/>
        </p:nvSpPr>
        <p:spPr>
          <a:xfrm>
            <a:off x="1394524" y="1240399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US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5064922-ECB3-DABE-931B-F51A75C44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479" y="4190207"/>
            <a:ext cx="3373369" cy="25394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A41D2C3-28CE-567B-64C1-14A07DDAC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479" y="1637176"/>
            <a:ext cx="3373369" cy="25509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AC33028-5E34-36D1-8198-C9F983AEF2CD}"/>
              </a:ext>
            </a:extLst>
          </p:cNvPr>
          <p:cNvSpPr txBox="1"/>
          <p:nvPr/>
        </p:nvSpPr>
        <p:spPr>
          <a:xfrm>
            <a:off x="5254868" y="1240399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Euro Area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5198649-639C-9983-5666-3F4F4FB8E3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570"/>
          <a:stretch>
            <a:fillRect/>
          </a:stretch>
        </p:blipFill>
        <p:spPr>
          <a:xfrm>
            <a:off x="8206688" y="4054867"/>
            <a:ext cx="3258308" cy="26141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53C3EB-863F-BA0B-E45B-A6D4843B3B6D}"/>
              </a:ext>
            </a:extLst>
          </p:cNvPr>
          <p:cNvSpPr txBox="1"/>
          <p:nvPr/>
        </p:nvSpPr>
        <p:spPr>
          <a:xfrm>
            <a:off x="9153308" y="1240399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Japan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832140-C765-5091-AC10-5776C83CC0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714"/>
          <a:stretch>
            <a:fillRect/>
          </a:stretch>
        </p:blipFill>
        <p:spPr>
          <a:xfrm>
            <a:off x="8206688" y="1600503"/>
            <a:ext cx="3258308" cy="245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16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8B82C-0200-E361-9611-591100BD1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5B3E3F26-3B1E-3A6F-8131-51A6588EF732}"/>
              </a:ext>
            </a:extLst>
          </p:cNvPr>
          <p:cNvSpPr txBox="1"/>
          <p:nvPr/>
        </p:nvSpPr>
        <p:spPr>
          <a:xfrm>
            <a:off x="8950081" y="1399501"/>
            <a:ext cx="2475411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World GDP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A51C43-835A-DF66-1116-28A880A176FD}"/>
              </a:ext>
            </a:extLst>
          </p:cNvPr>
          <p:cNvSpPr/>
          <p:nvPr/>
        </p:nvSpPr>
        <p:spPr>
          <a:xfrm>
            <a:off x="176350" y="1219462"/>
            <a:ext cx="11959044" cy="5609058"/>
          </a:xfrm>
          <a:prstGeom prst="roundRect">
            <a:avLst>
              <a:gd name="adj" fmla="val 7118"/>
            </a:avLst>
          </a:prstGeom>
          <a:solidFill>
            <a:srgbClr val="F5F5F5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4BA755-D80F-E0C1-FC77-FB41C1E60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5" y="4445207"/>
            <a:ext cx="3108960" cy="2354025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DA1F116-25FE-7BCC-0EBE-34FD22706E75}"/>
              </a:ext>
            </a:extLst>
          </p:cNvPr>
          <p:cNvSpPr/>
          <p:nvPr/>
        </p:nvSpPr>
        <p:spPr>
          <a:xfrm>
            <a:off x="4093328" y="1219462"/>
            <a:ext cx="8042066" cy="5609058"/>
          </a:xfrm>
          <a:prstGeom prst="roundRect">
            <a:avLst>
              <a:gd name="adj" fmla="val 711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989C30E-2B09-9376-15D5-E860884BE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59" y="1760078"/>
            <a:ext cx="3108960" cy="237499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A8AD04-A6DF-0514-3CE3-70CDC00EF13D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28042-4DE1-2768-24A7-B62204499D6F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US only versus Global solve: US conditioning only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E10E11B-D729-781B-9715-871C4B3DC449}"/>
              </a:ext>
            </a:extLst>
          </p:cNvPr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0CB72183-65CA-9348-1A4D-31A54F6293A9}"/>
              </a:ext>
            </a:extLst>
          </p:cNvPr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30CBF6-11C8-BBF3-0BBD-233CA18112D2}"/>
              </a:ext>
            </a:extLst>
          </p:cNvPr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800365E-9C27-8D73-4881-94B33FEFEBBF}"/>
              </a:ext>
            </a:extLst>
          </p:cNvPr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305F90-D392-07DF-5605-C432938BA4E5}"/>
              </a:ext>
            </a:extLst>
          </p:cNvPr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8D6B939-CB4D-4309-C6F9-F2892C18583A}"/>
              </a:ext>
            </a:extLst>
          </p:cNvPr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A10013-D08B-AF7B-F8C4-DCF19E24895D}"/>
              </a:ext>
            </a:extLst>
          </p:cNvPr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E78A001-39E2-8A4D-16E6-74F343AB1E94}"/>
              </a:ext>
            </a:extLst>
          </p:cNvPr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D4009B1-B62C-D524-1E47-9804BAADF9F5}"/>
              </a:ext>
            </a:extLst>
          </p:cNvPr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3C4A8F-116D-8FC9-4A14-B7C0C2AFB008}"/>
              </a:ext>
            </a:extLst>
          </p:cNvPr>
          <p:cNvSpPr txBox="1"/>
          <p:nvPr/>
        </p:nvSpPr>
        <p:spPr>
          <a:xfrm>
            <a:off x="450672" y="4091691"/>
            <a:ext cx="349991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World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03C4AF-9E0F-127B-9F4E-41FC0C99CF0C}"/>
              </a:ext>
            </a:extLst>
          </p:cNvPr>
          <p:cNvSpPr txBox="1"/>
          <p:nvPr/>
        </p:nvSpPr>
        <p:spPr>
          <a:xfrm>
            <a:off x="235136" y="1401879"/>
            <a:ext cx="3715446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US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C9E85DB-AF3D-98E0-BBC9-A4C832B31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7291" y="1729576"/>
            <a:ext cx="3108960" cy="23387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2496AD0-6EBA-00BB-472B-9826536AD940}"/>
              </a:ext>
            </a:extLst>
          </p:cNvPr>
          <p:cNvSpPr txBox="1"/>
          <p:nvPr/>
        </p:nvSpPr>
        <p:spPr>
          <a:xfrm>
            <a:off x="9509237" y="1337439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Euro Area 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88B193-3165-16C7-AA7F-0730C7ACE31B}"/>
              </a:ext>
            </a:extLst>
          </p:cNvPr>
          <p:cNvSpPr txBox="1"/>
          <p:nvPr/>
        </p:nvSpPr>
        <p:spPr>
          <a:xfrm>
            <a:off x="9509237" y="4008440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Japan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0CC2A6B-CC0F-6600-D53A-6B13B2D46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291" y="4417260"/>
            <a:ext cx="3108960" cy="234208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730415B-441F-BDFC-4A75-4908A3BD0F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8527" y="4445207"/>
            <a:ext cx="3108960" cy="23594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B9B4FA-D666-558A-C8EA-4ACA04DA91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4424" y="1760078"/>
            <a:ext cx="3108960" cy="23351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224615-3ADF-AEA6-A83C-4B445946785F}"/>
              </a:ext>
            </a:extLst>
          </p:cNvPr>
          <p:cNvSpPr txBox="1"/>
          <p:nvPr/>
        </p:nvSpPr>
        <p:spPr>
          <a:xfrm>
            <a:off x="4507587" y="1399500"/>
            <a:ext cx="3715446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US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46F3C2-8F7A-6C43-DA73-92179F730A45}"/>
              </a:ext>
            </a:extLst>
          </p:cNvPr>
          <p:cNvSpPr txBox="1"/>
          <p:nvPr/>
        </p:nvSpPr>
        <p:spPr>
          <a:xfrm>
            <a:off x="4507587" y="4080023"/>
            <a:ext cx="349991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World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B3AE67-D6D1-07F9-009F-FD504C87C601}"/>
              </a:ext>
            </a:extLst>
          </p:cNvPr>
          <p:cNvSpPr txBox="1"/>
          <p:nvPr/>
        </p:nvSpPr>
        <p:spPr>
          <a:xfrm rot="16200000" flipH="1">
            <a:off x="2530868" y="3532187"/>
            <a:ext cx="349991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Global solve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A348E3-AC3B-066D-1C66-6668A561DC94}"/>
              </a:ext>
            </a:extLst>
          </p:cNvPr>
          <p:cNvSpPr txBox="1"/>
          <p:nvPr/>
        </p:nvSpPr>
        <p:spPr>
          <a:xfrm rot="16200000" flipH="1">
            <a:off x="1434330" y="3983231"/>
            <a:ext cx="4872636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Country block – No feedback</a:t>
            </a:r>
            <a:endParaRPr sz="2400" b="1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9124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574E-FD69-25AF-EAC6-8CA1DC6C7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348463D-20E9-190C-141D-9F40C5176705}"/>
              </a:ext>
            </a:extLst>
          </p:cNvPr>
          <p:cNvSpPr/>
          <p:nvPr/>
        </p:nvSpPr>
        <p:spPr>
          <a:xfrm>
            <a:off x="292608" y="1316736"/>
            <a:ext cx="11959044" cy="5609058"/>
          </a:xfrm>
          <a:prstGeom prst="roundRect">
            <a:avLst>
              <a:gd name="adj" fmla="val 711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DBB83F6-1F16-F252-E8A1-BF23D4BB3E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414"/>
          <a:stretch>
            <a:fillRect/>
          </a:stretch>
        </p:blipFill>
        <p:spPr>
          <a:xfrm>
            <a:off x="8179792" y="4243825"/>
            <a:ext cx="3210310" cy="25259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512E1CC-4FB9-0A20-60CB-11370D0C1C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44" b="2701"/>
          <a:stretch>
            <a:fillRect/>
          </a:stretch>
        </p:blipFill>
        <p:spPr>
          <a:xfrm>
            <a:off x="477010" y="1694048"/>
            <a:ext cx="3200400" cy="25435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4CE13F-E04B-097A-1409-AF595D98ECEA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CC4F49-27BE-A478-E901-974556CFF746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Global solve: Conditioning on Spreads in US, EA and Japan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F2CF2B-3F6D-24F2-1435-F912F7270231}"/>
              </a:ext>
            </a:extLst>
          </p:cNvPr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88333EEB-878C-8AFF-1855-A4CC91D5F920}"/>
              </a:ext>
            </a:extLst>
          </p:cNvPr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78A56A-5A6F-262C-16C0-FDDEAFEA1034}"/>
              </a:ext>
            </a:extLst>
          </p:cNvPr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F94AF54-8497-44C0-52E0-19247183E420}"/>
              </a:ext>
            </a:extLst>
          </p:cNvPr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2CF688-B9C9-6C03-4907-19C4068A8219}"/>
              </a:ext>
            </a:extLst>
          </p:cNvPr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CA7EB09-6595-FB87-2B7A-D4620239D9F3}"/>
              </a:ext>
            </a:extLst>
          </p:cNvPr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F2D740-4491-5EA5-493F-C1903F37772B}"/>
              </a:ext>
            </a:extLst>
          </p:cNvPr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8D998690-15AB-4839-88E0-8B78F5D7C258}"/>
              </a:ext>
            </a:extLst>
          </p:cNvPr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502E671-280F-700C-DF00-4A2ED0E9E490}"/>
              </a:ext>
            </a:extLst>
          </p:cNvPr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723091-CA4C-34DD-E5AA-A57E62FDE9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244"/>
          <a:stretch>
            <a:fillRect/>
          </a:stretch>
        </p:blipFill>
        <p:spPr>
          <a:xfrm>
            <a:off x="476781" y="4243825"/>
            <a:ext cx="3200400" cy="26141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903360-905E-E329-3443-137DD48A6F12}"/>
              </a:ext>
            </a:extLst>
          </p:cNvPr>
          <p:cNvSpPr txBox="1"/>
          <p:nvPr/>
        </p:nvSpPr>
        <p:spPr>
          <a:xfrm>
            <a:off x="1394524" y="1240399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US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8C9564-3045-2901-CE84-541A79570372}"/>
              </a:ext>
            </a:extLst>
          </p:cNvPr>
          <p:cNvSpPr txBox="1"/>
          <p:nvPr/>
        </p:nvSpPr>
        <p:spPr>
          <a:xfrm>
            <a:off x="5254868" y="1240399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Euro Area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22BA1D-22A7-6812-06B2-A95261678C39}"/>
              </a:ext>
            </a:extLst>
          </p:cNvPr>
          <p:cNvSpPr txBox="1"/>
          <p:nvPr/>
        </p:nvSpPr>
        <p:spPr>
          <a:xfrm>
            <a:off x="9153308" y="1240399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Japan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7148E5-A4BB-D01D-91E1-B4F50A6AF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952" y="4199686"/>
            <a:ext cx="3271400" cy="25411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E9A19D2-C109-00DC-5050-EAF382ADD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181" y="1657912"/>
            <a:ext cx="3271401" cy="26229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2C612F8-813D-BA74-2C91-879E28EB90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513"/>
          <a:stretch>
            <a:fillRect/>
          </a:stretch>
        </p:blipFill>
        <p:spPr>
          <a:xfrm>
            <a:off x="8179792" y="1679878"/>
            <a:ext cx="3210310" cy="2571882"/>
          </a:xfrm>
          <a:prstGeom prst="rect">
            <a:avLst/>
          </a:prstGeom>
        </p:spPr>
      </p:pic>
      <p:pic>
        <p:nvPicPr>
          <p:cNvPr id="28" name="Graphic 27" descr="Pin with solid fill">
            <a:extLst>
              <a:ext uri="{FF2B5EF4-FFF2-40B4-BE49-F238E27FC236}">
                <a16:creationId xmlns:a16="http://schemas.microsoft.com/office/drawing/2014/main" id="{E86143C4-941D-30F1-516C-84AFF59C5C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1321789" y="2500250"/>
            <a:ext cx="178254" cy="178254"/>
          </a:xfrm>
          <a:prstGeom prst="rect">
            <a:avLst/>
          </a:prstGeom>
        </p:spPr>
      </p:pic>
      <p:pic>
        <p:nvPicPr>
          <p:cNvPr id="29" name="Graphic 28" descr="Pin with solid fill">
            <a:extLst>
              <a:ext uri="{FF2B5EF4-FFF2-40B4-BE49-F238E27FC236}">
                <a16:creationId xmlns:a16="http://schemas.microsoft.com/office/drawing/2014/main" id="{6E69DE92-17D1-ACD1-E239-E4345373BA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1321788" y="5191840"/>
            <a:ext cx="178254" cy="178254"/>
          </a:xfrm>
          <a:prstGeom prst="rect">
            <a:avLst/>
          </a:prstGeom>
        </p:spPr>
      </p:pic>
      <p:pic>
        <p:nvPicPr>
          <p:cNvPr id="30" name="Graphic 29" descr="Pin with solid fill">
            <a:extLst>
              <a:ext uri="{FF2B5EF4-FFF2-40B4-BE49-F238E27FC236}">
                <a16:creationId xmlns:a16="http://schemas.microsoft.com/office/drawing/2014/main" id="{9D8EA750-5BE6-29C1-D53E-AF65CB663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5042028" y="2248161"/>
            <a:ext cx="178254" cy="178254"/>
          </a:xfrm>
          <a:prstGeom prst="rect">
            <a:avLst/>
          </a:prstGeom>
        </p:spPr>
      </p:pic>
      <p:pic>
        <p:nvPicPr>
          <p:cNvPr id="31" name="Graphic 30" descr="Pin with solid fill">
            <a:extLst>
              <a:ext uri="{FF2B5EF4-FFF2-40B4-BE49-F238E27FC236}">
                <a16:creationId xmlns:a16="http://schemas.microsoft.com/office/drawing/2014/main" id="{692021F2-2F0B-AC3F-401E-814A4DA192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5023739" y="4807823"/>
            <a:ext cx="178254" cy="178254"/>
          </a:xfrm>
          <a:prstGeom prst="rect">
            <a:avLst/>
          </a:prstGeom>
        </p:spPr>
      </p:pic>
      <p:pic>
        <p:nvPicPr>
          <p:cNvPr id="32" name="Graphic 31" descr="Pin with solid fill">
            <a:extLst>
              <a:ext uri="{FF2B5EF4-FFF2-40B4-BE49-F238E27FC236}">
                <a16:creationId xmlns:a16="http://schemas.microsoft.com/office/drawing/2014/main" id="{A5B50814-D56D-46D3-A7F6-2A7CC8EEDB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9054655" y="5255103"/>
            <a:ext cx="178254" cy="178254"/>
          </a:xfrm>
          <a:prstGeom prst="rect">
            <a:avLst/>
          </a:prstGeom>
        </p:spPr>
      </p:pic>
      <p:pic>
        <p:nvPicPr>
          <p:cNvPr id="33" name="Graphic 32" descr="Pin with solid fill">
            <a:extLst>
              <a:ext uri="{FF2B5EF4-FFF2-40B4-BE49-F238E27FC236}">
                <a16:creationId xmlns:a16="http://schemas.microsoft.com/office/drawing/2014/main" id="{F7835D34-FEE6-7377-E610-48DDBBC10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700000">
            <a:off x="9054655" y="2155618"/>
            <a:ext cx="178254" cy="17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36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0B0B1-3B02-82C8-2885-ADB99BF1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340650-AC83-9BC2-46B9-A870683AD711}"/>
              </a:ext>
            </a:extLst>
          </p:cNvPr>
          <p:cNvSpPr/>
          <p:nvPr/>
        </p:nvSpPr>
        <p:spPr>
          <a:xfrm>
            <a:off x="176350" y="1219462"/>
            <a:ext cx="11959044" cy="5609058"/>
          </a:xfrm>
          <a:prstGeom prst="roundRect">
            <a:avLst>
              <a:gd name="adj" fmla="val 7118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1896B4-C1D2-1FB0-A5D4-BC2389C35CA9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580190-C55C-B4AD-2033-82CCE6F57395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Country scenario vs Global scenario: US only versus Global conditioning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4185376-9D83-EB85-DD6C-66D138546E3C}"/>
              </a:ext>
            </a:extLst>
          </p:cNvPr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A027238E-8D4D-3BF7-F7C0-938BD7113D48}"/>
              </a:ext>
            </a:extLst>
          </p:cNvPr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F58536-A3F9-3F12-A80D-4D4334CE5780}"/>
              </a:ext>
            </a:extLst>
          </p:cNvPr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A3738845-18B3-5543-3E9C-86182FA05664}"/>
              </a:ext>
            </a:extLst>
          </p:cNvPr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2D8341-44DC-E72F-9EAA-2079FE59721B}"/>
              </a:ext>
            </a:extLst>
          </p:cNvPr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BAB12D68-B44E-A39B-0C66-A44CC42FF761}"/>
              </a:ext>
            </a:extLst>
          </p:cNvPr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FB4399-FB7D-2305-FCB1-3FF495AF70DF}"/>
              </a:ext>
            </a:extLst>
          </p:cNvPr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199236FF-6D8D-D45B-165D-5A01CABCC309}"/>
              </a:ext>
            </a:extLst>
          </p:cNvPr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EC200E2-1FC8-EE58-AD7E-CB38D06C0AFC}"/>
              </a:ext>
            </a:extLst>
          </p:cNvPr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278B1A-77B4-B1FB-F5C9-912D8EB868F1}"/>
              </a:ext>
            </a:extLst>
          </p:cNvPr>
          <p:cNvSpPr txBox="1"/>
          <p:nvPr/>
        </p:nvSpPr>
        <p:spPr>
          <a:xfrm>
            <a:off x="1412323" y="1573309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US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55FB1D-C581-4C8E-BD7D-B55E65AF9A64}"/>
              </a:ext>
            </a:extLst>
          </p:cNvPr>
          <p:cNvSpPr txBox="1"/>
          <p:nvPr/>
        </p:nvSpPr>
        <p:spPr>
          <a:xfrm>
            <a:off x="9608615" y="1574048"/>
            <a:ext cx="1511537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World GDP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80B7CAC-E9CB-8C13-789B-49C7AAC93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401" y="1994945"/>
            <a:ext cx="2743200" cy="206044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D633A76-BC69-9F2A-77F5-2D258328FB39}"/>
              </a:ext>
            </a:extLst>
          </p:cNvPr>
          <p:cNvSpPr txBox="1"/>
          <p:nvPr/>
        </p:nvSpPr>
        <p:spPr>
          <a:xfrm rot="16200000">
            <a:off x="-910107" y="2752327"/>
            <a:ext cx="2539418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US only spread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3FD4F7-2A12-FF9B-F90E-297CC56DD07F}"/>
              </a:ext>
            </a:extLst>
          </p:cNvPr>
          <p:cNvSpPr txBox="1"/>
          <p:nvPr/>
        </p:nvSpPr>
        <p:spPr>
          <a:xfrm rot="16200000">
            <a:off x="-888845" y="5224153"/>
            <a:ext cx="2404234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Global spreads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2028950-32D5-2DE3-528A-644727169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802" y="1994945"/>
            <a:ext cx="2743200" cy="206357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BDD0665-9B96-4171-8C20-1BC9F0AFB8D1}"/>
              </a:ext>
            </a:extLst>
          </p:cNvPr>
          <p:cNvSpPr txBox="1"/>
          <p:nvPr/>
        </p:nvSpPr>
        <p:spPr>
          <a:xfrm>
            <a:off x="3884958" y="1603118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Euro Area</a:t>
            </a:r>
            <a:endParaRPr sz="2400" b="1" dirty="0">
              <a:solidFill>
                <a:srgbClr val="1C3663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143C10-301A-D87E-9B78-9B70AD975543}"/>
              </a:ext>
            </a:extLst>
          </p:cNvPr>
          <p:cNvSpPr txBox="1"/>
          <p:nvPr/>
        </p:nvSpPr>
        <p:spPr>
          <a:xfrm>
            <a:off x="6784912" y="1591378"/>
            <a:ext cx="1365069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lang="en-US" sz="2400" b="1" dirty="0">
                <a:solidFill>
                  <a:srgbClr val="1C3663"/>
                </a:solidFill>
                <a:latin typeface="Calibri"/>
              </a:rPr>
              <a:t>Japan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39A2D09-29A8-9CFE-5F78-657E90339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2784" y="1994945"/>
            <a:ext cx="2743200" cy="20818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CD105DC-4BC6-6416-86E2-C7BA0FF350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47" y="1994945"/>
            <a:ext cx="2743200" cy="20665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5C9DB7A-E2FF-480D-F7A7-2EC3BDDF0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401" y="4403318"/>
            <a:ext cx="2743200" cy="207277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8D78994-6CDC-A67D-9DC5-AB8B81AFB7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800" y="4450350"/>
            <a:ext cx="2743200" cy="20251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519D578-5962-CF48-C6BE-1854464304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2001" y="4400242"/>
            <a:ext cx="2743200" cy="207892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09CE7C2-5671-898F-C23D-14982B0A7E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92783" y="4397359"/>
            <a:ext cx="2743200" cy="207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87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Monetary-Financial-Fiscal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Model: A global projection and scenario tool II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2476863"/>
            <a:ext cx="10972800" cy="310803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20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Re-estimated and current.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Bayesian VAR baselines re-estimated on the latest data, for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50 economies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000" dirty="0">
                <a:solidFill>
                  <a:srgbClr val="232323"/>
                </a:solidFill>
                <a:latin typeface="Calibri"/>
              </a:rPr>
              <a:t>-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one consistent methodology everywhere.</a:t>
            </a:r>
            <a:endParaRPr lang="en-US" sz="2000" dirty="0">
              <a:solidFill>
                <a:srgbClr val="232323"/>
              </a:solidFill>
              <a:latin typeface="Calibri"/>
            </a:endParaRP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lang="en-US" sz="2000" b="1" dirty="0">
                <a:solidFill>
                  <a:srgbClr val="27744B"/>
                </a:solidFill>
              </a:rPr>
              <a:t>+ </a:t>
            </a:r>
            <a:r>
              <a:rPr lang="en-US" sz="2000" b="1" dirty="0">
                <a:solidFill>
                  <a:srgbClr val="1C3663"/>
                </a:solidFill>
              </a:rPr>
              <a:t>Monetary, financial and fiscal in one model.</a:t>
            </a:r>
            <a:r>
              <a:rPr lang="en-US" sz="2000" dirty="0">
                <a:solidFill>
                  <a:srgbClr val="232323"/>
                </a:solidFill>
              </a:rPr>
              <a:t> Monetary, financial and fiscal variables all endogenous.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20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Interactive scenarios.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Build a “what-if” by hand, or from an outside forecast, in minutes </a:t>
            </a:r>
            <a:r>
              <a:rPr lang="en-US" sz="2000" dirty="0">
                <a:solidFill>
                  <a:srgbClr val="232323"/>
                </a:solidFill>
                <a:latin typeface="Calibri"/>
              </a:rPr>
              <a:t>-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the model keeps every variable mutually consistent.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20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Real cross-border amplification.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A coupled </a:t>
            </a:r>
            <a:r>
              <a:rPr sz="2000" i="1" dirty="0">
                <a:solidFill>
                  <a:srgbClr val="232323"/>
                </a:solidFill>
                <a:latin typeface="Calibri"/>
              </a:rPr>
              <a:t>global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solve </a:t>
            </a:r>
            <a:r>
              <a:rPr lang="en-US" sz="2000" dirty="0">
                <a:solidFill>
                  <a:srgbClr val="232323"/>
                </a:solidFill>
                <a:latin typeface="Calibri"/>
              </a:rPr>
              <a:t>-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a shock in one economy travels through trade and finance to the rest, not a sum of separate country runs.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20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Uses what we already produce.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WEO, consensus and desk forecasts</a:t>
            </a:r>
            <a:r>
              <a:rPr lang="en-US" sz="2000" dirty="0">
                <a:solidFill>
                  <a:srgbClr val="232323"/>
                </a:solidFill>
                <a:latin typeface="Calibri"/>
              </a:rPr>
              <a:t> can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enter as </a:t>
            </a:r>
            <a:r>
              <a:rPr sz="2000" i="1" dirty="0">
                <a:solidFill>
                  <a:srgbClr val="232323"/>
                </a:solidFill>
                <a:latin typeface="Calibri"/>
              </a:rPr>
              <a:t>ingredients</a:t>
            </a:r>
            <a:r>
              <a:rPr sz="2000" dirty="0">
                <a:solidFill>
                  <a:srgbClr val="232323"/>
                </a:solidFill>
                <a:latin typeface="Calibri"/>
              </a:rPr>
              <a:t>, at a trust level you choose.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lang="en-US" sz="2200" b="1" dirty="0">
                <a:solidFill>
                  <a:srgbClr val="1C3663"/>
                </a:solidFill>
                <a:latin typeface="Calibri"/>
              </a:rPr>
              <a:t>Global modelling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 </a:t>
            </a:r>
            <a:r>
              <a:rPr sz="2200" b="1" dirty="0">
                <a:solidFill>
                  <a:srgbClr val="1C3663"/>
                </a:solidFill>
                <a:latin typeface="Calibri"/>
              </a:rPr>
              <a:t>made</a:t>
            </a:r>
            <a:r>
              <a:rPr sz="22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200" b="1" dirty="0">
                <a:solidFill>
                  <a:srgbClr val="1C3663"/>
                </a:solidFill>
                <a:latin typeface="Calibri"/>
              </a:rPr>
              <a:t>easy</a:t>
            </a:r>
            <a:r>
              <a:rPr sz="2200" b="1" dirty="0">
                <a:solidFill>
                  <a:srgbClr val="1C3663"/>
                </a:solidFill>
                <a:latin typeface="Calibri"/>
              </a:rPr>
              <a:t>, interactive, and </a:t>
            </a:r>
            <a:r>
              <a:rPr lang="en-US" sz="2200" b="1" dirty="0">
                <a:solidFill>
                  <a:srgbClr val="1C3663"/>
                </a:solidFill>
                <a:latin typeface="Calibri"/>
              </a:rPr>
              <a:t>accessible</a:t>
            </a:r>
            <a:r>
              <a:rPr sz="22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BB545D26-8488-5486-8738-1722E02F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129"/>
          <a:stretch>
            <a:fillRect/>
          </a:stretch>
        </p:blipFill>
        <p:spPr>
          <a:xfrm>
            <a:off x="2660821" y="890803"/>
            <a:ext cx="7232822" cy="15064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How is this done in practice – and how can teams retrieve the results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55BF33-7C88-8117-2A91-E4D9ECCD7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1" y="1427656"/>
            <a:ext cx="11747019" cy="40026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58E585-7BD7-ABD1-8221-F82B75659142}"/>
              </a:ext>
            </a:extLst>
          </p:cNvPr>
          <p:cNvSpPr txBox="1"/>
          <p:nvPr/>
        </p:nvSpPr>
        <p:spPr>
          <a:xfrm>
            <a:off x="5218594" y="5235441"/>
            <a:ext cx="595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Results in figures exported to excel file – one file per country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0B120-49C8-2680-7EA9-67F2B908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9322-E334-20B7-7DA2-97A467165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23" y="2967606"/>
            <a:ext cx="11908465" cy="118398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(Future) Extensions</a:t>
            </a:r>
          </a:p>
        </p:txBody>
      </p:sp>
    </p:spTree>
    <p:extLst>
      <p:ext uri="{BB962C8B-B14F-4D97-AF65-F5344CB8AC3E}">
        <p14:creationId xmlns:p14="http://schemas.microsoft.com/office/powerpoint/2010/main" val="252589484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Extensions I: Long-run targets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73352"/>
            <a:ext cx="3146907" cy="26402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323"/>
                </a:solidFill>
                <a:latin typeface="Calibri"/>
              </a:rPr>
              <a:t>Know only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where things should end up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000" dirty="0">
                <a:solidFill>
                  <a:srgbClr val="232323"/>
                </a:solidFill>
                <a:latin typeface="Calibri"/>
              </a:rPr>
              <a:t>-</a:t>
            </a:r>
            <a:r>
              <a:rPr sz="2000" dirty="0">
                <a:solidFill>
                  <a:srgbClr val="232323"/>
                </a:solidFill>
                <a:latin typeface="Calibri"/>
              </a:rPr>
              <a:t> the inflation target, potential growth, the neutral rate?</a:t>
            </a: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232323"/>
                </a:solidFill>
                <a:latin typeface="Calibri"/>
              </a:rPr>
              <a:t>Set that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long-run anchor</a:t>
            </a:r>
            <a:r>
              <a:rPr sz="2000" dirty="0">
                <a:solidFill>
                  <a:srgbClr val="232323"/>
                </a:solidFill>
                <a:latin typeface="Calibri"/>
              </a:rPr>
              <a:t>; the model tilts the path toward it, gently, </a:t>
            </a:r>
            <a:r>
              <a:rPr sz="2000" b="1" dirty="0">
                <a:solidFill>
                  <a:srgbClr val="1C3663"/>
                </a:solidFill>
                <a:latin typeface="Calibri"/>
              </a:rPr>
              <a:t>without breaking the near term</a:t>
            </a:r>
            <a:r>
              <a:rPr sz="20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1023" y="1613261"/>
            <a:ext cx="4846320" cy="3435531"/>
          </a:xfrm>
          <a:prstGeom prst="roundRect">
            <a:avLst>
              <a:gd name="adj" fmla="val 12067"/>
            </a:avLst>
          </a:prstGeom>
          <a:solidFill>
            <a:srgbClr val="F5F5F5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94806" y="5107573"/>
            <a:ext cx="5739688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1050" dirty="0">
                <a:solidFill>
                  <a:srgbClr val="696969"/>
                </a:solidFill>
                <a:latin typeface="Calibri"/>
              </a:rPr>
              <a:t>US inflation: the tail lands on the anchor (dashed); near term untouched.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sz="2400" b="1" dirty="0">
                <a:solidFill>
                  <a:srgbClr val="1C3663"/>
                </a:solidFill>
                <a:latin typeface="Calibri"/>
              </a:rPr>
              <a:t>Long-run </a:t>
            </a:r>
            <a:r>
              <a:rPr lang="en-US" sz="2400" b="1" dirty="0">
                <a:solidFill>
                  <a:srgbClr val="1C3663"/>
                </a:solidFill>
                <a:latin typeface="Calibri"/>
              </a:rPr>
              <a:t>targets = time trend: 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forecasts </a:t>
            </a:r>
            <a:r>
              <a:rPr lang="en-US" sz="2400" b="1" dirty="0">
                <a:solidFill>
                  <a:srgbClr val="1C3663"/>
                </a:solidFill>
                <a:latin typeface="Calibri"/>
              </a:rPr>
              <a:t>settles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; all variable paths re-shaped to reach it.</a:t>
            </a:r>
            <a:endParaRPr sz="2400" dirty="0">
              <a:solidFill>
                <a:srgbClr val="232323"/>
              </a:solidFill>
              <a:latin typeface="Calibri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C0E3188-39C8-37EB-8EF2-50EF71C0D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177" y="1549259"/>
            <a:ext cx="2330492" cy="37208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F4F913-38C4-D071-1CC9-C90AB82AC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507" y="1714500"/>
            <a:ext cx="4305901" cy="32675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Extensions II: P</a:t>
            </a:r>
            <a:r>
              <a:rPr sz="2800" b="1" dirty="0">
                <a:solidFill>
                  <a:srgbClr val="FFFFFF"/>
                </a:solidFill>
                <a:latin typeface="Calibri"/>
              </a:rPr>
              <a:t>olicy counterfactual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s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4020366"/>
            <a:ext cx="11643055" cy="17360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C3663"/>
                </a:solidFill>
                <a:latin typeface="Calibri"/>
              </a:rPr>
              <a:t>Delta-method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 of the </a:t>
            </a:r>
            <a:r>
              <a:rPr lang="en-US" sz="2400" b="1" dirty="0">
                <a:solidFill>
                  <a:srgbClr val="1C3663"/>
                </a:solidFill>
                <a:latin typeface="Calibri"/>
              </a:rPr>
              <a:t>MMB</a:t>
            </a:r>
            <a:r>
              <a:rPr lang="en-US" sz="2400" b="1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on top of the scenario. </a:t>
            </a: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323"/>
                </a:solidFill>
                <a:latin typeface="Calibri"/>
              </a:rPr>
              <a:t>This tells you </a:t>
            </a:r>
            <a:r>
              <a:rPr sz="2400" b="1" dirty="0">
                <a:solidFill>
                  <a:srgbClr val="1C3663"/>
                </a:solidFill>
                <a:latin typeface="Calibri"/>
              </a:rPr>
              <a:t>what a policy choice does</a:t>
            </a:r>
            <a:r>
              <a:rPr sz="24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-</a:t>
            </a:r>
            <a:r>
              <a:rPr sz="2400" dirty="0">
                <a:solidFill>
                  <a:srgbClr val="232323"/>
                </a:solidFill>
                <a:latin typeface="Calibri"/>
              </a:rPr>
              <a:t> a </a:t>
            </a:r>
            <a:r>
              <a:rPr sz="2400" b="1" dirty="0">
                <a:solidFill>
                  <a:srgbClr val="1C3663"/>
                </a:solidFill>
                <a:latin typeface="Calibri"/>
              </a:rPr>
              <a:t>structural</a:t>
            </a:r>
            <a:r>
              <a:rPr sz="2400" dirty="0">
                <a:solidFill>
                  <a:srgbClr val="232323"/>
                </a:solidFill>
                <a:latin typeface="Calibri"/>
              </a:rPr>
              <a:t> answer from a fully specified DSGE model.</a:t>
            </a: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rgbClr val="232323"/>
                </a:solidFill>
                <a:latin typeface="Calibri"/>
              </a:rPr>
              <a:t>Layer a </a:t>
            </a:r>
            <a:r>
              <a:rPr sz="2400" b="1" dirty="0">
                <a:solidFill>
                  <a:srgbClr val="1C3663"/>
                </a:solidFill>
                <a:latin typeface="Calibri"/>
              </a:rPr>
              <a:t>policy shock</a:t>
            </a:r>
            <a:r>
              <a:rPr sz="2400" dirty="0">
                <a:solidFill>
                  <a:srgbClr val="232323"/>
                </a:solidFill>
                <a:latin typeface="Calibri"/>
              </a:rPr>
              <a:t> on any scenario; the model traces the </a:t>
            </a:r>
            <a:r>
              <a:rPr sz="2400" b="1" dirty="0">
                <a:solidFill>
                  <a:srgbClr val="1C3663"/>
                </a:solidFill>
                <a:latin typeface="Calibri"/>
              </a:rPr>
              <a:t>counterfactual path</a:t>
            </a:r>
            <a:r>
              <a:rPr sz="24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sz="2200" b="1" dirty="0">
                <a:solidFill>
                  <a:srgbClr val="1C3663"/>
                </a:solidFill>
                <a:latin typeface="Calibri"/>
              </a:rPr>
              <a:t>Policy counterfactuals:  </a:t>
            </a:r>
            <a:r>
              <a:rPr sz="2200" dirty="0">
                <a:solidFill>
                  <a:srgbClr val="232323"/>
                </a:solidFill>
                <a:latin typeface="Calibri"/>
              </a:rPr>
              <a:t>From “what will happen” to “</a:t>
            </a:r>
            <a:r>
              <a:rPr sz="2200" b="1" dirty="0">
                <a:solidFill>
                  <a:srgbClr val="1C3663"/>
                </a:solidFill>
                <a:latin typeface="Calibri"/>
              </a:rPr>
              <a:t>what should we do</a:t>
            </a:r>
            <a:r>
              <a:rPr sz="2200" dirty="0">
                <a:solidFill>
                  <a:srgbClr val="232323"/>
                </a:solidFill>
                <a:latin typeface="Calibri"/>
              </a:rPr>
              <a:t>” 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-</a:t>
            </a:r>
            <a:r>
              <a:rPr sz="2200" dirty="0">
                <a:solidFill>
                  <a:srgbClr val="232323"/>
                </a:solidFill>
                <a:latin typeface="Calibri"/>
              </a:rPr>
              <a:t> a structural (MMB/DSGE) policy experiment.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DAE51E-284A-65E5-BB69-2784BAC2A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67" y="1431036"/>
            <a:ext cx="9144000" cy="22826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6F02E88-910D-EE08-C4FB-60B6F65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47" y="1427659"/>
            <a:ext cx="144431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F4B1-E93A-FDA9-4E4F-0926DF020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5D789CF-2487-5BE6-F2A4-AFDDBF642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5" y="1266173"/>
            <a:ext cx="12192000" cy="294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F091B1-8F18-CCB1-5512-288EFB7C76B1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97CD5-6DFA-44B9-418A-6FAAD5D96341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</a:rPr>
              <a:t>Extensions III: External forecast conditioning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E3BB9D9-F726-F489-618C-17DCC5D720B4}"/>
              </a:ext>
            </a:extLst>
          </p:cNvPr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73A85174-DC39-6DB4-3C9F-0527DBE70488}"/>
              </a:ext>
            </a:extLst>
          </p:cNvPr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8B128F-2760-326F-C79E-4D31C50DD98F}"/>
              </a:ext>
            </a:extLst>
          </p:cNvPr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684E0BA-BE00-D0B4-7E66-07907FCBFC18}"/>
              </a:ext>
            </a:extLst>
          </p:cNvPr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AEFB9A-E31B-65CE-1D49-19A3EB37CE46}"/>
              </a:ext>
            </a:extLst>
          </p:cNvPr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ADFE77E-6A81-7FD5-489F-3F3DE1A07EDD}"/>
              </a:ext>
            </a:extLst>
          </p:cNvPr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F622F5-ED1D-6A39-BD25-64D1F6656A6C}"/>
              </a:ext>
            </a:extLst>
          </p:cNvPr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AE2AE94-014B-8FDA-FED8-62E5BD2DC562}"/>
              </a:ext>
            </a:extLst>
          </p:cNvPr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FAAC12-7E98-B2C6-AD0A-49CF664F310F}"/>
              </a:ext>
            </a:extLst>
          </p:cNvPr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7F79C-1B9F-B738-6C5A-EDCDD6101BC4}"/>
              </a:ext>
            </a:extLst>
          </p:cNvPr>
          <p:cNvSpPr txBox="1"/>
          <p:nvPr/>
        </p:nvSpPr>
        <p:spPr>
          <a:xfrm>
            <a:off x="262433" y="4020366"/>
            <a:ext cx="11643055" cy="231794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32323"/>
              </a:solidFill>
              <a:latin typeface="Calibri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2323"/>
                </a:solidFill>
                <a:latin typeface="Calibri"/>
              </a:rPr>
              <a:t>Soft-conditioning on </a:t>
            </a:r>
            <a:r>
              <a:rPr lang="en-US" sz="2400" b="1" dirty="0">
                <a:solidFill>
                  <a:srgbClr val="1C3663"/>
                </a:solidFill>
                <a:latin typeface="Calibri"/>
              </a:rPr>
              <a:t>external forecasts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.</a:t>
            </a:r>
            <a:endParaRPr sz="2400" dirty="0">
              <a:solidFill>
                <a:srgbClr val="232323"/>
              </a:solidFill>
              <a:latin typeface="Calibri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C3663"/>
                </a:solidFill>
                <a:latin typeface="Calibri"/>
              </a:rPr>
              <a:t>Slider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 sets the weight attached to </a:t>
            </a:r>
            <a:r>
              <a:rPr lang="en-US" sz="2400" b="1" dirty="0">
                <a:solidFill>
                  <a:srgbClr val="1C3663"/>
                </a:solidFill>
                <a:latin typeface="Calibri"/>
              </a:rPr>
              <a:t>G-BVAR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 compared to </a:t>
            </a:r>
            <a:r>
              <a:rPr lang="en-US" sz="2400" b="1" dirty="0">
                <a:solidFill>
                  <a:srgbClr val="1C3663"/>
                </a:solidFill>
                <a:latin typeface="Calibri"/>
              </a:rPr>
              <a:t>external forecast.</a:t>
            </a: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1C3663"/>
                </a:solidFill>
                <a:latin typeface="Calibri"/>
              </a:rPr>
              <a:t>External forecast 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can be imported from </a:t>
            </a:r>
            <a:r>
              <a:rPr lang="en-US" sz="2400" b="1" dirty="0">
                <a:solidFill>
                  <a:srgbClr val="1C3663"/>
                </a:solidFill>
                <a:latin typeface="Calibri"/>
              </a:rPr>
              <a:t>Excel </a:t>
            </a:r>
            <a:r>
              <a:rPr lang="en-US" sz="2400" dirty="0">
                <a:solidFill>
                  <a:srgbClr val="232323"/>
                </a:solidFill>
                <a:latin typeface="Calibri"/>
              </a:rPr>
              <a:t>based on </a:t>
            </a:r>
            <a:r>
              <a:rPr lang="en-US" sz="2400" b="1" dirty="0">
                <a:solidFill>
                  <a:srgbClr val="1C3663"/>
                </a:solidFill>
                <a:latin typeface="Calibri"/>
              </a:rPr>
              <a:t>provided template.</a:t>
            </a:r>
            <a:endParaRPr lang="en-US" sz="2400" dirty="0">
              <a:solidFill>
                <a:srgbClr val="232323"/>
              </a:solidFill>
              <a:latin typeface="Calibri"/>
            </a:endParaRPr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sz="2400" dirty="0">
              <a:solidFill>
                <a:srgbClr val="232323"/>
              </a:solidFill>
              <a:latin typeface="Calibr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96BD59C-5EB3-5324-E120-A12FBD327409}"/>
              </a:ext>
            </a:extLst>
          </p:cNvPr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2000"/>
              </a:lnSpc>
            </a:pPr>
            <a:r>
              <a:rPr lang="en-US" sz="2200" b="1" dirty="0">
                <a:solidFill>
                  <a:srgbClr val="1C3663"/>
                </a:solidFill>
                <a:latin typeface="Calibri"/>
              </a:rPr>
              <a:t>Country desks</a:t>
            </a:r>
            <a:r>
              <a:rPr sz="2200" b="1" dirty="0">
                <a:solidFill>
                  <a:srgbClr val="1C3663"/>
                </a:solidFill>
                <a:latin typeface="Calibri"/>
              </a:rPr>
              <a:t>:  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I have my own </a:t>
            </a:r>
            <a:r>
              <a:rPr lang="en-US" sz="2200" b="1" dirty="0">
                <a:solidFill>
                  <a:srgbClr val="1C3663"/>
                </a:solidFill>
                <a:latin typeface="Calibri"/>
              </a:rPr>
              <a:t>model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 and what is a </a:t>
            </a:r>
            <a:r>
              <a:rPr lang="en-US" sz="2200" b="1" dirty="0">
                <a:solidFill>
                  <a:srgbClr val="1C3663"/>
                </a:solidFill>
                <a:latin typeface="Calibri"/>
              </a:rPr>
              <a:t>consistent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200" b="1" dirty="0">
                <a:solidFill>
                  <a:srgbClr val="1C3663"/>
                </a:solidFill>
                <a:latin typeface="Calibri"/>
              </a:rPr>
              <a:t>scenario</a:t>
            </a:r>
            <a:r>
              <a:rPr lang="en-US" sz="2200" dirty="0">
                <a:solidFill>
                  <a:srgbClr val="232323"/>
                </a:solidFill>
                <a:latin typeface="Calibri"/>
              </a:rPr>
              <a:t>?</a:t>
            </a:r>
            <a:endParaRPr sz="2200" dirty="0">
              <a:solidFill>
                <a:srgbClr val="23232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34419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79755-D087-8AB0-C94F-2E21195A5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738D-F567-8D41-C620-4EECFA068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23" y="2967606"/>
            <a:ext cx="11908465" cy="118398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421592534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10217"/>
            <a:ext cx="11612880" cy="5293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alibri"/>
              </a:rPr>
              <a:t>Conclusions</a:t>
            </a:r>
            <a:endParaRPr sz="3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00390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Baseline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43951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9554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Conditioning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3115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8718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2279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78827" y="877824"/>
            <a:ext cx="1417320" cy="310896"/>
          </a:xfrm>
          <a:prstGeom prst="roundRect">
            <a:avLst/>
          </a:prstGeom>
          <a:solidFill>
            <a:srgbClr val="EBF1F9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0">
                <a:solidFill>
                  <a:srgbClr val="1C3663"/>
                </a:solidFill>
                <a:latin typeface="Calibri"/>
              </a:rPr>
              <a:t>Extensions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14435" y="992124"/>
            <a:ext cx="237744" cy="82296"/>
          </a:xfrm>
          <a:prstGeom prst="right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0467" y="877824"/>
            <a:ext cx="1417320" cy="310896"/>
          </a:xfrm>
          <a:prstGeom prst="roundRect">
            <a:avLst/>
          </a:prstGeom>
          <a:solidFill>
            <a:srgbClr val="1C3663"/>
          </a:solidFill>
          <a:ln w="762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39" y="2135816"/>
            <a:ext cx="10948595" cy="37300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lang="en-US" sz="2800" b="1" dirty="0">
                <a:solidFill>
                  <a:srgbClr val="27744B"/>
                </a:solidFill>
              </a:rPr>
              <a:t>+ </a:t>
            </a:r>
            <a:r>
              <a:rPr lang="en-US" sz="2800" b="1" dirty="0">
                <a:solidFill>
                  <a:srgbClr val="1C3663"/>
                </a:solidFill>
              </a:rPr>
              <a:t>MFFM a new point and click scenario model tool </a:t>
            </a:r>
            <a:r>
              <a:rPr lang="en-US" sz="2800" dirty="0">
                <a:solidFill>
                  <a:srgbClr val="232323"/>
                </a:solidFill>
              </a:rPr>
              <a:t>- Build a “what-if” by hand, or from an outside forecast, in minutes</a:t>
            </a:r>
            <a:endParaRPr lang="en-US" sz="2800" b="1" dirty="0">
              <a:solidFill>
                <a:srgbClr val="27744B"/>
              </a:solidFill>
              <a:latin typeface="Calibri"/>
            </a:endParaRP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28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2800" b="1" dirty="0">
                <a:solidFill>
                  <a:srgbClr val="1C3663"/>
                </a:solidFill>
                <a:latin typeface="Calibri"/>
              </a:rPr>
              <a:t>Current &amp; consistent</a:t>
            </a:r>
            <a:r>
              <a:rPr sz="28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800" dirty="0">
                <a:solidFill>
                  <a:srgbClr val="232323"/>
                </a:solidFill>
                <a:latin typeface="Calibri"/>
              </a:rPr>
              <a:t>-</a:t>
            </a:r>
            <a:r>
              <a:rPr sz="2800" dirty="0">
                <a:solidFill>
                  <a:srgbClr val="232323"/>
                </a:solidFill>
                <a:latin typeface="Calibri"/>
              </a:rPr>
              <a:t> every economy sits on the same up-to-date vintage, so the numbers add up across desks</a:t>
            </a:r>
            <a:endParaRPr lang="en-US" sz="2800" dirty="0">
              <a:solidFill>
                <a:srgbClr val="232323"/>
              </a:solidFill>
              <a:latin typeface="Calibri"/>
            </a:endParaRP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28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2800" b="1" dirty="0">
                <a:solidFill>
                  <a:srgbClr val="1C3663"/>
                </a:solidFill>
                <a:latin typeface="Calibri"/>
              </a:rPr>
              <a:t>Genuinely global</a:t>
            </a:r>
            <a:r>
              <a:rPr sz="28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800" dirty="0">
                <a:solidFill>
                  <a:srgbClr val="232323"/>
                </a:solidFill>
                <a:latin typeface="Calibri"/>
              </a:rPr>
              <a:t>-</a:t>
            </a:r>
            <a:r>
              <a:rPr sz="2800" dirty="0">
                <a:solidFill>
                  <a:srgbClr val="232323"/>
                </a:solidFill>
                <a:latin typeface="Calibri"/>
              </a:rPr>
              <a:t> shocks travel across 50 economies through trade and finance, not one country at a time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2800" b="1" dirty="0">
                <a:solidFill>
                  <a:srgbClr val="27744B"/>
                </a:solidFill>
                <a:latin typeface="Calibri"/>
              </a:rPr>
              <a:t>+ </a:t>
            </a:r>
            <a:r>
              <a:rPr sz="2800" b="1" dirty="0">
                <a:solidFill>
                  <a:srgbClr val="1C3663"/>
                </a:solidFill>
                <a:latin typeface="Calibri"/>
              </a:rPr>
              <a:t>Our forecasts, built in</a:t>
            </a:r>
            <a:r>
              <a:rPr sz="28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2800" dirty="0">
                <a:solidFill>
                  <a:srgbClr val="232323"/>
                </a:solidFill>
                <a:latin typeface="Calibri"/>
              </a:rPr>
              <a:t>-</a:t>
            </a:r>
            <a:r>
              <a:rPr sz="2800" dirty="0">
                <a:solidFill>
                  <a:srgbClr val="232323"/>
                </a:solidFill>
                <a:latin typeface="Calibri"/>
              </a:rPr>
              <a:t> WEO and staff views enter as dials, and any run is one-click </a:t>
            </a:r>
            <a:r>
              <a:rPr sz="2800" b="1" dirty="0">
                <a:solidFill>
                  <a:srgbClr val="1C3663"/>
                </a:solidFill>
                <a:latin typeface="Calibri"/>
              </a:rPr>
              <a:t>shareable and reproducible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0B86BE-ADD0-4151-81CA-EB5DFBE6EF31}"/>
              </a:ext>
            </a:extLst>
          </p:cNvPr>
          <p:cNvSpPr/>
          <p:nvPr/>
        </p:nvSpPr>
        <p:spPr>
          <a:xfrm>
            <a:off x="2928888" y="2967335"/>
            <a:ext cx="63342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31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prstClr val="white"/>
                </a:solidFill>
                <a:latin typeface="Arial Black" panose="020B0A04020102020204" pitchFamily="34" charset="0"/>
              </a:rPr>
              <a:t>Technical Information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8002752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AC4B1-27A9-B095-AA68-CC9677A1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967698-A577-3207-6BAF-3DA38A7F85E2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99D1CA-92EB-2B41-46BB-AF72B6D338C7}"/>
              </a:ext>
            </a:extLst>
          </p:cNvPr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r>
              <a:rPr sz="2800" b="1" i="0" dirty="0">
                <a:solidFill>
                  <a:srgbClr val="FFFFFF"/>
                </a:solidFill>
                <a:latin typeface="Calibri"/>
              </a:rPr>
              <a:t>Background</a:t>
            </a: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: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H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ow the coupled global solve works (G</a:t>
            </a:r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-B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VAR)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019D0-72C2-906B-37BB-7F0E77CE3624}"/>
              </a:ext>
            </a:extLst>
          </p:cNvPr>
          <p:cNvSpPr txBox="1"/>
          <p:nvPr/>
        </p:nvSpPr>
        <p:spPr>
          <a:xfrm>
            <a:off x="548640" y="1051560"/>
            <a:ext cx="5943600" cy="4140621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C3663"/>
                </a:solidFill>
                <a:latin typeface="Calibri"/>
              </a:rPr>
              <a:t>The idea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C3663"/>
                </a:solidFill>
                <a:latin typeface="Calibri"/>
              </a:rPr>
              <a:t>▸  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Each economy is estimated with its own variables PLUS a set of trade-weighted “foreign” variables </a:t>
            </a:r>
            <a:r>
              <a:rPr lang="en-US" sz="2000" b="0" i="0" dirty="0">
                <a:solidFill>
                  <a:srgbClr val="232323"/>
                </a:solidFill>
                <a:latin typeface="Calibri"/>
              </a:rPr>
              <a:t>-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 its partners’ activity, prices and rates.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C3663"/>
                </a:solidFill>
                <a:latin typeface="Calibri"/>
              </a:rPr>
              <a:t>▸  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Stacking all 50 economies, those foreign links tie every model to every other into one big system.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C3663"/>
                </a:solidFill>
                <a:latin typeface="Calibri"/>
              </a:rPr>
              <a:t>▸  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We then solve for the one state where every economy’s </a:t>
            </a:r>
            <a:r>
              <a:rPr sz="2000" i="0" dirty="0">
                <a:solidFill>
                  <a:srgbClr val="232323"/>
                </a:solidFill>
                <a:latin typeface="Calibri"/>
              </a:rPr>
              <a:t>forecast 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is </a:t>
            </a:r>
            <a:r>
              <a:rPr sz="2000" b="1" i="0" dirty="0">
                <a:solidFill>
                  <a:srgbClr val="232323"/>
                </a:solidFill>
                <a:latin typeface="Calibri"/>
              </a:rPr>
              <a:t>mutually consistent 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with its partners’ </a:t>
            </a:r>
            <a:r>
              <a:rPr lang="en-US" sz="2000" b="0" i="0" dirty="0">
                <a:solidFill>
                  <a:srgbClr val="232323"/>
                </a:solidFill>
                <a:latin typeface="Calibri"/>
              </a:rPr>
              <a:t>-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232323"/>
                </a:solidFill>
                <a:latin typeface="Calibri"/>
              </a:rPr>
              <a:t>the fixed point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 dirty="0">
                <a:solidFill>
                  <a:srgbClr val="1C3663"/>
                </a:solidFill>
                <a:latin typeface="Calibri"/>
              </a:rPr>
              <a:t>▸  </a:t>
            </a:r>
            <a:r>
              <a:rPr sz="2000" b="0" i="0" dirty="0">
                <a:solidFill>
                  <a:srgbClr val="696969"/>
                </a:solidFill>
                <a:latin typeface="Calibri"/>
              </a:rPr>
              <a:t>Computed once from a pre-built inverse (fast), or iterated to convergence </a:t>
            </a:r>
            <a:r>
              <a:rPr lang="en-US" sz="2000" b="0" i="0" dirty="0">
                <a:solidFill>
                  <a:srgbClr val="696969"/>
                </a:solidFill>
                <a:latin typeface="Calibri"/>
              </a:rPr>
              <a:t>-</a:t>
            </a:r>
            <a:r>
              <a:rPr sz="2000" b="0" i="0" dirty="0">
                <a:solidFill>
                  <a:srgbClr val="696969"/>
                </a:solidFill>
                <a:latin typeface="Calibri"/>
              </a:rPr>
              <a:t> either way, no country is solved in isolation.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78000B-A6CE-08DE-8C21-0BDF8AAFF83B}"/>
              </a:ext>
            </a:extLst>
          </p:cNvPr>
          <p:cNvSpPr/>
          <p:nvPr/>
        </p:nvSpPr>
        <p:spPr>
          <a:xfrm>
            <a:off x="6858000" y="1234440"/>
            <a:ext cx="4846320" cy="9144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2916E-6963-E9E1-4560-9A2F375DAD76}"/>
              </a:ext>
            </a:extLst>
          </p:cNvPr>
          <p:cNvSpPr txBox="1"/>
          <p:nvPr/>
        </p:nvSpPr>
        <p:spPr>
          <a:xfrm>
            <a:off x="7022592" y="1298448"/>
            <a:ext cx="4517136" cy="34471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r>
              <a:rPr sz="2000" b="1" i="0" dirty="0">
                <a:solidFill>
                  <a:srgbClr val="1C3663"/>
                </a:solidFill>
                <a:latin typeface="Calibri"/>
              </a:rPr>
              <a:t>Foreign (trade-weighted) variables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D22B5-84B0-43CE-8BD6-EF07A015874B}"/>
              </a:ext>
            </a:extLst>
          </p:cNvPr>
          <p:cNvSpPr txBox="1"/>
          <p:nvPr/>
        </p:nvSpPr>
        <p:spPr>
          <a:xfrm>
            <a:off x="6858000" y="1563624"/>
            <a:ext cx="484632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  <a:r>
              <a:rPr sz="1700" i="1" baseline="-25000">
                <a:solidFill>
                  <a:srgbClr val="232323"/>
                </a:solidFill>
                <a:latin typeface="Cambria Math"/>
              </a:rPr>
              <a:t>i</a:t>
            </a:r>
            <a:r>
              <a:rPr sz="1700" i="0" baseline="30000">
                <a:solidFill>
                  <a:srgbClr val="232323"/>
                </a:solidFill>
                <a:latin typeface="Cambria Math"/>
              </a:rPr>
              <a:t>*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=  Σ</a:t>
            </a:r>
            <a:r>
              <a:rPr sz="1700" i="0" baseline="-25000">
                <a:solidFill>
                  <a:srgbClr val="232323"/>
                </a:solidFill>
                <a:latin typeface="Cambria Math"/>
              </a:rPr>
              <a:t>j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w</a:t>
            </a:r>
            <a:r>
              <a:rPr sz="1700" i="1" baseline="-25000">
                <a:solidFill>
                  <a:srgbClr val="232323"/>
                </a:solidFill>
                <a:latin typeface="Cambria Math"/>
              </a:rPr>
              <a:t>ij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  <a:r>
              <a:rPr sz="1700" i="1" baseline="-25000">
                <a:solidFill>
                  <a:srgbClr val="232323"/>
                </a:solidFill>
                <a:latin typeface="Cambria Math"/>
              </a:rPr>
              <a:t>j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8300234C-399C-5D64-EC11-2CC5A7B7A4A0}"/>
              </a:ext>
            </a:extLst>
          </p:cNvPr>
          <p:cNvSpPr/>
          <p:nvPr/>
        </p:nvSpPr>
        <p:spPr>
          <a:xfrm>
            <a:off x="9208008" y="2212848"/>
            <a:ext cx="146304" cy="237744"/>
          </a:xfrm>
          <a:prstGeom prst="down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41550D-E66E-F106-74C1-1D214EC1BCA3}"/>
              </a:ext>
            </a:extLst>
          </p:cNvPr>
          <p:cNvSpPr/>
          <p:nvPr/>
        </p:nvSpPr>
        <p:spPr>
          <a:xfrm>
            <a:off x="6858000" y="2487168"/>
            <a:ext cx="4846320" cy="9144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3F233-AF6B-84D5-1BCA-3785DA49C4A0}"/>
              </a:ext>
            </a:extLst>
          </p:cNvPr>
          <p:cNvSpPr txBox="1"/>
          <p:nvPr/>
        </p:nvSpPr>
        <p:spPr>
          <a:xfrm>
            <a:off x="7022592" y="2551176"/>
            <a:ext cx="4517136" cy="34471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r>
              <a:rPr sz="2000" b="1" i="0" dirty="0">
                <a:solidFill>
                  <a:srgbClr val="1C3663"/>
                </a:solidFill>
                <a:latin typeface="Calibri"/>
              </a:rPr>
              <a:t>Stack every economy + its links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0B3F5E-952B-14CC-8EF8-7D32541659C6}"/>
              </a:ext>
            </a:extLst>
          </p:cNvPr>
          <p:cNvSpPr txBox="1"/>
          <p:nvPr/>
        </p:nvSpPr>
        <p:spPr>
          <a:xfrm>
            <a:off x="6858000" y="2816352"/>
            <a:ext cx="484632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= 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a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+ 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M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B9C5128E-DD92-B0B8-46BA-872BE7CB32E3}"/>
              </a:ext>
            </a:extLst>
          </p:cNvPr>
          <p:cNvSpPr/>
          <p:nvPr/>
        </p:nvSpPr>
        <p:spPr>
          <a:xfrm>
            <a:off x="9208008" y="3465576"/>
            <a:ext cx="146304" cy="237744"/>
          </a:xfrm>
          <a:prstGeom prst="downArrow">
            <a:avLst/>
          </a:prstGeom>
          <a:solidFill>
            <a:srgbClr val="305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5DF48B-9E08-7036-57D6-2399FFCA7FDD}"/>
              </a:ext>
            </a:extLst>
          </p:cNvPr>
          <p:cNvSpPr/>
          <p:nvPr/>
        </p:nvSpPr>
        <p:spPr>
          <a:xfrm>
            <a:off x="6858000" y="3739896"/>
            <a:ext cx="4846320" cy="914400"/>
          </a:xfrm>
          <a:prstGeom prst="roundRect">
            <a:avLst/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E7D59-CFFF-3643-9F6D-7F6CFAE530F8}"/>
              </a:ext>
            </a:extLst>
          </p:cNvPr>
          <p:cNvSpPr txBox="1"/>
          <p:nvPr/>
        </p:nvSpPr>
        <p:spPr>
          <a:xfrm>
            <a:off x="7022592" y="3803904"/>
            <a:ext cx="4517136" cy="34471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r>
              <a:rPr sz="2000" b="1" i="0" dirty="0">
                <a:solidFill>
                  <a:srgbClr val="1C3663"/>
                </a:solidFill>
                <a:latin typeface="Calibri"/>
              </a:rPr>
              <a:t>Solve the fixed point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EF14C-329B-70BA-1F68-0EB1F4951C01}"/>
              </a:ext>
            </a:extLst>
          </p:cNvPr>
          <p:cNvSpPr txBox="1"/>
          <p:nvPr/>
        </p:nvSpPr>
        <p:spPr>
          <a:xfrm>
            <a:off x="6858000" y="4069080"/>
            <a:ext cx="4846320" cy="53035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700" i="1">
                <a:solidFill>
                  <a:srgbClr val="232323"/>
                </a:solidFill>
                <a:latin typeface="Cambria Math"/>
              </a:rPr>
              <a:t>x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 =  (I −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M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)</a:t>
            </a:r>
            <a:r>
              <a:rPr sz="1700" i="0" baseline="30000">
                <a:solidFill>
                  <a:srgbClr val="232323"/>
                </a:solidFill>
                <a:latin typeface="Cambria Math"/>
              </a:rPr>
              <a:t>−1</a:t>
            </a:r>
            <a:r>
              <a:rPr sz="1700" i="0">
                <a:solidFill>
                  <a:srgbClr val="232323"/>
                </a:solidFill>
                <a:latin typeface="Cambria Math"/>
              </a:rPr>
              <a:t> </a:t>
            </a:r>
            <a:r>
              <a:rPr sz="1700" i="1">
                <a:solidFill>
                  <a:srgbClr val="232323"/>
                </a:solidFill>
                <a:latin typeface="Cambria Math"/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1D806E-4E38-3543-BD7B-59E65E505E2F}"/>
              </a:ext>
            </a:extLst>
          </p:cNvPr>
          <p:cNvSpPr txBox="1"/>
          <p:nvPr/>
        </p:nvSpPr>
        <p:spPr>
          <a:xfrm>
            <a:off x="6858000" y="4828032"/>
            <a:ext cx="4846320" cy="457200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r>
              <a:rPr sz="950" b="0" i="0">
                <a:solidFill>
                  <a:srgbClr val="696969"/>
                </a:solidFill>
                <a:latin typeface="Calibri"/>
              </a:rPr>
              <a:t>M holds the trade-weighted cross-country links; a is each economy’s own dynamics.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C75FE8-8AA4-A3FE-F5FA-C6ED8910D029}"/>
              </a:ext>
            </a:extLst>
          </p:cNvPr>
          <p:cNvSpPr/>
          <p:nvPr/>
        </p:nvSpPr>
        <p:spPr>
          <a:xfrm>
            <a:off x="457200" y="5833872"/>
            <a:ext cx="11277295" cy="841248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/>
            <a:r>
              <a:rPr sz="2400" b="1" i="0" dirty="0">
                <a:solidFill>
                  <a:srgbClr val="1C3663"/>
                </a:solidFill>
                <a:latin typeface="Calibri"/>
              </a:rPr>
              <a:t>In plain terms:  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No country moves alone </a:t>
            </a:r>
            <a:r>
              <a:rPr lang="en-US" sz="2000" b="0" i="0" dirty="0">
                <a:solidFill>
                  <a:srgbClr val="232323"/>
                </a:solidFill>
                <a:latin typeface="Calibri"/>
              </a:rPr>
              <a:t>-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 the solve finds the world path where every economy’s reaction to its partners is </a:t>
            </a:r>
            <a:r>
              <a:rPr sz="2000" b="1" i="0" dirty="0">
                <a:solidFill>
                  <a:srgbClr val="1C3663"/>
                </a:solidFill>
                <a:latin typeface="Calibri"/>
              </a:rPr>
              <a:t>mutually consistent</a:t>
            </a:r>
            <a:r>
              <a:rPr sz="2000" b="0" i="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3138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g_pes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153" y="1207008"/>
            <a:ext cx="7090013" cy="49213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965960" y="1261871"/>
            <a:ext cx="8168639" cy="4866515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-74449"/>
            <a:ext cx="11612880" cy="8987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sz="2800" b="1" i="0" dirty="0">
                <a:solidFill>
                  <a:srgbClr val="FFFFFF"/>
                </a:solidFill>
                <a:latin typeface="Calibri"/>
              </a:rPr>
              <a:t>Classical 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GVAR (Dees–di Mauro–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Pesaran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–Smith</a:t>
            </a:r>
            <a:r>
              <a:rPr lang="en-US" sz="2800" b="1" dirty="0">
                <a:solidFill>
                  <a:srgbClr val="FFFFFF"/>
                </a:solidFill>
              </a:rPr>
              <a:t>, </a:t>
            </a:r>
            <a:r>
              <a:rPr lang="en-US" sz="2800" b="1" dirty="0" err="1">
                <a:solidFill>
                  <a:srgbClr val="FFFFFF"/>
                </a:solidFill>
              </a:rPr>
              <a:t>Pesaran</a:t>
            </a:r>
            <a:r>
              <a:rPr lang="en-US" sz="2800" b="1" dirty="0">
                <a:solidFill>
                  <a:srgbClr val="FFFFFF"/>
                </a:solidFill>
              </a:rPr>
              <a:t>–Schuermann–Weiner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28129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600" dirty="0">
                <a:solidFill>
                  <a:srgbClr val="232323"/>
                </a:solidFill>
                <a:latin typeface="Calibri"/>
              </a:rPr>
              <a:t>Estimate each country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separately</a:t>
            </a:r>
            <a:r>
              <a:rPr sz="1600" dirty="0">
                <a:solidFill>
                  <a:srgbClr val="232323"/>
                </a:solidFill>
                <a:latin typeface="Calibri"/>
              </a:rPr>
              <a:t>, build weakly-exogenous stars from observed partners, then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stack and invert G₀ once</a:t>
            </a:r>
            <a:r>
              <a:rPr sz="16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112" y="6183250"/>
            <a:ext cx="11277295" cy="619885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3000"/>
              </a:lnSpc>
            </a:pPr>
            <a:r>
              <a:rPr sz="1400" b="1" i="0" dirty="0">
                <a:solidFill>
                  <a:srgbClr val="1C3663"/>
                </a:solidFill>
                <a:latin typeface="Calibri"/>
              </a:rPr>
              <a:t>The classical recipe:  </a:t>
            </a:r>
            <a:r>
              <a:rPr sz="1300" b="1" dirty="0">
                <a:solidFill>
                  <a:srgbClr val="1C3663"/>
                </a:solidFill>
                <a:latin typeface="Calibri"/>
              </a:rPr>
              <a:t>N separate</a:t>
            </a:r>
            <a:r>
              <a:rPr sz="1300" dirty="0">
                <a:solidFill>
                  <a:srgbClr val="232323"/>
                </a:solidFill>
                <a:latin typeface="Calibri"/>
              </a:rPr>
              <a:t> VARX* / VECMX* blocs, each on its own sample · fixed-weight, weakly-exogenous stars · a </a:t>
            </a:r>
            <a:r>
              <a:rPr sz="1300" dirty="0">
                <a:solidFill>
                  <a:srgbClr val="962D2D"/>
                </a:solidFill>
                <a:latin typeface="Calibri"/>
              </a:rPr>
              <a:t>common solve window</a:t>
            </a:r>
            <a:r>
              <a:rPr sz="1300" dirty="0">
                <a:solidFill>
                  <a:srgbClr val="232323"/>
                </a:solidFill>
                <a:latin typeface="Calibri"/>
              </a:rPr>
              <a:t> (ragged edges truncated, no imputation) · US a source · one G₀ inversion.</a:t>
            </a:r>
          </a:p>
        </p:txBody>
      </p:sp>
    </p:spTree>
    <p:extLst>
      <p:ext uri="{BB962C8B-B14F-4D97-AF65-F5344CB8AC3E}">
        <p14:creationId xmlns:p14="http://schemas.microsoft.com/office/powerpoint/2010/main" val="1010593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08" y="140995"/>
            <a:ext cx="1161288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800" b="1" i="0" dirty="0">
                <a:solidFill>
                  <a:srgbClr val="FFFFFF"/>
                </a:solidFill>
                <a:latin typeface="Calibri"/>
              </a:rPr>
              <a:t>EM-Bayesian G-BVAR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642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03000"/>
              </a:lnSpc>
            </a:pPr>
            <a:r>
              <a:rPr sz="1200" dirty="0">
                <a:solidFill>
                  <a:srgbClr val="232323"/>
                </a:solidFill>
                <a:latin typeface="Calibri"/>
              </a:rPr>
              <a:t>An </a:t>
            </a:r>
            <a:r>
              <a:rPr sz="1200" b="1" dirty="0">
                <a:solidFill>
                  <a:srgbClr val="1C3663"/>
                </a:solidFill>
                <a:latin typeface="Calibri"/>
              </a:rPr>
              <a:t>EM + DK-smoother</a:t>
            </a:r>
            <a:r>
              <a:rPr sz="1200" dirty="0">
                <a:solidFill>
                  <a:srgbClr val="232323"/>
                </a:solidFill>
                <a:latin typeface="Calibri"/>
              </a:rPr>
              <a:t> loop completes the panels and rebuilds the stars; GLP-Bayesian blocs; the US is </a:t>
            </a:r>
            <a:r>
              <a:rPr sz="1200" b="1" dirty="0">
                <a:solidFill>
                  <a:srgbClr val="1C3663"/>
                </a:solidFill>
                <a:latin typeface="Calibri"/>
              </a:rPr>
              <a:t>endogenous</a:t>
            </a:r>
            <a:r>
              <a:rPr sz="1200" dirty="0">
                <a:solidFill>
                  <a:srgbClr val="232323"/>
                </a:solidFill>
                <a:latin typeface="Calibri"/>
              </a:rPr>
              <a:t>; the coupled solve is an </a:t>
            </a:r>
            <a:r>
              <a:rPr sz="1200" b="1" dirty="0">
                <a:solidFill>
                  <a:srgbClr val="1C3663"/>
                </a:solidFill>
                <a:latin typeface="Calibri"/>
              </a:rPr>
              <a:t>affine fixed point</a:t>
            </a:r>
            <a:r>
              <a:rPr sz="1200" dirty="0">
                <a:solidFill>
                  <a:srgbClr val="232323"/>
                </a:solidFill>
                <a:latin typeface="Calibri"/>
              </a:rPr>
              <a:t> with a pre-computed inverse.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42529" y="1261872"/>
            <a:ext cx="9106636" cy="4480560"/>
          </a:xfrm>
          <a:prstGeom prst="roundRect">
            <a:avLst/>
          </a:prstGeom>
          <a:noFill/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5870448"/>
            <a:ext cx="11277295" cy="786384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3000"/>
              </a:lnSpc>
            </a:pPr>
            <a:r>
              <a:rPr sz="1400" b="1" i="0">
                <a:solidFill>
                  <a:srgbClr val="1C3663"/>
                </a:solidFill>
                <a:latin typeface="Calibri"/>
              </a:rPr>
              <a:t>The four generalizations:  </a:t>
            </a:r>
            <a:r>
              <a:rPr sz="1300" b="1">
                <a:solidFill>
                  <a:srgbClr val="27744B"/>
                </a:solidFill>
                <a:latin typeface="Calibri"/>
              </a:rPr>
              <a:t>+</a:t>
            </a:r>
            <a:r>
              <a:rPr sz="1300">
                <a:solidFill>
                  <a:srgbClr val="232323"/>
                </a:solidFill>
                <a:latin typeface="Calibri"/>
              </a:rPr>
              <a:t> Bayesian GLP shrinkage · </a:t>
            </a:r>
            <a:r>
              <a:rPr sz="1300" b="1">
                <a:solidFill>
                  <a:srgbClr val="27744B"/>
                </a:solidFill>
                <a:latin typeface="Calibri"/>
              </a:rPr>
              <a:t>+</a:t>
            </a:r>
            <a:r>
              <a:rPr sz="1300">
                <a:solidFill>
                  <a:srgbClr val="232323"/>
                </a:solidFill>
                <a:latin typeface="Calibri"/>
              </a:rPr>
              <a:t> EM/DK data completion · </a:t>
            </a:r>
            <a:r>
              <a:rPr sz="1300" b="1">
                <a:solidFill>
                  <a:srgbClr val="27744B"/>
                </a:solidFill>
                <a:latin typeface="Calibri"/>
              </a:rPr>
              <a:t>+</a:t>
            </a:r>
            <a:r>
              <a:rPr sz="1300">
                <a:solidFill>
                  <a:srgbClr val="232323"/>
                </a:solidFill>
                <a:latin typeface="Calibri"/>
              </a:rPr>
              <a:t> endogenous US (world feeds back) · </a:t>
            </a:r>
            <a:r>
              <a:rPr sz="1300" b="1">
                <a:solidFill>
                  <a:srgbClr val="27744B"/>
                </a:solidFill>
                <a:latin typeface="Calibri"/>
              </a:rPr>
              <a:t>+</a:t>
            </a:r>
            <a:r>
              <a:rPr sz="1300">
                <a:solidFill>
                  <a:srgbClr val="232323"/>
                </a:solidFill>
                <a:latin typeface="Calibri"/>
              </a:rPr>
              <a:t> affine (I−M)⁻¹d solve.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D61028-6230-271A-28D0-4B82BE4EF5B7}"/>
              </a:ext>
            </a:extLst>
          </p:cNvPr>
          <p:cNvGrpSpPr/>
          <p:nvPr/>
        </p:nvGrpSpPr>
        <p:grpSpPr>
          <a:xfrm>
            <a:off x="1542529" y="1261872"/>
            <a:ext cx="9106636" cy="4480560"/>
            <a:chOff x="1542529" y="1261872"/>
            <a:chExt cx="9106636" cy="4480560"/>
          </a:xfrm>
        </p:grpSpPr>
        <p:pic>
          <p:nvPicPr>
            <p:cNvPr id="5" name="Picture 4" descr="fig_gbvar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2529" y="1261872"/>
              <a:ext cx="9106636" cy="4480560"/>
            </a:xfrm>
            <a:prstGeom prst="rect">
              <a:avLst/>
            </a:prstGeom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BC1800-E57A-36AD-2531-73841CA59AA3}"/>
                </a:ext>
              </a:extLst>
            </p:cNvPr>
            <p:cNvSpPr/>
            <p:nvPr/>
          </p:nvSpPr>
          <p:spPr>
            <a:xfrm>
              <a:off x="3078162" y="2472531"/>
              <a:ext cx="1009650" cy="249428"/>
            </a:xfrm>
            <a:prstGeom prst="roundRect">
              <a:avLst/>
            </a:prstGeom>
            <a:solidFill>
              <a:srgbClr val="FAFA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0815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C36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TextBox 2"/>
          <p:cNvSpPr txBox="1"/>
          <p:nvPr/>
        </p:nvSpPr>
        <p:spPr>
          <a:xfrm>
            <a:off x="292608" y="202549"/>
            <a:ext cx="1161288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2000" b="1" i="0" dirty="0">
                <a:solidFill>
                  <a:srgbClr val="FFFFFF"/>
                </a:solidFill>
                <a:latin typeface="Calibri"/>
              </a:rPr>
              <a:t>Side by side </a:t>
            </a:r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 the same GVAR skeleton, five points of departure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148840" cy="475488"/>
          </a:xfrm>
          <a:prstGeom prst="rect">
            <a:avLst/>
          </a:prstGeom>
          <a:solidFill>
            <a:srgbClr val="1C366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TextBox 4"/>
          <p:cNvSpPr txBox="1"/>
          <p:nvPr/>
        </p:nvSpPr>
        <p:spPr>
          <a:xfrm>
            <a:off x="457200" y="1056287"/>
            <a:ext cx="2148840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2651760" y="960120"/>
            <a:ext cx="4553712" cy="475488"/>
          </a:xfrm>
          <a:prstGeom prst="rect">
            <a:avLst/>
          </a:prstGeom>
          <a:solidFill>
            <a:srgbClr val="305B9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2651760" y="1056287"/>
            <a:ext cx="4553712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Classical Pesaran GVAR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7251192" y="960120"/>
            <a:ext cx="4480560" cy="475488"/>
          </a:xfrm>
          <a:prstGeom prst="rect">
            <a:avLst/>
          </a:prstGeom>
          <a:solidFill>
            <a:srgbClr val="1C366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7251192" y="1056287"/>
            <a:ext cx="4480560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Calibri"/>
              </a:rPr>
              <a:t>EM-Bayesian G-BVAR (this tool)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35608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502920" y="1724713"/>
            <a:ext cx="2057400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1" i="0" dirty="0">
                <a:solidFill>
                  <a:srgbClr val="1C3663"/>
                </a:solidFill>
                <a:latin typeface="Calibri"/>
              </a:rPr>
              <a:t>Estimation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435608"/>
            <a:ext cx="4553712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2670048" y="1472047"/>
            <a:ext cx="4517136" cy="788486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 dirty="0">
                <a:solidFill>
                  <a:srgbClr val="232323"/>
                </a:solidFill>
                <a:latin typeface="Calibri"/>
              </a:rPr>
              <a:t>Each country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separately</a:t>
            </a:r>
            <a:r>
              <a:rPr sz="1600" dirty="0">
                <a:solidFill>
                  <a:srgbClr val="232323"/>
                </a:solidFill>
                <a:latin typeface="Calibri"/>
              </a:rPr>
              <a:t>: per-bloc OLS VARX*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-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or reduced-rank VECMX* ML. Fixed weights, no shrinkage prior.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51192" y="1435608"/>
            <a:ext cx="4480560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7269479" y="1472047"/>
            <a:ext cx="4443984" cy="788486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 b="1">
                <a:solidFill>
                  <a:srgbClr val="1C3663"/>
                </a:solidFill>
                <a:latin typeface="Calibri"/>
              </a:rPr>
              <a:t>GLP hierarchical-Minnesota BVAR</a:t>
            </a:r>
            <a:r>
              <a:rPr sz="1600">
                <a:solidFill>
                  <a:srgbClr val="232323"/>
                </a:solidFill>
                <a:latin typeface="Calibri"/>
              </a:rPr>
              <a:t> per bloc; shrunk to a random walk; λ, μ sampled, not fixed; posterior-mean companion exported.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96972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502920" y="2586077"/>
            <a:ext cx="2057400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1" i="0">
                <a:solidFill>
                  <a:srgbClr val="1C3663"/>
                </a:solidFill>
                <a:latin typeface="Calibri"/>
              </a:rPr>
              <a:t>Foreign variables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296972"/>
            <a:ext cx="4553712" cy="861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2670048" y="2460209"/>
            <a:ext cx="4517136" cy="534890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>
                <a:solidFill>
                  <a:srgbClr val="232323"/>
                </a:solidFill>
                <a:latin typeface="Calibri"/>
              </a:rPr>
              <a:t>Stars  x*_i = Σ w_ij x_j  over partners j≠i; from </a:t>
            </a:r>
            <a:r>
              <a:rPr sz="1600" b="1">
                <a:solidFill>
                  <a:srgbClr val="1C3663"/>
                </a:solidFill>
                <a:latin typeface="Calibri"/>
              </a:rPr>
              <a:t>observed</a:t>
            </a:r>
            <a:r>
              <a:rPr sz="1600">
                <a:solidFill>
                  <a:srgbClr val="232323"/>
                </a:solidFill>
                <a:latin typeface="Calibri"/>
              </a:rPr>
              <a:t> data; </a:t>
            </a:r>
            <a:r>
              <a:rPr sz="1600" b="1">
                <a:solidFill>
                  <a:srgbClr val="1C3663"/>
                </a:solidFill>
                <a:latin typeface="Calibri"/>
              </a:rPr>
              <a:t>weakly exogenous</a:t>
            </a:r>
            <a:r>
              <a:rPr sz="1600">
                <a:solidFill>
                  <a:srgbClr val="232323"/>
                </a:solidFill>
                <a:latin typeface="Calibri"/>
              </a:rPr>
              <a:t> (tested per bloc).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51192" y="2296972"/>
            <a:ext cx="4480560" cy="861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7269479" y="2333411"/>
            <a:ext cx="4443984" cy="788486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 dirty="0">
                <a:solidFill>
                  <a:srgbClr val="232323"/>
                </a:solidFill>
                <a:latin typeface="Calibri"/>
              </a:rPr>
              <a:t>3 stars per bloc (DEM / INF / FIN);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per-quarter </a:t>
            </a:r>
            <a:r>
              <a:rPr sz="1600" b="1" dirty="0" err="1">
                <a:solidFill>
                  <a:srgbClr val="1C3663"/>
                </a:solidFill>
                <a:latin typeface="Calibri"/>
              </a:rPr>
              <a:t>renormalised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weights; estimated as ordinary columns,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pinned affinely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at solve.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58337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502920" y="3447442"/>
            <a:ext cx="2057400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1" i="0">
                <a:solidFill>
                  <a:srgbClr val="1C3663"/>
                </a:solidFill>
                <a:latin typeface="Calibri"/>
              </a:rPr>
              <a:t>Missing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158337"/>
            <a:ext cx="4553712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2670048" y="3194776"/>
            <a:ext cx="4517136" cy="788486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 dirty="0">
                <a:solidFill>
                  <a:srgbClr val="232323"/>
                </a:solidFill>
                <a:latin typeface="Calibri"/>
              </a:rPr>
              <a:t>Each bloc on its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own span</a:t>
            </a:r>
            <a:r>
              <a:rPr sz="1600" dirty="0">
                <a:solidFill>
                  <a:srgbClr val="232323"/>
                </a:solidFill>
                <a:latin typeface="Calibri"/>
              </a:rPr>
              <a:t>; the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coupled solve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uses a common window (ragged edges truncated); COVID dummied </a:t>
            </a:r>
            <a:r>
              <a:rPr lang="en-US" sz="1600" dirty="0">
                <a:solidFill>
                  <a:srgbClr val="232323"/>
                </a:solidFill>
                <a:latin typeface="Calibri"/>
              </a:rPr>
              <a:t>-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</a:t>
            </a:r>
            <a:r>
              <a:rPr sz="1600" dirty="0">
                <a:solidFill>
                  <a:srgbClr val="962D2D"/>
                </a:solidFill>
                <a:latin typeface="Calibri"/>
              </a:rPr>
              <a:t>no model-based imputation</a:t>
            </a:r>
            <a:r>
              <a:rPr sz="16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51192" y="3158337"/>
            <a:ext cx="4480560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7269479" y="3194776"/>
            <a:ext cx="4443984" cy="788486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 b="1">
                <a:solidFill>
                  <a:srgbClr val="1C3663"/>
                </a:solidFill>
                <a:latin typeface="Calibri"/>
              </a:rPr>
              <a:t>EM + DK simulation smoother</a:t>
            </a:r>
            <a:r>
              <a:rPr sz="1600">
                <a:solidFill>
                  <a:srgbClr val="232323"/>
                </a:solidFill>
                <a:latin typeface="Calibri"/>
              </a:rPr>
              <a:t> completes ragged &amp; COVID-missing macros; financials kept observed; coupling by </a:t>
            </a:r>
            <a:r>
              <a:rPr sz="1600" b="1">
                <a:solidFill>
                  <a:srgbClr val="1C3663"/>
                </a:solidFill>
                <a:latin typeface="Calibri"/>
              </a:rPr>
              <a:t>projection step</a:t>
            </a:r>
            <a:r>
              <a:rPr sz="160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019702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502920" y="4308807"/>
            <a:ext cx="2057400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1" i="0">
                <a:solidFill>
                  <a:srgbClr val="1C3663"/>
                </a:solidFill>
                <a:latin typeface="Calibri"/>
              </a:rPr>
              <a:t>Dominant unit (US)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4019702"/>
            <a:ext cx="4553712" cy="861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2670048" y="4054986"/>
            <a:ext cx="4517136" cy="790794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200" dirty="0">
                <a:solidFill>
                  <a:srgbClr val="232323"/>
                </a:solidFill>
                <a:latin typeface="Calibri"/>
              </a:rPr>
              <a:t>US = </a:t>
            </a:r>
            <a:r>
              <a:rPr sz="1200" b="1" dirty="0">
                <a:solidFill>
                  <a:srgbClr val="1C3663"/>
                </a:solidFill>
                <a:latin typeface="Calibri"/>
              </a:rPr>
              <a:t>dominant unit</a:t>
            </a:r>
            <a:r>
              <a:rPr sz="1200" dirty="0">
                <a:solidFill>
                  <a:srgbClr val="232323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232323"/>
                </a:solidFill>
                <a:latin typeface="Calibri"/>
              </a:rPr>
              <a:t>-</a:t>
            </a:r>
            <a:r>
              <a:rPr sz="1200" dirty="0">
                <a:solidFill>
                  <a:srgbClr val="232323"/>
                </a:solidFill>
                <a:latin typeface="Calibri"/>
              </a:rPr>
              <a:t> source of the weakly-exogenous global commons. Its foreign </a:t>
            </a:r>
            <a:r>
              <a:rPr sz="1200" b="1" dirty="0">
                <a:solidFill>
                  <a:srgbClr val="1C3663"/>
                </a:solidFill>
                <a:latin typeface="Calibri"/>
              </a:rPr>
              <a:t>financial</a:t>
            </a:r>
            <a:r>
              <a:rPr sz="1200" dirty="0">
                <a:solidFill>
                  <a:srgbClr val="232323"/>
                </a:solidFill>
                <a:latin typeface="Calibri"/>
              </a:rPr>
              <a:t> stars are restricted</a:t>
            </a:r>
            <a:r>
              <a:rPr lang="en-US" sz="1200" dirty="0">
                <a:solidFill>
                  <a:srgbClr val="232323"/>
                </a:solidFill>
                <a:latin typeface="Calibri"/>
              </a:rPr>
              <a:t>, </a:t>
            </a:r>
            <a:r>
              <a:rPr sz="1200" dirty="0">
                <a:solidFill>
                  <a:srgbClr val="232323"/>
                </a:solidFill>
                <a:latin typeface="Calibri"/>
              </a:rPr>
              <a:t>so the financial channel is </a:t>
            </a:r>
            <a:r>
              <a:rPr sz="1200" dirty="0">
                <a:solidFill>
                  <a:srgbClr val="962D2D"/>
                </a:solidFill>
                <a:latin typeface="Calibri"/>
              </a:rPr>
              <a:t>one-directional </a:t>
            </a:r>
            <a:r>
              <a:rPr lang="en-US" sz="1200" dirty="0">
                <a:solidFill>
                  <a:srgbClr val="962D2D"/>
                </a:solidFill>
                <a:latin typeface="Calibri"/>
              </a:rPr>
              <a:t>-</a:t>
            </a:r>
            <a:r>
              <a:rPr sz="1200" dirty="0">
                <a:solidFill>
                  <a:srgbClr val="962D2D"/>
                </a:solidFill>
                <a:latin typeface="Calibri"/>
              </a:rPr>
              <a:t> the world does not feed back through finance</a:t>
            </a:r>
            <a:r>
              <a:rPr sz="1200" dirty="0">
                <a:solidFill>
                  <a:srgbClr val="232323"/>
                </a:solidFill>
                <a:latin typeface="Calibri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4019702"/>
            <a:ext cx="4480560" cy="8613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7269479" y="4182939"/>
            <a:ext cx="4443984" cy="534890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 dirty="0">
                <a:solidFill>
                  <a:srgbClr val="232323"/>
                </a:solidFill>
                <a:latin typeface="Calibri"/>
              </a:rPr>
              <a:t>US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endogenous</a:t>
            </a:r>
            <a:r>
              <a:rPr sz="1600" dirty="0">
                <a:solidFill>
                  <a:srgbClr val="232323"/>
                </a:solidFill>
                <a:latin typeface="Calibri"/>
              </a:rPr>
              <a:t>: own ROW*_US stars, n 37→40;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world feeds back</a:t>
            </a:r>
            <a:r>
              <a:rPr sz="1600" dirty="0">
                <a:solidFill>
                  <a:srgbClr val="232323"/>
                </a:solidFill>
                <a:latin typeface="Calibri"/>
              </a:rPr>
              <a:t>; US drives the 4 global commons.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81067"/>
            <a:ext cx="2148840" cy="861364"/>
          </a:xfrm>
          <a:prstGeom prst="rect">
            <a:avLst/>
          </a:prstGeom>
          <a:solidFill>
            <a:srgbClr val="E0E9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502920" y="5170172"/>
            <a:ext cx="2057400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600" b="1" i="0">
                <a:solidFill>
                  <a:srgbClr val="1C3663"/>
                </a:solidFill>
                <a:latin typeface="Calibri"/>
              </a:rPr>
              <a:t>Global solve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4881067"/>
            <a:ext cx="4553712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7" name="TextBox 36"/>
          <p:cNvSpPr txBox="1"/>
          <p:nvPr/>
        </p:nvSpPr>
        <p:spPr>
          <a:xfrm>
            <a:off x="2670048" y="5044304"/>
            <a:ext cx="4517136" cy="534890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 dirty="0">
                <a:solidFill>
                  <a:srgbClr val="232323"/>
                </a:solidFill>
                <a:latin typeface="Calibri"/>
              </a:rPr>
              <a:t>Stack  G₀ </a:t>
            </a:r>
            <a:r>
              <a:rPr sz="1600" dirty="0" err="1">
                <a:solidFill>
                  <a:srgbClr val="232323"/>
                </a:solidFill>
                <a:latin typeface="Calibri"/>
              </a:rPr>
              <a:t>x_t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= a + Σ Gℓ x_(t−ℓ) + u; 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invert G₀ once</a:t>
            </a:r>
            <a:r>
              <a:rPr sz="1600" dirty="0">
                <a:solidFill>
                  <a:srgbClr val="232323"/>
                </a:solidFill>
                <a:latin typeface="Calibri"/>
              </a:rPr>
              <a:t> → reduced-form GVAR (GIRFs).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51192" y="4881067"/>
            <a:ext cx="4480560" cy="86136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7269479" y="5044304"/>
            <a:ext cx="4443984" cy="534890"/>
          </a:xfrm>
          <a:prstGeom prst="rect">
            <a:avLst/>
          </a:prstGeom>
          <a:noFill/>
        </p:spPr>
        <p:txBody>
          <a:bodyPr wrap="square" lIns="109728" tIns="18288" rIns="109728" bIns="18288" anchor="ctr">
            <a:spAutoFit/>
          </a:bodyPr>
          <a:lstStyle/>
          <a:p>
            <a:pPr>
              <a:lnSpc>
                <a:spcPct val="103000"/>
              </a:lnSpc>
            </a:pPr>
            <a:r>
              <a:rPr sz="1600" dirty="0">
                <a:solidFill>
                  <a:srgbClr val="232323"/>
                </a:solidFill>
                <a:latin typeface="Calibri"/>
              </a:rPr>
              <a:t>Affine deviation  x = Mx + d ⇒ x = (I−M)⁻¹d;  </a:t>
            </a:r>
            <a:r>
              <a:rPr sz="1600" b="1" dirty="0">
                <a:solidFill>
                  <a:srgbClr val="1C3663"/>
                </a:solidFill>
                <a:latin typeface="Calibri"/>
              </a:rPr>
              <a:t>pre-shipped inverse</a:t>
            </a:r>
            <a:r>
              <a:rPr sz="1600" dirty="0">
                <a:solidFill>
                  <a:srgbClr val="232323"/>
                </a:solidFill>
                <a:latin typeface="Calibri"/>
              </a:rPr>
              <a:t>; unique since ρ(M) = 0.935.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897880"/>
            <a:ext cx="11277295" cy="786384"/>
          </a:xfrm>
          <a:prstGeom prst="roundRect">
            <a:avLst/>
          </a:prstGeom>
          <a:solidFill>
            <a:srgbClr val="EBF1F9"/>
          </a:solidFill>
          <a:ln w="11430">
            <a:solidFill>
              <a:srgbClr val="1C36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03000"/>
              </a:lnSpc>
            </a:pPr>
            <a:r>
              <a:rPr sz="1600" b="1" i="0">
                <a:solidFill>
                  <a:srgbClr val="1C3663"/>
                </a:solidFill>
                <a:latin typeface="Calibri"/>
              </a:rPr>
              <a:t>Read the columns:  </a:t>
            </a:r>
            <a:r>
              <a:rPr sz="1600">
                <a:solidFill>
                  <a:srgbClr val="232323"/>
                </a:solidFill>
                <a:latin typeface="Calibri"/>
              </a:rPr>
              <a:t>Left = the textbook GVAR; right = the </a:t>
            </a:r>
            <a:r>
              <a:rPr sz="1600" b="1">
                <a:solidFill>
                  <a:srgbClr val="1C3663"/>
                </a:solidFill>
                <a:latin typeface="Calibri"/>
              </a:rPr>
              <a:t>same construction</a:t>
            </a:r>
            <a:r>
              <a:rPr sz="1600">
                <a:solidFill>
                  <a:srgbClr val="232323"/>
                </a:solidFill>
                <a:latin typeface="Calibri"/>
              </a:rPr>
              <a:t> made Bayesian, gap-tolerant, US-endogenous and affine.</a:t>
            </a:r>
          </a:p>
        </p:txBody>
      </p:sp>
    </p:spTree>
    <p:extLst>
      <p:ext uri="{BB962C8B-B14F-4D97-AF65-F5344CB8AC3E}">
        <p14:creationId xmlns:p14="http://schemas.microsoft.com/office/powerpoint/2010/main" val="3996210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2D1A1-455A-95A5-59AE-C269659F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D42DD-568C-AF86-6D75-9F0652A78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21" y="160021"/>
            <a:ext cx="10787449" cy="891540"/>
          </a:xfrm>
        </p:spPr>
        <p:txBody>
          <a:bodyPr>
            <a:normAutofit/>
          </a:bodyPr>
          <a:lstStyle/>
          <a:p>
            <a:r>
              <a:rPr lang="en-US" kern="0" dirty="0">
                <a:latin typeface="Arial Black" panose="020B0A04020102020204" pitchFamily="34" charset="0"/>
              </a:rPr>
              <a:t>GVAR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231BE4F-DF87-67C0-045F-389BCEB9DE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9158" y="904775"/>
                <a:ext cx="11421374" cy="5582651"/>
              </a:xfrm>
              <a:prstGeom prst="rect">
                <a:avLst/>
              </a:prstGeom>
            </p:spPr>
            <p:txBody>
              <a:bodyPr/>
              <a:lstStyle>
                <a:lvl1pPr marL="298450" indent="-298450" algn="l" rtl="0" eaLnBrk="0" fontAlgn="base" hangingPunct="0"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Char char="•"/>
                  <a:defRPr sz="2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596900" indent="-296863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har char="–"/>
                  <a:defRPr>
                    <a:solidFill>
                      <a:schemeClr val="tx2"/>
                    </a:solidFill>
                    <a:latin typeface="+mn-lt"/>
                    <a:cs typeface="+mn-cs"/>
                  </a:defRPr>
                </a:lvl2pPr>
                <a:lvl3pPr marL="914400" indent="-315913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har char="•"/>
                  <a:defRPr sz="1600">
                    <a:solidFill>
                      <a:schemeClr val="tx2"/>
                    </a:solidFill>
                    <a:latin typeface="+mn-lt"/>
                    <a:cs typeface="+mn-cs"/>
                  </a:defRPr>
                </a:lvl3pPr>
                <a:lvl4pPr marL="1219200" indent="-303213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Char char="–"/>
                  <a:defRPr sz="1600">
                    <a:solidFill>
                      <a:schemeClr val="tx2"/>
                    </a:solidFill>
                    <a:latin typeface="+mn-lt"/>
                    <a:cs typeface="+mn-cs"/>
                  </a:defRPr>
                </a:lvl4pPr>
                <a:lvl5pPr marL="1524000" indent="-303213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2"/>
                    </a:solidFill>
                    <a:latin typeface="+mn-lt"/>
                    <a:cs typeface="+mn-cs"/>
                  </a:defRPr>
                </a:lvl5pPr>
                <a:lvl6pPr marL="1981200" indent="-303213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438400" indent="-303213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895600" indent="-303213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352800" indent="-303213" algn="l" rtl="0" eaLnBrk="1" fontAlgn="base" hangingPunct="1">
                  <a:spcBef>
                    <a:spcPct val="0"/>
                  </a:spcBef>
                  <a:spcAft>
                    <a:spcPct val="0"/>
                  </a:spcAft>
                  <a:buFont typeface="Times" pitchFamily="18" charset="0"/>
                  <a:buChar char="•"/>
                  <a:defRPr sz="1600" i="1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Char char="§"/>
                  <a:defRPr/>
                </a:pP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The underlying model is a </a:t>
                </a:r>
                <a:r>
                  <a:rPr lang="en-US" sz="20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rPr>
                  <a:t>Bayesian VAR</a:t>
                </a:r>
              </a:p>
              <a:p>
                <a:pPr eaLnBrk="1" hangingPunct="1">
                  <a:buFont typeface="Wingdings" panose="05000000000000000000" pitchFamily="2" charset="2"/>
                  <a:buChar char="§"/>
                  <a:defRPr/>
                </a:pPr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§"/>
                  <a:defRPr/>
                </a:pPr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eaLnBrk="1" hangingPunct="1">
                  <a:buFont typeface="Wingdings" panose="05000000000000000000" pitchFamily="2" charset="2"/>
                  <a:buChar char="§"/>
                  <a:defRPr/>
                </a:pPr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marL="0" indent="0" eaLnBrk="1" hangingPunct="1">
                  <a:buNone/>
                  <a:defRPr/>
                </a:pPr>
                <a:endParaRPr lang="en-US" sz="2000" b="1" dirty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endParaRPr>
              </a:p>
              <a:p>
                <a:pPr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  <m:sup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foreign variables, defined as</a:t>
                </a:r>
              </a:p>
              <a:p>
                <a:pPr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2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global variables, defined as </a:t>
                </a:r>
              </a:p>
              <a:p>
                <a:pPr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Only a subset of variables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GB" sz="20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are included as variables foreign and global variables:</a:t>
                </a:r>
              </a:p>
              <a:p>
                <a:pPr lvl="1" eaLnBrk="1" hangingPunct="1">
                  <a:spcBef>
                    <a:spcPts val="6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§"/>
                  <a:defRPr/>
                </a:pPr>
                <a:r>
                  <a:rPr lang="en-GB" sz="1600" kern="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GDP are included as Variables we do not condition on forecasted endogenously, conditional on the paths for the subset of variables we specify certain paths for.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231BE4F-DF87-67C0-045F-389BCEB9D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58" y="904775"/>
                <a:ext cx="11421374" cy="5582651"/>
              </a:xfrm>
              <a:prstGeom prst="rect">
                <a:avLst/>
              </a:prstGeom>
              <a:blipFill>
                <a:blip r:embed="rId3"/>
                <a:stretch>
                  <a:fillRect l="-481" t="-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07E09A-F1B9-3960-2EF7-A2CA77F32801}"/>
                  </a:ext>
                </a:extLst>
              </p:cNvPr>
              <p:cNvSpPr txBox="1"/>
              <p:nvPr/>
            </p:nvSpPr>
            <p:spPr>
              <a:xfrm>
                <a:off x="2488184" y="1451025"/>
                <a:ext cx="5720604" cy="13106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𝑩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1" i="1" smtClean="0">
                              <a:latin typeface="Cambria Math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𝒕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2400" b="1" i="1" smtClean="0">
                              <a:latin typeface="Cambria Math"/>
                            </a:rPr>
                            <m:t>𝒑</m:t>
                          </m:r>
                        </m:sub>
                      </m:sSub>
                      <m:r>
                        <a:rPr lang="en-GB" sz="2400" b="1" i="1" smtClean="0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US" sz="24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GB" sz="2400" b="1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𝚲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Sup>
                        <m:sSubSupPr>
                          <m:ctrlPr>
                            <a:rPr lang="en-GB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  <m:sup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𝚲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2400" b="1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𝚲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sSubSup>
                        <m:sSubSup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1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1" smtClean="0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sz="2400" b="1" i="1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GB" sz="2400" b="1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</a:rPr>
                            <m:t>𝒑</m:t>
                          </m:r>
                        </m:sub>
                      </m:sSub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GB" sz="2400" b="1" i="1">
                              <a:latin typeface="Cambria Math"/>
                              <a:ea typeface="Cambria Math"/>
                            </a:rPr>
                            <m:t>𝜺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/>
                            </a:rPr>
                            <m:t>𝒊</m:t>
                          </m:r>
                          <m:r>
                            <a:rPr lang="en-GB" sz="2400" b="1" i="1">
                              <a:latin typeface="Cambria Math"/>
                              <a:ea typeface="Cambria Math"/>
                            </a:rPr>
                            <m:t>𝒕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F07E09A-F1B9-3960-2EF7-A2CA77F32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184" y="1451025"/>
                <a:ext cx="5720604" cy="1310680"/>
              </a:xfrm>
              <a:prstGeom prst="rect">
                <a:avLst/>
              </a:prstGeom>
              <a:blipFill>
                <a:blip r:embed="rId4"/>
                <a:stretch>
                  <a:fillRect b="-1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0758A5-8405-7844-0D8F-C83C72451310}"/>
                  </a:ext>
                </a:extLst>
              </p:cNvPr>
              <p:cNvSpPr txBox="1"/>
              <p:nvPr/>
            </p:nvSpPr>
            <p:spPr>
              <a:xfrm>
                <a:off x="8200197" y="1450348"/>
                <a:ext cx="17224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𝜺</m:t>
                        </m:r>
                      </m:e>
                      <m:sub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𝒕</m:t>
                        </m:r>
                      </m:sub>
                    </m:sSub>
                    <m:r>
                      <a:rPr lang="en-GB" sz="2400" b="1" i="1" smtClean="0">
                        <a:latin typeface="Cambria Math"/>
                        <a:ea typeface="Cambria Math"/>
                      </a:rPr>
                      <m:t>~</m:t>
                    </m:r>
                    <m:r>
                      <a:rPr lang="en-GB" sz="2400" b="1" i="1" smtClean="0">
                        <a:latin typeface="Cambria Math"/>
                        <a:ea typeface="Cambria Math"/>
                      </a:rPr>
                      <m:t>𝑵</m:t>
                    </m:r>
                    <m:d>
                      <m:dPr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𝟎</m:t>
                        </m:r>
                        <m:r>
                          <a:rPr lang="en-GB" sz="2400" b="1" i="1" smtClean="0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l-GR" sz="2400" b="1" i="1" smtClean="0">
                            <a:latin typeface="Cambria Math"/>
                            <a:ea typeface="Cambria Math"/>
                          </a:rPr>
                          <m:t>𝜮</m:t>
                        </m:r>
                      </m:e>
                    </m:d>
                  </m:oMath>
                </a14:m>
                <a:r>
                  <a:rPr lang="en-GB" sz="2400" b="1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0758A5-8405-7844-0D8F-C83C72451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197" y="1450348"/>
                <a:ext cx="1722459" cy="461665"/>
              </a:xfrm>
              <a:prstGeom prst="rect">
                <a:avLst/>
              </a:prstGeom>
              <a:blipFill>
                <a:blip r:embed="rId5"/>
                <a:stretch>
                  <a:fillRect t="-10526" r="-5300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87360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3540</TotalTime>
  <Words>2735</Words>
  <Application>Microsoft Office PowerPoint</Application>
  <PresentationFormat>Widescreen</PresentationFormat>
  <Paragraphs>338</Paragraphs>
  <Slides>37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Aptos</vt:lpstr>
      <vt:lpstr>Arial</vt:lpstr>
      <vt:lpstr>Arial Black</vt:lpstr>
      <vt:lpstr>ArialMT</vt:lpstr>
      <vt:lpstr>Calibri</vt:lpstr>
      <vt:lpstr>Cambria Math</vt:lpstr>
      <vt:lpstr>Roboto</vt:lpstr>
      <vt:lpstr>Wingdings</vt:lpstr>
      <vt:lpstr>Office Theme</vt:lpstr>
      <vt:lpstr>1_Office Theme</vt:lpstr>
      <vt:lpstr>MFFM A global projection and scenario tool</vt:lpstr>
      <vt:lpstr>PowerPoint Presentation</vt:lpstr>
      <vt:lpstr>Background: BVARs replacing GFM in FSAPs</vt:lpstr>
      <vt:lpstr>PowerPoint Presentation</vt:lpstr>
      <vt:lpstr>Time series model – Bayesian VAR</vt:lpstr>
      <vt:lpstr>The US data – 32 variables following Crump et al. (2024)</vt:lpstr>
      <vt:lpstr>Unconditional vs. Conditional BVAR forecasts</vt:lpstr>
      <vt:lpstr>Comparison of BVAR and GFM scenarios</vt:lpstr>
      <vt:lpstr>The new MFFM tool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Global Solve with the MFFM tool</vt:lpstr>
      <vt:lpstr>The MFFM GBVAR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(Future) Extensions</vt:lpstr>
      <vt:lpstr>PowerPoint Presentation</vt:lpstr>
      <vt:lpstr>PowerPoint Presentation</vt:lpstr>
      <vt:lpstr>PowerPoint Presentation</vt:lpstr>
      <vt:lpstr>Conclusions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GVAR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Farkas, Mátyás</dc:creator>
  <cp:keywords/>
  <dc:description>generated using python-pptx</dc:description>
  <cp:lastModifiedBy>Farkas, Mátyás</cp:lastModifiedBy>
  <cp:revision>37</cp:revision>
  <dcterms:created xsi:type="dcterms:W3CDTF">2013-01-27T09:14:16Z</dcterms:created>
  <dcterms:modified xsi:type="dcterms:W3CDTF">2026-07-17T16:03:32Z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07ed86-5dc5-4593-ad03-a8684b843815_Enabled">
    <vt:lpwstr>true</vt:lpwstr>
  </property>
  <property fmtid="{D5CDD505-2E9C-101B-9397-08002B2CF9AE}" pid="3" name="MSIP_Label_0c07ed86-5dc5-4593-ad03-a8684b843815_SetDate">
    <vt:lpwstr>2026-07-08T17:45:32Z</vt:lpwstr>
  </property>
  <property fmtid="{D5CDD505-2E9C-101B-9397-08002B2CF9AE}" pid="4" name="MSIP_Label_0c07ed86-5dc5-4593-ad03-a8684b843815_Method">
    <vt:lpwstr>Standard</vt:lpwstr>
  </property>
  <property fmtid="{D5CDD505-2E9C-101B-9397-08002B2CF9AE}" pid="5" name="MSIP_Label_0c07ed86-5dc5-4593-ad03-a8684b843815_Name">
    <vt:lpwstr>0c07ed86-5dc5-4593-ad03-a8684b843815</vt:lpwstr>
  </property>
  <property fmtid="{D5CDD505-2E9C-101B-9397-08002B2CF9AE}" pid="6" name="MSIP_Label_0c07ed86-5dc5-4593-ad03-a8684b843815_SiteId">
    <vt:lpwstr>8085fa43-302e-45bd-b171-a6648c3b6be7</vt:lpwstr>
  </property>
  <property fmtid="{D5CDD505-2E9C-101B-9397-08002B2CF9AE}" pid="7" name="MSIP_Label_0c07ed86-5dc5-4593-ad03-a8684b843815_ActionId">
    <vt:lpwstr>932bbe42-87f2-476e-98bc-796f6587ec10</vt:lpwstr>
  </property>
  <property fmtid="{D5CDD505-2E9C-101B-9397-08002B2CF9AE}" pid="8" name="MSIP_Label_0c07ed86-5dc5-4593-ad03-a8684b843815_ContentBits">
    <vt:lpwstr>0</vt:lpwstr>
  </property>
  <property fmtid="{D5CDD505-2E9C-101B-9397-08002B2CF9AE}" pid="9" name="MSIP_Label_0c07ed86-5dc5-4593-ad03-a8684b843815_Tag">
    <vt:lpwstr>10, 3, 0, 1</vt:lpwstr>
  </property>
</Properties>
</file>