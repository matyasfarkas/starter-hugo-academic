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280160"/>
            <a:ext cx="10332720" cy="1463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b="1" sz="3400">
                <a:solidFill>
                  <a:srgbClr val="1C3663"/>
                </a:solidFill>
                <a:latin typeface="Calibri"/>
              </a:rPr>
              <a:t>The Monetary–Financial–Fiscal Macromodel (MFFM)</a:t>
            </a:r>
          </a:p>
        </p:txBody>
      </p:sp>
      <p:sp>
        <p:nvSpPr>
          <p:cNvPr id="3" name="Rectangle 2"/>
          <p:cNvSpPr/>
          <p:nvPr/>
        </p:nvSpPr>
        <p:spPr>
          <a:xfrm>
            <a:off x="4937760" y="2468880"/>
            <a:ext cx="2286000" cy="27432"/>
          </a:xfrm>
          <a:prstGeom prst="rect">
            <a:avLst/>
          </a:prstGeom>
          <a:solidFill>
            <a:srgbClr val="1C36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697480"/>
            <a:ext cx="941832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2000"/>
              </a:lnSpc>
            </a:pPr>
            <a:r>
              <a:rPr sz="1800">
                <a:solidFill>
                  <a:srgbClr val="232323"/>
                </a:solidFill>
                <a:latin typeface="Calibri"/>
              </a:rPr>
              <a:t>A global projection and scenario tool — one coherent “what-if” for 50 economies, and its policy implications.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114800"/>
            <a:ext cx="9418320" cy="1463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500">
                <a:solidFill>
                  <a:srgbClr val="232323"/>
                </a:solidFill>
                <a:latin typeface="Calibri"/>
              </a:rPr>
              <a:t>Mátyás Farkas</a:t>
            </a:r>
          </a:p>
          <a:p>
            <a:pPr algn="ctr">
              <a:spcBef>
                <a:spcPts val="800"/>
              </a:spcBef>
            </a:pPr>
            <a:r>
              <a:rPr sz="1200">
                <a:solidFill>
                  <a:srgbClr val="696969"/>
                </a:solidFill>
                <a:latin typeface="Calibri"/>
              </a:rPr>
              <a:t>International Monetary Fund</a:t>
            </a:r>
          </a:p>
          <a:p>
            <a:pPr algn="ctr">
              <a:spcBef>
                <a:spcPts val="800"/>
              </a:spcBef>
            </a:pPr>
            <a:r>
              <a:rPr sz="1200" i="1">
                <a:solidFill>
                  <a:srgbClr val="962D2D"/>
                </a:solidFill>
                <a:latin typeface="Calibri"/>
              </a:rPr>
              <a:t>Senior Management briefing   •   [date / venue]</a:t>
            </a:r>
          </a:p>
          <a:p>
            <a:pPr algn="ctr">
              <a:spcBef>
                <a:spcPts val="800"/>
              </a:spcBef>
            </a:pPr>
            <a:r>
              <a:rPr sz="900">
                <a:solidFill>
                  <a:srgbClr val="696969"/>
                </a:solidFill>
                <a:latin typeface="Calibri"/>
              </a:rPr>
              <a:t>Views expressed are my own and do not necessarily represent the IMF.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C36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0"/>
            <a:ext cx="11612880" cy="7498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900" b="1">
                <a:solidFill>
                  <a:srgbClr val="FFFFFF"/>
                </a:solidFill>
                <a:latin typeface="Calibri"/>
              </a:rPr>
              <a:t>Why now: the next generation of the Fund's global macro-financial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530352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b="1" sz="1300">
                <a:solidFill>
                  <a:srgbClr val="1C3663"/>
                </a:solidFill>
                <a:latin typeface="Calibri"/>
              </a:rPr>
              <a:t>Today: the GMF (Vitek)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5394960" cy="32918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250">
                <a:solidFill>
                  <a:srgbClr val="232323"/>
                </a:solidFill>
                <a:latin typeface="Calibri"/>
              </a:rPr>
              <a:t>Served the Fund well as a global macro-financial workhorse.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250" b="1">
                <a:solidFill>
                  <a:srgbClr val="962D2D"/>
                </a:solidFill>
                <a:latin typeface="Calibri"/>
              </a:rPr>
              <a:t>– </a:t>
            </a:r>
            <a:r>
              <a:rPr sz="1250">
                <a:solidFill>
                  <a:srgbClr val="962D2D"/>
                </a:solidFill>
                <a:latin typeface="Calibri"/>
              </a:rPr>
              <a:t>Not updated in estimation</a:t>
            </a:r>
            <a:r>
              <a:rPr sz="1250">
                <a:solidFill>
                  <a:srgbClr val="232323"/>
                </a:solidFill>
                <a:latin typeface="Calibri"/>
              </a:rPr>
              <a:t> — </a:t>
            </a:r>
            <a:r>
              <a:rPr sz="1150" i="1">
                <a:solidFill>
                  <a:srgbClr val="962D2D"/>
                </a:solidFill>
                <a:latin typeface="Calibri"/>
              </a:rPr>
              <a:t>[MF/Jesper: specifics]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250" b="1">
                <a:solidFill>
                  <a:srgbClr val="962D2D"/>
                </a:solidFill>
                <a:latin typeface="Calibri"/>
              </a:rPr>
              <a:t>– </a:t>
            </a:r>
            <a:r>
              <a:rPr sz="1250">
                <a:solidFill>
                  <a:srgbClr val="962D2D"/>
                </a:solidFill>
                <a:latin typeface="Calibri"/>
              </a:rPr>
              <a:t>Missing FSAP / Article IV features</a:t>
            </a:r>
            <a:r>
              <a:rPr sz="1250">
                <a:solidFill>
                  <a:srgbClr val="232323"/>
                </a:solidFill>
                <a:latin typeface="Calibri"/>
              </a:rPr>
              <a:t> — </a:t>
            </a:r>
            <a:r>
              <a:rPr sz="1150" i="1">
                <a:solidFill>
                  <a:srgbClr val="962D2D"/>
                </a:solidFill>
                <a:latin typeface="Calibri"/>
              </a:rPr>
              <a:t>[MF/Jesper: list the needs]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250" b="1">
                <a:solidFill>
                  <a:srgbClr val="962D2D"/>
                </a:solidFill>
                <a:latin typeface="Calibri"/>
              </a:rPr>
              <a:t>– </a:t>
            </a:r>
            <a:r>
              <a:rPr sz="1150" i="1">
                <a:solidFill>
                  <a:srgbClr val="962D2D"/>
                </a:solidFill>
                <a:latin typeface="Calibri"/>
              </a:rPr>
              <a:t>[MF/Jesper: any further gaps]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960120"/>
            <a:ext cx="53949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b="1" sz="1300">
                <a:solidFill>
                  <a:srgbClr val="1C3663"/>
                </a:solidFill>
                <a:latin typeface="Calibri"/>
              </a:rPr>
              <a:t>What surveillance now needs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371600"/>
            <a:ext cx="5394960" cy="32918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250" b="1">
                <a:solidFill>
                  <a:srgbClr val="27744B"/>
                </a:solidFill>
                <a:latin typeface="Calibri"/>
              </a:rPr>
              <a:t>+ </a:t>
            </a:r>
            <a:r>
              <a:rPr sz="1250">
                <a:solidFill>
                  <a:srgbClr val="232323"/>
                </a:solidFill>
                <a:latin typeface="Calibri"/>
              </a:rPr>
              <a:t>Current estimates, refreshed each cycle.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250" b="1">
                <a:solidFill>
                  <a:srgbClr val="27744B"/>
                </a:solidFill>
                <a:latin typeface="Calibri"/>
              </a:rPr>
              <a:t>+ </a:t>
            </a:r>
            <a:r>
              <a:rPr sz="1250">
                <a:solidFill>
                  <a:srgbClr val="232323"/>
                </a:solidFill>
                <a:latin typeface="Calibri"/>
              </a:rPr>
              <a:t>Fast, transparent scenarios for FSAP &amp; Article IV.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250" b="1">
                <a:solidFill>
                  <a:srgbClr val="27744B"/>
                </a:solidFill>
                <a:latin typeface="Calibri"/>
              </a:rPr>
              <a:t>+ </a:t>
            </a:r>
            <a:r>
              <a:rPr sz="1250">
                <a:solidFill>
                  <a:srgbClr val="232323"/>
                </a:solidFill>
                <a:latin typeface="Calibri"/>
              </a:rPr>
              <a:t>Genuine cross-border transmission — shocks travel and feed back across economies.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250" b="1">
                <a:solidFill>
                  <a:srgbClr val="27744B"/>
                </a:solidFill>
                <a:latin typeface="Calibri"/>
              </a:rPr>
              <a:t>+ </a:t>
            </a:r>
            <a:r>
              <a:rPr sz="1150" i="1">
                <a:solidFill>
                  <a:srgbClr val="962D2D"/>
                </a:solidFill>
                <a:latin typeface="Calibri"/>
              </a:rPr>
              <a:t>[MF/Jesper: the specific FSAP/AIV features]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833872"/>
            <a:ext cx="11277295" cy="841248"/>
          </a:xfrm>
          <a:prstGeom prst="roundRect">
            <a:avLst/>
          </a:prstGeom>
          <a:solidFill>
            <a:srgbClr val="EBF1F9"/>
          </a:solidFill>
          <a:ln w="11430">
            <a:solidFill>
              <a:srgbClr val="1C36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>
              <a:lnSpc>
                <a:spcPct val="102000"/>
              </a:lnSpc>
            </a:pPr>
            <a:r>
              <a:rPr b="1" sz="1400">
                <a:solidFill>
                  <a:srgbClr val="1C3663"/>
                </a:solidFill>
                <a:latin typeface="Calibri"/>
              </a:rPr>
              <a:t>The case:  </a:t>
            </a:r>
            <a:r>
              <a:rPr sz="1250" i="1">
                <a:solidFill>
                  <a:srgbClr val="962D2D"/>
                </a:solidFill>
                <a:latin typeface="Calibri"/>
              </a:rPr>
              <a:t>[MF/Jesper: one-line motivation — e.g. “The MFFM supersedes the GMF: re-estimated, scenario-ready, and built for FSAP–Article IV work.”]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C36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0"/>
            <a:ext cx="11612880" cy="7498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900" b="1">
                <a:solidFill>
                  <a:srgbClr val="FFFFFF"/>
                </a:solidFill>
                <a:latin typeface="Calibri"/>
              </a:rPr>
              <a:t>What the MFFM adds — five things it does that a static model cannot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972800" cy="44805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400" b="1">
                <a:solidFill>
                  <a:srgbClr val="27744B"/>
                </a:solidFill>
                <a:latin typeface="Calibri"/>
              </a:rPr>
              <a:t>+ </a:t>
            </a:r>
            <a:r>
              <a:rPr sz="1400" b="1">
                <a:solidFill>
                  <a:srgbClr val="1C3663"/>
                </a:solidFill>
                <a:latin typeface="Calibri"/>
              </a:rPr>
              <a:t>Re-estimated and current.</a:t>
            </a:r>
            <a:r>
              <a:rPr sz="1400">
                <a:solidFill>
                  <a:srgbClr val="232323"/>
                </a:solidFill>
                <a:latin typeface="Calibri"/>
              </a:rPr>
              <a:t> Bayesian VAR baselines re-estimated on the latest data, for </a:t>
            </a:r>
            <a:r>
              <a:rPr sz="1400" b="1">
                <a:solidFill>
                  <a:srgbClr val="1C3663"/>
                </a:solidFill>
                <a:latin typeface="Calibri"/>
              </a:rPr>
              <a:t>50 economies</a:t>
            </a:r>
            <a:r>
              <a:rPr sz="1400">
                <a:solidFill>
                  <a:srgbClr val="232323"/>
                </a:solidFill>
                <a:latin typeface="Calibri"/>
              </a:rPr>
              <a:t> — one consistent methodology everywhere.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400" b="1">
                <a:solidFill>
                  <a:srgbClr val="27744B"/>
                </a:solidFill>
                <a:latin typeface="Calibri"/>
              </a:rPr>
              <a:t>+ </a:t>
            </a:r>
            <a:r>
              <a:rPr sz="1400" b="1">
                <a:solidFill>
                  <a:srgbClr val="1C3663"/>
                </a:solidFill>
                <a:latin typeface="Calibri"/>
              </a:rPr>
              <a:t>Interactive scenarios.</a:t>
            </a:r>
            <a:r>
              <a:rPr sz="1400">
                <a:solidFill>
                  <a:srgbClr val="232323"/>
                </a:solidFill>
                <a:latin typeface="Calibri"/>
              </a:rPr>
              <a:t> Build a “what-if” by hand, or from an outside forecast, in minutes — the model keeps every variable mutually consistent.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400" b="1">
                <a:solidFill>
                  <a:srgbClr val="27744B"/>
                </a:solidFill>
                <a:latin typeface="Calibri"/>
              </a:rPr>
              <a:t>+ </a:t>
            </a:r>
            <a:r>
              <a:rPr sz="1400" b="1">
                <a:solidFill>
                  <a:srgbClr val="1C3663"/>
                </a:solidFill>
                <a:latin typeface="Calibri"/>
              </a:rPr>
              <a:t>Real cross-border amplification.</a:t>
            </a:r>
            <a:r>
              <a:rPr sz="1400">
                <a:solidFill>
                  <a:srgbClr val="232323"/>
                </a:solidFill>
                <a:latin typeface="Calibri"/>
              </a:rPr>
              <a:t> A coupled </a:t>
            </a:r>
            <a:r>
              <a:rPr sz="1400" i="1">
                <a:solidFill>
                  <a:srgbClr val="232323"/>
                </a:solidFill>
                <a:latin typeface="Calibri"/>
              </a:rPr>
              <a:t>global</a:t>
            </a:r>
            <a:r>
              <a:rPr sz="1400">
                <a:solidFill>
                  <a:srgbClr val="232323"/>
                </a:solidFill>
                <a:latin typeface="Calibri"/>
              </a:rPr>
              <a:t> solve — a shock in one economy travels through trade and finance to the rest, not a sum of separate country runs.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400" b="1">
                <a:solidFill>
                  <a:srgbClr val="27744B"/>
                </a:solidFill>
                <a:latin typeface="Calibri"/>
              </a:rPr>
              <a:t>+ </a:t>
            </a:r>
            <a:r>
              <a:rPr sz="1400" b="1">
                <a:solidFill>
                  <a:srgbClr val="1C3663"/>
                </a:solidFill>
                <a:latin typeface="Calibri"/>
              </a:rPr>
              <a:t>Uses what we already produce.</a:t>
            </a:r>
            <a:r>
              <a:rPr sz="1400">
                <a:solidFill>
                  <a:srgbClr val="232323"/>
                </a:solidFill>
                <a:latin typeface="Calibri"/>
              </a:rPr>
              <a:t> WEO, consensus and desk forecasts enter as </a:t>
            </a:r>
            <a:r>
              <a:rPr sz="1400" i="1">
                <a:solidFill>
                  <a:srgbClr val="232323"/>
                </a:solidFill>
                <a:latin typeface="Calibri"/>
              </a:rPr>
              <a:t>ingredients</a:t>
            </a:r>
            <a:r>
              <a:rPr sz="1400">
                <a:solidFill>
                  <a:srgbClr val="232323"/>
                </a:solidFill>
                <a:latin typeface="Calibri"/>
              </a:rPr>
              <a:t>, at a trust level you choose.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400" b="1">
                <a:solidFill>
                  <a:srgbClr val="27744B"/>
                </a:solidFill>
                <a:latin typeface="Calibri"/>
              </a:rPr>
              <a:t>+ </a:t>
            </a:r>
            <a:r>
              <a:rPr sz="1400" b="1">
                <a:solidFill>
                  <a:srgbClr val="1C3663"/>
                </a:solidFill>
                <a:latin typeface="Calibri"/>
              </a:rPr>
              <a:t>Honest and reproducible.</a:t>
            </a:r>
            <a:r>
              <a:rPr sz="1400">
                <a:solidFill>
                  <a:srgbClr val="232323"/>
                </a:solidFill>
                <a:latin typeface="Calibri"/>
              </a:rPr>
              <a:t> Uncertainty bands throughout; a whole session — every country, every assumption — saved and shared as a single file.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5833872"/>
            <a:ext cx="11277295" cy="841248"/>
          </a:xfrm>
          <a:prstGeom prst="roundRect">
            <a:avLst/>
          </a:prstGeom>
          <a:solidFill>
            <a:srgbClr val="EBF1F9"/>
          </a:solidFill>
          <a:ln w="11430">
            <a:solidFill>
              <a:srgbClr val="1C36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>
              <a:lnSpc>
                <a:spcPct val="102000"/>
              </a:lnSpc>
            </a:pPr>
            <a:r>
              <a:rPr b="1" sz="1400">
                <a:solidFill>
                  <a:srgbClr val="1C3663"/>
                </a:solidFill>
                <a:latin typeface="Calibri"/>
              </a:rPr>
              <a:t>In one line:  </a:t>
            </a:r>
            <a:r>
              <a:rPr sz="1350">
                <a:solidFill>
                  <a:srgbClr val="232323"/>
                </a:solidFill>
                <a:latin typeface="Calibri"/>
              </a:rPr>
              <a:t>The same trusted models, made </a:t>
            </a:r>
            <a:r>
              <a:rPr sz="1350" b="1">
                <a:solidFill>
                  <a:srgbClr val="1C3663"/>
                </a:solidFill>
                <a:latin typeface="Calibri"/>
              </a:rPr>
              <a:t>current, interactive, global, and shareable</a:t>
            </a:r>
            <a:r>
              <a:rPr sz="1350">
                <a:solidFill>
                  <a:srgbClr val="232323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C36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0"/>
            <a:ext cx="11612880" cy="7498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900" b="1">
                <a:solidFill>
                  <a:srgbClr val="FFFFFF"/>
                </a:solidFill>
                <a:latin typeface="Calibri"/>
              </a:rPr>
              <a:t>One tool: a coherent global scenario, its spillovers, and the policy trade-offs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>
              <a:lnSpc>
                <a:spcPct val="102000"/>
              </a:lnSpc>
              <a:spcAft>
                <a:spcPts val="800"/>
              </a:spcAft>
            </a:pPr>
            <a:r>
              <a:rPr sz="1250">
                <a:solidFill>
                  <a:srgbClr val="232323"/>
                </a:solidFill>
                <a:latin typeface="Calibri"/>
              </a:rPr>
              <a:t>A point-and-click platform for </a:t>
            </a:r>
            <a:r>
              <a:rPr sz="1250" b="1">
                <a:solidFill>
                  <a:srgbClr val="1C3663"/>
                </a:solidFill>
                <a:latin typeface="Calibri"/>
              </a:rPr>
              <a:t>50 economies</a:t>
            </a:r>
            <a:r>
              <a:rPr sz="1250">
                <a:solidFill>
                  <a:srgbClr val="232323"/>
                </a:solidFill>
                <a:latin typeface="Calibri"/>
              </a:rPr>
              <a:t> — the Fund’s workhorse models (Bayesian VAR baselines, a cross-country GVAR, DSGE policy) behind a single interface. Today’s tour, in five steps: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71703" y="1600200"/>
            <a:ext cx="2084831" cy="914400"/>
          </a:xfrm>
          <a:prstGeom prst="roundRect">
            <a:avLst/>
          </a:prstGeom>
          <a:solidFill>
            <a:srgbClr val="EBF1F9"/>
          </a:solidFill>
          <a:ln w="8890">
            <a:solidFill>
              <a:srgbClr val="1C36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100">
                <a:solidFill>
                  <a:srgbClr val="1C3663"/>
                </a:solidFill>
                <a:latin typeface="Calibri"/>
              </a:rPr>
              <a:t>Baseline</a:t>
            </a:r>
          </a:p>
          <a:p>
            <a:pPr algn="ctr"/>
            <a:r>
              <a:rPr sz="900">
                <a:solidFill>
                  <a:srgbClr val="232323"/>
                </a:solidFill>
                <a:latin typeface="Calibri"/>
              </a:rPr>
              <a:t>data-driven forecast, 50 economies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465679" y="2011680"/>
            <a:ext cx="237744" cy="91440"/>
          </a:xfrm>
          <a:prstGeom prst="rightArrow">
            <a:avLst/>
          </a:prstGeom>
          <a:solidFill>
            <a:srgbClr val="305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712567" y="1600200"/>
            <a:ext cx="2084831" cy="914400"/>
          </a:xfrm>
          <a:prstGeom prst="roundRect">
            <a:avLst/>
          </a:prstGeom>
          <a:solidFill>
            <a:srgbClr val="EBF1F9"/>
          </a:solidFill>
          <a:ln w="8890">
            <a:solidFill>
              <a:srgbClr val="1C36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100">
                <a:solidFill>
                  <a:srgbClr val="1C3663"/>
                </a:solidFill>
                <a:latin typeface="Calibri"/>
              </a:rPr>
              <a:t>Conditioning</a:t>
            </a:r>
          </a:p>
          <a:p>
            <a:pPr algn="ctr"/>
            <a:r>
              <a:rPr sz="900">
                <a:solidFill>
                  <a:srgbClr val="232323"/>
                </a:solidFill>
                <a:latin typeface="Calibri"/>
              </a:rPr>
              <a:t>drag a path, or import a forecast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806543" y="2011680"/>
            <a:ext cx="237744" cy="91440"/>
          </a:xfrm>
          <a:prstGeom prst="rightArrow">
            <a:avLst/>
          </a:prstGeom>
          <a:solidFill>
            <a:srgbClr val="305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53431" y="1600200"/>
            <a:ext cx="2084831" cy="914400"/>
          </a:xfrm>
          <a:prstGeom prst="roundRect">
            <a:avLst/>
          </a:prstGeom>
          <a:solidFill>
            <a:srgbClr val="EBF1F9"/>
          </a:solidFill>
          <a:ln w="8890">
            <a:solidFill>
              <a:srgbClr val="1C36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100">
                <a:solidFill>
                  <a:srgbClr val="1C3663"/>
                </a:solidFill>
                <a:latin typeface="Calibri"/>
              </a:rPr>
              <a:t>Global solve</a:t>
            </a:r>
          </a:p>
          <a:p>
            <a:pPr algn="ctr"/>
            <a:r>
              <a:rPr sz="900">
                <a:solidFill>
                  <a:srgbClr val="232323"/>
                </a:solidFill>
                <a:latin typeface="Calibri"/>
              </a:rPr>
              <a:t>one country moves the rest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147407" y="2011680"/>
            <a:ext cx="237744" cy="91440"/>
          </a:xfrm>
          <a:prstGeom prst="rightArrow">
            <a:avLst/>
          </a:prstGeom>
          <a:solidFill>
            <a:srgbClr val="305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94295" y="1600200"/>
            <a:ext cx="2084831" cy="914400"/>
          </a:xfrm>
          <a:prstGeom prst="roundRect">
            <a:avLst/>
          </a:prstGeom>
          <a:solidFill>
            <a:srgbClr val="EBF1F9"/>
          </a:solidFill>
          <a:ln w="8890">
            <a:solidFill>
              <a:srgbClr val="1C36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100">
                <a:solidFill>
                  <a:srgbClr val="1C3663"/>
                </a:solidFill>
                <a:latin typeface="Calibri"/>
              </a:rPr>
              <a:t>Extensions</a:t>
            </a:r>
          </a:p>
          <a:p>
            <a:pPr algn="ctr"/>
            <a:r>
              <a:rPr sz="900">
                <a:solidFill>
                  <a:srgbClr val="232323"/>
                </a:solidFill>
                <a:latin typeface="Calibri"/>
              </a:rPr>
              <a:t>policy, anchors, external forecasts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9488271" y="2011680"/>
            <a:ext cx="237744" cy="91440"/>
          </a:xfrm>
          <a:prstGeom prst="rightArrow">
            <a:avLst/>
          </a:prstGeom>
          <a:solidFill>
            <a:srgbClr val="305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735159" y="1600200"/>
            <a:ext cx="2084831" cy="914400"/>
          </a:xfrm>
          <a:prstGeom prst="roundRect">
            <a:avLst/>
          </a:prstGeom>
          <a:solidFill>
            <a:srgbClr val="EBF1F9"/>
          </a:solidFill>
          <a:ln w="8890">
            <a:solidFill>
              <a:srgbClr val="1C36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100">
                <a:solidFill>
                  <a:srgbClr val="1C3663"/>
                </a:solidFill>
                <a:latin typeface="Calibri"/>
              </a:rPr>
              <a:t>Conclusion</a:t>
            </a:r>
          </a:p>
          <a:p>
            <a:pPr algn="ctr"/>
            <a:r>
              <a:rPr sz="900">
                <a:solidFill>
                  <a:srgbClr val="232323"/>
                </a:solidFill>
                <a:latin typeface="Calibri"/>
              </a:rPr>
              <a:t>bands · export · share · decide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834640"/>
            <a:ext cx="54864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b="1" sz="1250">
                <a:solidFill>
                  <a:srgbClr val="1C3663"/>
                </a:solidFill>
                <a:latin typeface="Calibri"/>
              </a:rPr>
              <a:t>Why it matters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200400"/>
            <a:ext cx="5760720" cy="2560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250" b="1">
                <a:solidFill>
                  <a:srgbClr val="27744B"/>
                </a:solidFill>
                <a:latin typeface="Calibri"/>
              </a:rPr>
              <a:t>+ </a:t>
            </a:r>
            <a:r>
              <a:rPr sz="1250" b="1">
                <a:solidFill>
                  <a:srgbClr val="1C3663"/>
                </a:solidFill>
                <a:latin typeface="Calibri"/>
              </a:rPr>
              <a:t>Speed</a:t>
            </a:r>
            <a:r>
              <a:rPr sz="1250">
                <a:solidFill>
                  <a:srgbClr val="232323"/>
                </a:solidFill>
                <a:latin typeface="Calibri"/>
              </a:rPr>
              <a:t> — a coherent global “what-if” in an afternoon, not a forecasting round.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250" b="1">
                <a:solidFill>
                  <a:srgbClr val="27744B"/>
                </a:solidFill>
                <a:latin typeface="Calibri"/>
              </a:rPr>
              <a:t>+ </a:t>
            </a:r>
            <a:r>
              <a:rPr sz="1250" b="1">
                <a:solidFill>
                  <a:srgbClr val="1C3663"/>
                </a:solidFill>
                <a:latin typeface="Calibri"/>
              </a:rPr>
              <a:t>Coherence</a:t>
            </a:r>
            <a:r>
              <a:rPr sz="1250">
                <a:solidFill>
                  <a:srgbClr val="232323"/>
                </a:solidFill>
                <a:latin typeface="Calibri"/>
              </a:rPr>
              <a:t> — every number is mutually consistent, at home </a:t>
            </a:r>
            <a:r>
              <a:rPr sz="1250" i="1">
                <a:solidFill>
                  <a:srgbClr val="232323"/>
                </a:solidFill>
                <a:latin typeface="Calibri"/>
              </a:rPr>
              <a:t>and</a:t>
            </a:r>
            <a:r>
              <a:rPr sz="1250">
                <a:solidFill>
                  <a:srgbClr val="232323"/>
                </a:solidFill>
                <a:latin typeface="Calibri"/>
              </a:rPr>
              <a:t> across borders.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250" b="1">
                <a:solidFill>
                  <a:srgbClr val="27744B"/>
                </a:solidFill>
                <a:latin typeface="Calibri"/>
              </a:rPr>
              <a:t>+ </a:t>
            </a:r>
            <a:r>
              <a:rPr sz="1250" b="1">
                <a:solidFill>
                  <a:srgbClr val="1C3663"/>
                </a:solidFill>
                <a:latin typeface="Calibri"/>
              </a:rPr>
              <a:t>Reuse</a:t>
            </a:r>
            <a:r>
              <a:rPr sz="1250">
                <a:solidFill>
                  <a:srgbClr val="232323"/>
                </a:solidFill>
                <a:latin typeface="Calibri"/>
              </a:rPr>
              <a:t> — folds in the forecasts we already produce (WEO, SPF, desk).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834640"/>
            <a:ext cx="53949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b="1" sz="1250">
                <a:solidFill>
                  <a:srgbClr val="1C3663"/>
                </a:solidFill>
                <a:latin typeface="Calibri"/>
              </a:rPr>
              <a:t>What you can ask 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200400"/>
            <a:ext cx="5394960" cy="2560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250" b="1">
                <a:solidFill>
                  <a:srgbClr val="1C3663"/>
                </a:solidFill>
                <a:latin typeface="Calibri"/>
              </a:rPr>
              <a:t>▸ </a:t>
            </a:r>
            <a:r>
              <a:rPr sz="1250">
                <a:solidFill>
                  <a:srgbClr val="232323"/>
                </a:solidFill>
                <a:latin typeface="Calibri"/>
              </a:rPr>
              <a:t>If US growth surprises — who else moves, and by how much?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250" b="1">
                <a:solidFill>
                  <a:srgbClr val="1C3663"/>
                </a:solidFill>
                <a:latin typeface="Calibri"/>
              </a:rPr>
              <a:t>▸ </a:t>
            </a:r>
            <a:r>
              <a:rPr sz="1250">
                <a:solidFill>
                  <a:srgbClr val="232323"/>
                </a:solidFill>
                <a:latin typeface="Calibri"/>
              </a:rPr>
              <a:t>If the Fed holds rates higher for longer, what happens here?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250" b="1">
                <a:solidFill>
                  <a:srgbClr val="1C3663"/>
                </a:solidFill>
                <a:latin typeface="Calibri"/>
              </a:rPr>
              <a:t>▸ </a:t>
            </a:r>
            <a:r>
              <a:rPr sz="1250">
                <a:solidFill>
                  <a:srgbClr val="232323"/>
                </a:solidFill>
                <a:latin typeface="Calibri"/>
              </a:rPr>
              <a:t>If we take the WEO as given, what does it imply for everything else?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C36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0"/>
            <a:ext cx="11612880" cy="7498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900" b="1">
                <a:solidFill>
                  <a:srgbClr val="FFFFFF"/>
                </a:solidFill>
                <a:latin typeface="Calibri"/>
              </a:rPr>
              <a:t>①  Start with the baseline — no inputs, the model’s own read of every economy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003907" y="877824"/>
            <a:ext cx="1417320" cy="310896"/>
          </a:xfrm>
          <a:prstGeom prst="roundRect">
            <a:avLst/>
          </a:prstGeom>
          <a:solidFill>
            <a:srgbClr val="1C3663"/>
          </a:solidFill>
          <a:ln w="7620">
            <a:solidFill>
              <a:srgbClr val="1C36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Baseline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439515" y="992124"/>
            <a:ext cx="237744" cy="82296"/>
          </a:xfrm>
          <a:prstGeom prst="rightArrow">
            <a:avLst/>
          </a:prstGeom>
          <a:solidFill>
            <a:srgbClr val="305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95547" y="877824"/>
            <a:ext cx="1417320" cy="310896"/>
          </a:xfrm>
          <a:prstGeom prst="roundRect">
            <a:avLst/>
          </a:prstGeom>
          <a:solidFill>
            <a:srgbClr val="EBF1F9"/>
          </a:solidFill>
          <a:ln w="7620">
            <a:solidFill>
              <a:srgbClr val="1C36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0">
                <a:solidFill>
                  <a:srgbClr val="1C3663"/>
                </a:solidFill>
                <a:latin typeface="Calibri"/>
              </a:rPr>
              <a:t>Conditioning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131155" y="992124"/>
            <a:ext cx="237744" cy="82296"/>
          </a:xfrm>
          <a:prstGeom prst="rightArrow">
            <a:avLst/>
          </a:prstGeom>
          <a:solidFill>
            <a:srgbClr val="305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387187" y="877824"/>
            <a:ext cx="1417320" cy="310896"/>
          </a:xfrm>
          <a:prstGeom prst="roundRect">
            <a:avLst/>
          </a:prstGeom>
          <a:solidFill>
            <a:srgbClr val="EBF1F9"/>
          </a:solidFill>
          <a:ln w="7620">
            <a:solidFill>
              <a:srgbClr val="1C36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0">
                <a:solidFill>
                  <a:srgbClr val="1C3663"/>
                </a:solidFill>
                <a:latin typeface="Calibri"/>
              </a:rPr>
              <a:t>Global solve</a:t>
            </a:r>
          </a:p>
        </p:txBody>
      </p:sp>
      <p:sp>
        <p:nvSpPr>
          <p:cNvPr id="9" name="Right Arrow 8"/>
          <p:cNvSpPr/>
          <p:nvPr/>
        </p:nvSpPr>
        <p:spPr>
          <a:xfrm>
            <a:off x="6822795" y="992124"/>
            <a:ext cx="237744" cy="82296"/>
          </a:xfrm>
          <a:prstGeom prst="rightArrow">
            <a:avLst/>
          </a:prstGeom>
          <a:solidFill>
            <a:srgbClr val="305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078827" y="877824"/>
            <a:ext cx="1417320" cy="310896"/>
          </a:xfrm>
          <a:prstGeom prst="roundRect">
            <a:avLst/>
          </a:prstGeom>
          <a:solidFill>
            <a:srgbClr val="EBF1F9"/>
          </a:solidFill>
          <a:ln w="7620">
            <a:solidFill>
              <a:srgbClr val="1C36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0">
                <a:solidFill>
                  <a:srgbClr val="1C3663"/>
                </a:solidFill>
                <a:latin typeface="Calibri"/>
              </a:rPr>
              <a:t>Extensions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8514435" y="992124"/>
            <a:ext cx="237744" cy="82296"/>
          </a:xfrm>
          <a:prstGeom prst="rightArrow">
            <a:avLst/>
          </a:prstGeom>
          <a:solidFill>
            <a:srgbClr val="305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770467" y="877824"/>
            <a:ext cx="1417320" cy="310896"/>
          </a:xfrm>
          <a:prstGeom prst="roundRect">
            <a:avLst/>
          </a:prstGeom>
          <a:solidFill>
            <a:srgbClr val="EBF1F9"/>
          </a:solidFill>
          <a:ln w="7620">
            <a:solidFill>
              <a:srgbClr val="1C36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0">
                <a:solidFill>
                  <a:srgbClr val="1C3663"/>
                </a:solidFill>
                <a:latin typeface="Calibri"/>
              </a:rPr>
              <a:t>Conclusion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1371600"/>
            <a:ext cx="103327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2000"/>
              </a:lnSpc>
            </a:pPr>
            <a:r>
              <a:rPr sz="1300" b="1">
                <a:solidFill>
                  <a:srgbClr val="1C3663"/>
                </a:solidFill>
                <a:latin typeface="Calibri"/>
              </a:rPr>
              <a:t>No assumptions required.</a:t>
            </a:r>
            <a:r>
              <a:rPr sz="1300">
                <a:solidFill>
                  <a:srgbClr val="232323"/>
                </a:solidFill>
                <a:latin typeface="Calibri"/>
              </a:rPr>
              <a:t> Each economy is a Bayesian VAR, linked into one global system.</a:t>
            </a:r>
          </a:p>
        </p:txBody>
      </p:sp>
      <p:pic>
        <p:nvPicPr>
          <p:cNvPr id="14" name="Picture 13" descr="s1_macro_tri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7360" y="1874519"/>
            <a:ext cx="8686800" cy="2159146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1737360" y="1874519"/>
            <a:ext cx="8686800" cy="2159146"/>
          </a:xfrm>
          <a:prstGeom prst="roundRect">
            <a:avLst/>
          </a:prstGeom>
          <a:noFill/>
          <a:ln w="9525">
            <a:solidFill>
              <a:srgbClr val="D2D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737360" y="4088530"/>
            <a:ext cx="8686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2000"/>
              </a:lnSpc>
            </a:pPr>
            <a:r>
              <a:rPr sz="1050">
                <a:solidFill>
                  <a:srgbClr val="696969"/>
                </a:solidFill>
                <a:latin typeface="Calibri"/>
              </a:rPr>
              <a:t>US inflation, policy rate and GDP — one consistent forecast, with uncertainty bands.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33872"/>
            <a:ext cx="11277295" cy="841248"/>
          </a:xfrm>
          <a:prstGeom prst="roundRect">
            <a:avLst/>
          </a:prstGeom>
          <a:solidFill>
            <a:srgbClr val="EBF1F9"/>
          </a:solidFill>
          <a:ln w="11430">
            <a:solidFill>
              <a:srgbClr val="1C36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>
              <a:lnSpc>
                <a:spcPct val="102000"/>
              </a:lnSpc>
            </a:pPr>
            <a:r>
              <a:rPr b="1" sz="1400">
                <a:solidFill>
                  <a:srgbClr val="1C3663"/>
                </a:solidFill>
                <a:latin typeface="Calibri"/>
              </a:rPr>
              <a:t>The baseline:  </a:t>
            </a:r>
            <a:r>
              <a:rPr sz="1350">
                <a:solidFill>
                  <a:srgbClr val="232323"/>
                </a:solidFill>
                <a:latin typeface="Calibri"/>
              </a:rPr>
              <a:t>A ready-made, internally consistent forecast for all </a:t>
            </a:r>
            <a:r>
              <a:rPr sz="1350" b="1">
                <a:solidFill>
                  <a:srgbClr val="1C3663"/>
                </a:solidFill>
                <a:latin typeface="Calibri"/>
              </a:rPr>
              <a:t>50 economies</a:t>
            </a:r>
            <a:r>
              <a:rPr sz="1350">
                <a:solidFill>
                  <a:srgbClr val="232323"/>
                </a:solidFill>
                <a:latin typeface="Calibri"/>
              </a:rPr>
              <a:t> — the common starting point every scenario departs from.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C36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0"/>
            <a:ext cx="11612880" cy="7498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900" b="1">
                <a:solidFill>
                  <a:srgbClr val="FFFFFF"/>
                </a:solidFill>
                <a:latin typeface="Calibri"/>
              </a:rPr>
              <a:t>①  Fiscal accounting, built in — the debt path drops out of the same run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003907" y="877824"/>
            <a:ext cx="1417320" cy="310896"/>
          </a:xfrm>
          <a:prstGeom prst="roundRect">
            <a:avLst/>
          </a:prstGeom>
          <a:solidFill>
            <a:srgbClr val="1C3663"/>
          </a:solidFill>
          <a:ln w="7620">
            <a:solidFill>
              <a:srgbClr val="1C36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Baseline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439515" y="992124"/>
            <a:ext cx="237744" cy="82296"/>
          </a:xfrm>
          <a:prstGeom prst="rightArrow">
            <a:avLst/>
          </a:prstGeom>
          <a:solidFill>
            <a:srgbClr val="305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95547" y="877824"/>
            <a:ext cx="1417320" cy="310896"/>
          </a:xfrm>
          <a:prstGeom prst="roundRect">
            <a:avLst/>
          </a:prstGeom>
          <a:solidFill>
            <a:srgbClr val="EBF1F9"/>
          </a:solidFill>
          <a:ln w="7620">
            <a:solidFill>
              <a:srgbClr val="1C36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0">
                <a:solidFill>
                  <a:srgbClr val="1C3663"/>
                </a:solidFill>
                <a:latin typeface="Calibri"/>
              </a:rPr>
              <a:t>Conditioning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131155" y="992124"/>
            <a:ext cx="237744" cy="82296"/>
          </a:xfrm>
          <a:prstGeom prst="rightArrow">
            <a:avLst/>
          </a:prstGeom>
          <a:solidFill>
            <a:srgbClr val="305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387187" y="877824"/>
            <a:ext cx="1417320" cy="310896"/>
          </a:xfrm>
          <a:prstGeom prst="roundRect">
            <a:avLst/>
          </a:prstGeom>
          <a:solidFill>
            <a:srgbClr val="EBF1F9"/>
          </a:solidFill>
          <a:ln w="7620">
            <a:solidFill>
              <a:srgbClr val="1C36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0">
                <a:solidFill>
                  <a:srgbClr val="1C3663"/>
                </a:solidFill>
                <a:latin typeface="Calibri"/>
              </a:rPr>
              <a:t>Global solve</a:t>
            </a:r>
          </a:p>
        </p:txBody>
      </p:sp>
      <p:sp>
        <p:nvSpPr>
          <p:cNvPr id="9" name="Right Arrow 8"/>
          <p:cNvSpPr/>
          <p:nvPr/>
        </p:nvSpPr>
        <p:spPr>
          <a:xfrm>
            <a:off x="6822795" y="992124"/>
            <a:ext cx="237744" cy="82296"/>
          </a:xfrm>
          <a:prstGeom prst="rightArrow">
            <a:avLst/>
          </a:prstGeom>
          <a:solidFill>
            <a:srgbClr val="305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078827" y="877824"/>
            <a:ext cx="1417320" cy="310896"/>
          </a:xfrm>
          <a:prstGeom prst="roundRect">
            <a:avLst/>
          </a:prstGeom>
          <a:solidFill>
            <a:srgbClr val="EBF1F9"/>
          </a:solidFill>
          <a:ln w="7620">
            <a:solidFill>
              <a:srgbClr val="1C36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0">
                <a:solidFill>
                  <a:srgbClr val="1C3663"/>
                </a:solidFill>
                <a:latin typeface="Calibri"/>
              </a:rPr>
              <a:t>Extensions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8514435" y="992124"/>
            <a:ext cx="237744" cy="82296"/>
          </a:xfrm>
          <a:prstGeom prst="rightArrow">
            <a:avLst/>
          </a:prstGeom>
          <a:solidFill>
            <a:srgbClr val="305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770467" y="877824"/>
            <a:ext cx="1417320" cy="310896"/>
          </a:xfrm>
          <a:prstGeom prst="roundRect">
            <a:avLst/>
          </a:prstGeom>
          <a:solidFill>
            <a:srgbClr val="EBF1F9"/>
          </a:solidFill>
          <a:ln w="7620">
            <a:solidFill>
              <a:srgbClr val="1C36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0">
                <a:solidFill>
                  <a:srgbClr val="1C3663"/>
                </a:solidFill>
                <a:latin typeface="Calibri"/>
              </a:rPr>
              <a:t>Conclusion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554480"/>
            <a:ext cx="5171846" cy="32918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>
              <a:lnSpc>
                <a:spcPct val="102000"/>
              </a:lnSpc>
              <a:spcAft>
                <a:spcPts val="800"/>
              </a:spcAft>
            </a:pPr>
            <a:r>
              <a:rPr sz="1300">
                <a:solidFill>
                  <a:srgbClr val="232323"/>
                </a:solidFill>
                <a:latin typeface="Calibri"/>
              </a:rPr>
              <a:t>Revenue, spending, the interest bill and the deficit are projected </a:t>
            </a:r>
            <a:r>
              <a:rPr sz="1300" b="1">
                <a:solidFill>
                  <a:srgbClr val="1C3663"/>
                </a:solidFill>
                <a:latin typeface="Calibri"/>
              </a:rPr>
              <a:t>together</a:t>
            </a:r>
            <a:r>
              <a:rPr sz="1300">
                <a:solidFill>
                  <a:srgbClr val="232323"/>
                </a:solidFill>
                <a:latin typeface="Calibri"/>
              </a:rPr>
              <a:t> — and debt-to-GDP follows from the </a:t>
            </a:r>
            <a:r>
              <a:rPr sz="1300" b="1">
                <a:solidFill>
                  <a:srgbClr val="1C3663"/>
                </a:solidFill>
                <a:latin typeface="Calibri"/>
              </a:rPr>
              <a:t>budget identity</a:t>
            </a:r>
            <a:r>
              <a:rPr sz="1300">
                <a:solidFill>
                  <a:srgbClr val="232323"/>
                </a:solidFill>
                <a:latin typeface="Calibri"/>
              </a:rPr>
              <a:t>.</a:t>
            </a:r>
          </a:p>
          <a:p>
            <a:pPr>
              <a:lnSpc>
                <a:spcPct val="102000"/>
              </a:lnSpc>
              <a:spcAft>
                <a:spcPts val="800"/>
              </a:spcAft>
            </a:pPr>
            <a:r>
              <a:rPr sz="1300">
                <a:solidFill>
                  <a:srgbClr val="232323"/>
                </a:solidFill>
                <a:latin typeface="Calibri"/>
              </a:rPr>
              <a:t>No separate spreadsheet: the fiscal story is </a:t>
            </a:r>
            <a:r>
              <a:rPr sz="1300" b="1">
                <a:solidFill>
                  <a:srgbClr val="1C3663"/>
                </a:solidFill>
                <a:latin typeface="Calibri"/>
              </a:rPr>
              <a:t>consistent with the macro forecast by construction</a:t>
            </a:r>
            <a:r>
              <a:rPr sz="1300">
                <a:solidFill>
                  <a:srgbClr val="232323"/>
                </a:solidFill>
                <a:latin typeface="Calibri"/>
              </a:rPr>
              <a:t>.</a:t>
            </a:r>
          </a:p>
        </p:txBody>
      </p:sp>
      <p:pic>
        <p:nvPicPr>
          <p:cNvPr id="14" name="Picture 13" descr="s1_debt_gd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1790" y="1600200"/>
            <a:ext cx="5165719" cy="283967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6281790" y="1600200"/>
            <a:ext cx="5165719" cy="2839670"/>
          </a:xfrm>
          <a:prstGeom prst="roundRect">
            <a:avLst/>
          </a:prstGeom>
          <a:noFill/>
          <a:ln w="9525">
            <a:solidFill>
              <a:srgbClr val="D2D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94806" y="4513022"/>
            <a:ext cx="5739688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2000"/>
              </a:lnSpc>
            </a:pPr>
            <a:r>
              <a:rPr sz="1050">
                <a:solidFill>
                  <a:srgbClr val="696969"/>
                </a:solidFill>
                <a:latin typeface="Calibri"/>
              </a:rPr>
              <a:t>US debt-to-GDP rises to  143% by 2031, with band.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33872"/>
            <a:ext cx="11277295" cy="841248"/>
          </a:xfrm>
          <a:prstGeom prst="roundRect">
            <a:avLst/>
          </a:prstGeom>
          <a:solidFill>
            <a:srgbClr val="EBF1F9"/>
          </a:solidFill>
          <a:ln w="11430">
            <a:solidFill>
              <a:srgbClr val="1C36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>
              <a:lnSpc>
                <a:spcPct val="102000"/>
              </a:lnSpc>
            </a:pPr>
            <a:r>
              <a:rPr b="1" sz="1400">
                <a:solidFill>
                  <a:srgbClr val="1C3663"/>
                </a:solidFill>
                <a:latin typeface="Calibri"/>
              </a:rPr>
              <a:t>Why it matters:  </a:t>
            </a:r>
            <a:r>
              <a:rPr sz="1350">
                <a:solidFill>
                  <a:srgbClr val="232323"/>
                </a:solidFill>
                <a:latin typeface="Calibri"/>
              </a:rPr>
              <a:t>Debt sustainability drops out of the </a:t>
            </a:r>
            <a:r>
              <a:rPr sz="1350" i="1">
                <a:solidFill>
                  <a:srgbClr val="232323"/>
                </a:solidFill>
                <a:latin typeface="Calibri"/>
              </a:rPr>
              <a:t>same</a:t>
            </a:r>
            <a:r>
              <a:rPr sz="1350">
                <a:solidFill>
                  <a:srgbClr val="232323"/>
                </a:solidFill>
                <a:latin typeface="Calibri"/>
              </a:rPr>
              <a:t> run — the macro and fiscal stories can never contradict each other.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200400"/>
            <a:ext cx="5029200" cy="1371600"/>
          </a:xfrm>
          <a:prstGeom prst="roundRect">
            <a:avLst/>
          </a:prstGeom>
          <a:solidFill>
            <a:srgbClr val="F4F5F7"/>
          </a:solidFill>
          <a:ln w="9525">
            <a:solidFill>
              <a:srgbClr val="D2D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" y="3291840"/>
            <a:ext cx="4754880" cy="292608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r>
              <a:rPr sz="1150" b="1" i="0">
                <a:solidFill>
                  <a:srgbClr val="1C3663"/>
                </a:solidFill>
                <a:latin typeface="Calibri"/>
              </a:rPr>
              <a:t>The debt dynamics, one line: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621024"/>
            <a:ext cx="5010912" cy="502920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ctr"/>
            <a:r>
              <a:rPr sz="1700" i="1">
                <a:solidFill>
                  <a:srgbClr val="232323"/>
                </a:solidFill>
                <a:latin typeface="Cambria Math"/>
              </a:rPr>
              <a:t>d</a:t>
            </a:r>
            <a:r>
              <a:rPr sz="1700" i="0" baseline="-25000">
                <a:solidFill>
                  <a:srgbClr val="232323"/>
                </a:solidFill>
                <a:latin typeface="Cambria Math"/>
              </a:rPr>
              <a:t>t</a:t>
            </a:r>
            <a:r>
              <a:rPr sz="1700" i="0">
                <a:solidFill>
                  <a:srgbClr val="232323"/>
                </a:solidFill>
                <a:latin typeface="Cambria Math"/>
              </a:rPr>
              <a:t>  =  </a:t>
            </a:r>
            <a:r>
              <a:rPr sz="1700" i="1">
                <a:solidFill>
                  <a:srgbClr val="232323"/>
                </a:solidFill>
                <a:latin typeface="Cambria Math"/>
              </a:rPr>
              <a:t>d</a:t>
            </a:r>
            <a:r>
              <a:rPr sz="1700" i="0" baseline="-25000">
                <a:solidFill>
                  <a:srgbClr val="232323"/>
                </a:solidFill>
                <a:latin typeface="Cambria Math"/>
              </a:rPr>
              <a:t>t−1</a:t>
            </a:r>
            <a:r>
              <a:rPr sz="1700" i="0">
                <a:solidFill>
                  <a:srgbClr val="232323"/>
                </a:solidFill>
                <a:latin typeface="Cambria Math"/>
              </a:rPr>
              <a:t> · </a:t>
            </a:r>
            <a:r>
              <a:rPr sz="1700" i="0">
                <a:solidFill>
                  <a:srgbClr val="232323"/>
                </a:solidFill>
                <a:latin typeface="Cambria Math"/>
              </a:rPr>
              <a:t>(1+</a:t>
            </a:r>
            <a:r>
              <a:rPr sz="1700" i="1">
                <a:solidFill>
                  <a:srgbClr val="232323"/>
                </a:solidFill>
                <a:latin typeface="Cambria Math"/>
              </a:rPr>
              <a:t>i</a:t>
            </a:r>
            <a:r>
              <a:rPr sz="1700" i="0" baseline="-25000">
                <a:solidFill>
                  <a:srgbClr val="232323"/>
                </a:solidFill>
                <a:latin typeface="Cambria Math"/>
              </a:rPr>
              <a:t>t</a:t>
            </a:r>
            <a:r>
              <a:rPr sz="1700" i="0">
                <a:solidFill>
                  <a:srgbClr val="232323"/>
                </a:solidFill>
                <a:latin typeface="Cambria Math"/>
              </a:rPr>
              <a:t>) / (1+</a:t>
            </a:r>
            <a:r>
              <a:rPr sz="1700" i="1">
                <a:solidFill>
                  <a:srgbClr val="232323"/>
                </a:solidFill>
                <a:latin typeface="Cambria Math"/>
              </a:rPr>
              <a:t>g</a:t>
            </a:r>
            <a:r>
              <a:rPr sz="1700" i="0" baseline="-25000">
                <a:solidFill>
                  <a:srgbClr val="232323"/>
                </a:solidFill>
                <a:latin typeface="Cambria Math"/>
              </a:rPr>
              <a:t>t</a:t>
            </a:r>
            <a:r>
              <a:rPr sz="1700" i="0">
                <a:solidFill>
                  <a:srgbClr val="232323"/>
                </a:solidFill>
                <a:latin typeface="Cambria Math"/>
              </a:rPr>
              <a:t>)</a:t>
            </a:r>
            <a:r>
              <a:rPr sz="1700" i="0">
                <a:solidFill>
                  <a:srgbClr val="232323"/>
                </a:solidFill>
                <a:latin typeface="Cambria Math"/>
              </a:rPr>
              <a:t>  −  </a:t>
            </a:r>
            <a:r>
              <a:rPr sz="1700" i="1">
                <a:solidFill>
                  <a:srgbClr val="232323"/>
                </a:solidFill>
                <a:latin typeface="Cambria Math"/>
              </a:rPr>
              <a:t>pb</a:t>
            </a:r>
            <a:r>
              <a:rPr sz="1700" i="0" baseline="-25000">
                <a:solidFill>
                  <a:srgbClr val="232323"/>
                </a:solidFill>
                <a:latin typeface="Cambria Math"/>
              </a:rPr>
              <a:t>t</a:t>
            </a:r>
            <a:r>
              <a:rPr sz="1700" i="0">
                <a:solidFill>
                  <a:srgbClr val="232323"/>
                </a:solidFill>
                <a:latin typeface="Cambria Math"/>
              </a:rPr>
              <a:t>  +  </a:t>
            </a:r>
            <a:r>
              <a:rPr sz="1700" i="1">
                <a:solidFill>
                  <a:srgbClr val="232323"/>
                </a:solidFill>
                <a:latin typeface="Cambria Math"/>
              </a:rPr>
              <a:t>sfa</a:t>
            </a:r>
            <a:r>
              <a:rPr sz="1700" i="0" baseline="-25000">
                <a:solidFill>
                  <a:srgbClr val="232323"/>
                </a:solidFill>
                <a:latin typeface="Cambria Math"/>
              </a:rPr>
              <a:t>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151376"/>
            <a:ext cx="4846320" cy="36576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ctr"/>
            <a:r>
              <a:rPr sz="869" b="0" i="0">
                <a:solidFill>
                  <a:srgbClr val="696969"/>
                </a:solidFill>
                <a:latin typeface="Calibri"/>
              </a:rPr>
              <a:t>d = debt/GDP · i = eff. interest rate · g = nominal GDP growth · pb = primary balance · sfa = stock-flow adj.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C36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0"/>
            <a:ext cx="11612880" cy="7498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900" b="1">
                <a:solidFill>
                  <a:srgbClr val="FFFFFF"/>
                </a:solidFill>
                <a:latin typeface="Calibri"/>
              </a:rPr>
              <a:t>②  Tell it what you believe — the model works out the rest, consistently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003907" y="877824"/>
            <a:ext cx="1417320" cy="310896"/>
          </a:xfrm>
          <a:prstGeom prst="roundRect">
            <a:avLst/>
          </a:prstGeom>
          <a:solidFill>
            <a:srgbClr val="EBF1F9"/>
          </a:solidFill>
          <a:ln w="7620">
            <a:solidFill>
              <a:srgbClr val="1C36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0">
                <a:solidFill>
                  <a:srgbClr val="1C3663"/>
                </a:solidFill>
                <a:latin typeface="Calibri"/>
              </a:rPr>
              <a:t>Baseline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439515" y="992124"/>
            <a:ext cx="237744" cy="82296"/>
          </a:xfrm>
          <a:prstGeom prst="rightArrow">
            <a:avLst/>
          </a:prstGeom>
          <a:solidFill>
            <a:srgbClr val="305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95547" y="877824"/>
            <a:ext cx="1417320" cy="310896"/>
          </a:xfrm>
          <a:prstGeom prst="roundRect">
            <a:avLst/>
          </a:prstGeom>
          <a:solidFill>
            <a:srgbClr val="1C3663"/>
          </a:solidFill>
          <a:ln w="7620">
            <a:solidFill>
              <a:srgbClr val="1C36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Conditioning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131155" y="992124"/>
            <a:ext cx="237744" cy="82296"/>
          </a:xfrm>
          <a:prstGeom prst="rightArrow">
            <a:avLst/>
          </a:prstGeom>
          <a:solidFill>
            <a:srgbClr val="305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387187" y="877824"/>
            <a:ext cx="1417320" cy="310896"/>
          </a:xfrm>
          <a:prstGeom prst="roundRect">
            <a:avLst/>
          </a:prstGeom>
          <a:solidFill>
            <a:srgbClr val="EBF1F9"/>
          </a:solidFill>
          <a:ln w="7620">
            <a:solidFill>
              <a:srgbClr val="1C36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0">
                <a:solidFill>
                  <a:srgbClr val="1C3663"/>
                </a:solidFill>
                <a:latin typeface="Calibri"/>
              </a:rPr>
              <a:t>Global solve</a:t>
            </a:r>
          </a:p>
        </p:txBody>
      </p:sp>
      <p:sp>
        <p:nvSpPr>
          <p:cNvPr id="9" name="Right Arrow 8"/>
          <p:cNvSpPr/>
          <p:nvPr/>
        </p:nvSpPr>
        <p:spPr>
          <a:xfrm>
            <a:off x="6822795" y="992124"/>
            <a:ext cx="237744" cy="82296"/>
          </a:xfrm>
          <a:prstGeom prst="rightArrow">
            <a:avLst/>
          </a:prstGeom>
          <a:solidFill>
            <a:srgbClr val="305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078827" y="877824"/>
            <a:ext cx="1417320" cy="310896"/>
          </a:xfrm>
          <a:prstGeom prst="roundRect">
            <a:avLst/>
          </a:prstGeom>
          <a:solidFill>
            <a:srgbClr val="EBF1F9"/>
          </a:solidFill>
          <a:ln w="7620">
            <a:solidFill>
              <a:srgbClr val="1C36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0">
                <a:solidFill>
                  <a:srgbClr val="1C3663"/>
                </a:solidFill>
                <a:latin typeface="Calibri"/>
              </a:rPr>
              <a:t>Extensions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8514435" y="992124"/>
            <a:ext cx="237744" cy="82296"/>
          </a:xfrm>
          <a:prstGeom prst="rightArrow">
            <a:avLst/>
          </a:prstGeom>
          <a:solidFill>
            <a:srgbClr val="305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770467" y="877824"/>
            <a:ext cx="1417320" cy="310896"/>
          </a:xfrm>
          <a:prstGeom prst="roundRect">
            <a:avLst/>
          </a:prstGeom>
          <a:solidFill>
            <a:srgbClr val="EBF1F9"/>
          </a:solidFill>
          <a:ln w="7620">
            <a:solidFill>
              <a:srgbClr val="1C36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0">
                <a:solidFill>
                  <a:srgbClr val="1C3663"/>
                </a:solidFill>
                <a:latin typeface="Calibri"/>
              </a:rPr>
              <a:t>Conclusion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463040"/>
            <a:ext cx="54864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b="1" sz="1400">
                <a:solidFill>
                  <a:srgbClr val="1C3663"/>
                </a:solidFill>
                <a:latin typeface="Calibri"/>
              </a:rPr>
              <a:t>You pin</a:t>
            </a:r>
          </a:p>
        </p:txBody>
      </p:sp>
      <p:pic>
        <p:nvPicPr>
          <p:cNvPr id="14" name="Picture 13" descr="fig_energy_o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1874519"/>
            <a:ext cx="4297680" cy="2062886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1280160" y="1874519"/>
            <a:ext cx="4297680" cy="2062886"/>
          </a:xfrm>
          <a:prstGeom prst="roundRect">
            <a:avLst/>
          </a:prstGeom>
          <a:noFill/>
          <a:ln w="9525">
            <a:solidFill>
              <a:srgbClr val="D2D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992270"/>
            <a:ext cx="5486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2000"/>
              </a:lnSpc>
            </a:pPr>
            <a:r>
              <a:rPr sz="1050">
                <a:solidFill>
                  <a:srgbClr val="696969"/>
                </a:solidFill>
                <a:latin typeface="Calibri"/>
              </a:rPr>
              <a:t>An oil-price path — the size and shape of the spike.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1463040"/>
            <a:ext cx="54864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b="1" sz="1400">
                <a:solidFill>
                  <a:srgbClr val="1C3663"/>
                </a:solidFill>
                <a:latin typeface="Calibri"/>
              </a:rPr>
              <a:t>Out comes</a:t>
            </a:r>
          </a:p>
        </p:txBody>
      </p:sp>
      <p:pic>
        <p:nvPicPr>
          <p:cNvPr id="18" name="Picture 17" descr="fig_energy_mac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874519"/>
            <a:ext cx="4297680" cy="2372319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6858000" y="1874519"/>
            <a:ext cx="4297680" cy="2372319"/>
          </a:xfrm>
          <a:prstGeom prst="roundRect">
            <a:avLst/>
          </a:prstGeom>
          <a:noFill/>
          <a:ln w="9525">
            <a:solidFill>
              <a:srgbClr val="D2D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0" y="4301703"/>
            <a:ext cx="5486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2000"/>
              </a:lnSpc>
            </a:pPr>
            <a:r>
              <a:rPr sz="1050">
                <a:solidFill>
                  <a:srgbClr val="696969"/>
                </a:solidFill>
                <a:latin typeface="Calibri"/>
              </a:rPr>
              <a:t>US stagflation: </a:t>
            </a:r>
            <a:r>
              <a:rPr sz="1050" b="1">
                <a:solidFill>
                  <a:srgbClr val="1C3663"/>
                </a:solidFill>
                <a:latin typeface="Calibri"/>
              </a:rPr>
              <a:t>prices up, output down</a:t>
            </a:r>
            <a:r>
              <a:rPr sz="1050">
                <a:solidFill>
                  <a:srgbClr val="696969"/>
                </a:solidFill>
                <a:latin typeface="Calibri"/>
              </a:rPr>
              <a:t>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5833872"/>
            <a:ext cx="11277295" cy="841248"/>
          </a:xfrm>
          <a:prstGeom prst="roundRect">
            <a:avLst/>
          </a:prstGeom>
          <a:solidFill>
            <a:srgbClr val="EBF1F9"/>
          </a:solidFill>
          <a:ln w="11430">
            <a:solidFill>
              <a:srgbClr val="1C36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>
              <a:lnSpc>
                <a:spcPct val="102000"/>
              </a:lnSpc>
            </a:pPr>
            <a:r>
              <a:rPr b="1" sz="1400">
                <a:solidFill>
                  <a:srgbClr val="1C3663"/>
                </a:solidFill>
                <a:latin typeface="Calibri"/>
              </a:rPr>
              <a:t>The power move:  </a:t>
            </a:r>
            <a:r>
              <a:rPr sz="1350">
                <a:solidFill>
                  <a:srgbClr val="232323"/>
                </a:solidFill>
                <a:latin typeface="Calibri"/>
              </a:rPr>
              <a:t>State a couple of things you believe — the model works out a </a:t>
            </a:r>
            <a:r>
              <a:rPr sz="1350" b="1">
                <a:solidFill>
                  <a:srgbClr val="1C3663"/>
                </a:solidFill>
                <a:latin typeface="Calibri"/>
              </a:rPr>
              <a:t>full, model-consistent response</a:t>
            </a:r>
            <a:r>
              <a:rPr sz="1350">
                <a:solidFill>
                  <a:srgbClr val="232323"/>
                </a:solidFill>
                <a:latin typeface="Calibri"/>
              </a:rPr>
              <a:t> across every variable, no re-estimation.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C36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0"/>
            <a:ext cx="11612880" cy="7498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900" b="1">
                <a:solidFill>
                  <a:srgbClr val="FFFFFF"/>
                </a:solidFill>
                <a:latin typeface="Calibri"/>
              </a:rPr>
              <a:t>②  Another shock, the same move — a credit crunch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003907" y="877824"/>
            <a:ext cx="1417320" cy="310896"/>
          </a:xfrm>
          <a:prstGeom prst="roundRect">
            <a:avLst/>
          </a:prstGeom>
          <a:solidFill>
            <a:srgbClr val="EBF1F9"/>
          </a:solidFill>
          <a:ln w="7620">
            <a:solidFill>
              <a:srgbClr val="1C36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0">
                <a:solidFill>
                  <a:srgbClr val="1C3663"/>
                </a:solidFill>
                <a:latin typeface="Calibri"/>
              </a:rPr>
              <a:t>Baseline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439515" y="992124"/>
            <a:ext cx="237744" cy="82296"/>
          </a:xfrm>
          <a:prstGeom prst="rightArrow">
            <a:avLst/>
          </a:prstGeom>
          <a:solidFill>
            <a:srgbClr val="305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95547" y="877824"/>
            <a:ext cx="1417320" cy="310896"/>
          </a:xfrm>
          <a:prstGeom prst="roundRect">
            <a:avLst/>
          </a:prstGeom>
          <a:solidFill>
            <a:srgbClr val="1C3663"/>
          </a:solidFill>
          <a:ln w="7620">
            <a:solidFill>
              <a:srgbClr val="1C36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Conditioning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131155" y="992124"/>
            <a:ext cx="237744" cy="82296"/>
          </a:xfrm>
          <a:prstGeom prst="rightArrow">
            <a:avLst/>
          </a:prstGeom>
          <a:solidFill>
            <a:srgbClr val="305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387187" y="877824"/>
            <a:ext cx="1417320" cy="310896"/>
          </a:xfrm>
          <a:prstGeom prst="roundRect">
            <a:avLst/>
          </a:prstGeom>
          <a:solidFill>
            <a:srgbClr val="EBF1F9"/>
          </a:solidFill>
          <a:ln w="7620">
            <a:solidFill>
              <a:srgbClr val="1C36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0">
                <a:solidFill>
                  <a:srgbClr val="1C3663"/>
                </a:solidFill>
                <a:latin typeface="Calibri"/>
              </a:rPr>
              <a:t>Global solve</a:t>
            </a:r>
          </a:p>
        </p:txBody>
      </p:sp>
      <p:sp>
        <p:nvSpPr>
          <p:cNvPr id="9" name="Right Arrow 8"/>
          <p:cNvSpPr/>
          <p:nvPr/>
        </p:nvSpPr>
        <p:spPr>
          <a:xfrm>
            <a:off x="6822795" y="992124"/>
            <a:ext cx="237744" cy="82296"/>
          </a:xfrm>
          <a:prstGeom prst="rightArrow">
            <a:avLst/>
          </a:prstGeom>
          <a:solidFill>
            <a:srgbClr val="305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078827" y="877824"/>
            <a:ext cx="1417320" cy="310896"/>
          </a:xfrm>
          <a:prstGeom prst="roundRect">
            <a:avLst/>
          </a:prstGeom>
          <a:solidFill>
            <a:srgbClr val="EBF1F9"/>
          </a:solidFill>
          <a:ln w="7620">
            <a:solidFill>
              <a:srgbClr val="1C36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0">
                <a:solidFill>
                  <a:srgbClr val="1C3663"/>
                </a:solidFill>
                <a:latin typeface="Calibri"/>
              </a:rPr>
              <a:t>Extensions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8514435" y="992124"/>
            <a:ext cx="237744" cy="82296"/>
          </a:xfrm>
          <a:prstGeom prst="rightArrow">
            <a:avLst/>
          </a:prstGeom>
          <a:solidFill>
            <a:srgbClr val="305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770467" y="877824"/>
            <a:ext cx="1417320" cy="310896"/>
          </a:xfrm>
          <a:prstGeom prst="roundRect">
            <a:avLst/>
          </a:prstGeom>
          <a:solidFill>
            <a:srgbClr val="EBF1F9"/>
          </a:solidFill>
          <a:ln w="7620">
            <a:solidFill>
              <a:srgbClr val="1C36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0">
                <a:solidFill>
                  <a:srgbClr val="1C3663"/>
                </a:solidFill>
                <a:latin typeface="Calibri"/>
              </a:rPr>
              <a:t>Conclusion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417320"/>
            <a:ext cx="4945075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b="1" sz="1250">
                <a:solidFill>
                  <a:srgbClr val="1C3663"/>
                </a:solidFill>
                <a:latin typeface="Calibri"/>
              </a:rPr>
              <a:t>Recipe · Credit crunch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1783080"/>
            <a:ext cx="4945075" cy="32918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300" b="1">
                <a:solidFill>
                  <a:srgbClr val="1C3663"/>
                </a:solidFill>
                <a:latin typeface="Calibri"/>
              </a:rPr>
              <a:t>1. </a:t>
            </a:r>
            <a:r>
              <a:rPr sz="1300">
                <a:solidFill>
                  <a:srgbClr val="232323"/>
                </a:solidFill>
                <a:latin typeface="Calibri"/>
              </a:rPr>
              <a:t>Pin </a:t>
            </a:r>
            <a:r>
              <a:rPr sz="1300" b="1">
                <a:solidFill>
                  <a:srgbClr val="1C3663"/>
                </a:solidFill>
                <a:latin typeface="Calibri"/>
              </a:rPr>
              <a:t>spreads jump</a:t>
            </a:r>
            <a:r>
              <a:rPr sz="1300">
                <a:solidFill>
                  <a:srgbClr val="232323"/>
                </a:solidFill>
                <a:latin typeface="Calibri"/>
              </a:rPr>
              <a:t>.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300" b="1">
                <a:solidFill>
                  <a:srgbClr val="1C3663"/>
                </a:solidFill>
                <a:latin typeface="Calibri"/>
              </a:rPr>
              <a:t>2. </a:t>
            </a:r>
            <a:r>
              <a:rPr sz="1300">
                <a:solidFill>
                  <a:srgbClr val="232323"/>
                </a:solidFill>
                <a:latin typeface="Calibri"/>
              </a:rPr>
              <a:t>Pin </a:t>
            </a:r>
            <a:r>
              <a:rPr sz="1300" b="1">
                <a:solidFill>
                  <a:srgbClr val="1C3663"/>
                </a:solidFill>
                <a:latin typeface="Calibri"/>
              </a:rPr>
              <a:t>lending falls</a:t>
            </a:r>
            <a:r>
              <a:rPr sz="1300">
                <a:solidFill>
                  <a:srgbClr val="232323"/>
                </a:solidFill>
                <a:latin typeface="Calibri"/>
              </a:rPr>
              <a:t>.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300">
                <a:solidFill>
                  <a:srgbClr val="232323"/>
                </a:solidFill>
                <a:latin typeface="Calibri"/>
              </a:rPr>
              <a:t>Two pins in; the model works out a </a:t>
            </a:r>
            <a:r>
              <a:rPr sz="1300" b="1">
                <a:solidFill>
                  <a:srgbClr val="1C3663"/>
                </a:solidFill>
                <a:latin typeface="Calibri"/>
              </a:rPr>
              <a:t>full, coherent response</a:t>
            </a:r>
            <a:r>
              <a:rPr sz="1300">
                <a:solidFill>
                  <a:srgbClr val="232323"/>
                </a:solidFill>
                <a:latin typeface="Calibri"/>
              </a:rPr>
              <a:t> across every variable.</a:t>
            </a:r>
          </a:p>
        </p:txBody>
      </p:sp>
      <p:pic>
        <p:nvPicPr>
          <p:cNvPr id="15" name="Picture 14" descr="fig_credit_mac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6693" y="1600200"/>
            <a:ext cx="5489143" cy="3030007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6006693" y="1600200"/>
            <a:ext cx="5489143" cy="3030007"/>
          </a:xfrm>
          <a:prstGeom prst="roundRect">
            <a:avLst/>
          </a:prstGeom>
          <a:noFill/>
          <a:ln w="9525">
            <a:solidFill>
              <a:srgbClr val="D2D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68035" y="4703359"/>
            <a:ext cx="59664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2000"/>
              </a:lnSpc>
            </a:pPr>
            <a:r>
              <a:rPr sz="1050">
                <a:solidFill>
                  <a:srgbClr val="696969"/>
                </a:solidFill>
                <a:latin typeface="Calibri"/>
              </a:rPr>
              <a:t>US GDP response to the two credit pins, with bands.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833872"/>
            <a:ext cx="11277295" cy="841248"/>
          </a:xfrm>
          <a:prstGeom prst="roundRect">
            <a:avLst/>
          </a:prstGeom>
          <a:solidFill>
            <a:srgbClr val="EBF1F9"/>
          </a:solidFill>
          <a:ln w="11430">
            <a:solidFill>
              <a:srgbClr val="1C36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>
              <a:lnSpc>
                <a:spcPct val="102000"/>
              </a:lnSpc>
            </a:pPr>
            <a:r>
              <a:rPr b="1" sz="1400">
                <a:solidFill>
                  <a:srgbClr val="1C3663"/>
                </a:solidFill>
                <a:latin typeface="Calibri"/>
              </a:rPr>
              <a:t>Fit the pins to the story:  </a:t>
            </a:r>
            <a:r>
              <a:rPr sz="1350">
                <a:solidFill>
                  <a:srgbClr val="232323"/>
                </a:solidFill>
                <a:latin typeface="Calibri"/>
              </a:rPr>
              <a:t>Two pins for a crunch, a few more for a richer scenario — either way the model keeps everything else </a:t>
            </a:r>
            <a:r>
              <a:rPr sz="1350" i="1">
                <a:solidFill>
                  <a:srgbClr val="232323"/>
                </a:solidFill>
                <a:latin typeface="Calibri"/>
              </a:rPr>
              <a:t>consistent</a:t>
            </a:r>
            <a:r>
              <a:rPr sz="1350">
                <a:solidFill>
                  <a:srgbClr val="232323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C36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0"/>
            <a:ext cx="11612880" cy="7498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900" b="1">
                <a:solidFill>
                  <a:srgbClr val="FFFFFF"/>
                </a:solidFill>
                <a:latin typeface="Calibri"/>
              </a:rPr>
              <a:t>③  A shock abroad, a hit at home — the part a country-only read cannot see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003907" y="877824"/>
            <a:ext cx="1417320" cy="310896"/>
          </a:xfrm>
          <a:prstGeom prst="roundRect">
            <a:avLst/>
          </a:prstGeom>
          <a:solidFill>
            <a:srgbClr val="EBF1F9"/>
          </a:solidFill>
          <a:ln w="7620">
            <a:solidFill>
              <a:srgbClr val="1C36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0">
                <a:solidFill>
                  <a:srgbClr val="1C3663"/>
                </a:solidFill>
                <a:latin typeface="Calibri"/>
              </a:rPr>
              <a:t>Baseline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439515" y="992124"/>
            <a:ext cx="237744" cy="82296"/>
          </a:xfrm>
          <a:prstGeom prst="rightArrow">
            <a:avLst/>
          </a:prstGeom>
          <a:solidFill>
            <a:srgbClr val="305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95547" y="877824"/>
            <a:ext cx="1417320" cy="310896"/>
          </a:xfrm>
          <a:prstGeom prst="roundRect">
            <a:avLst/>
          </a:prstGeom>
          <a:solidFill>
            <a:srgbClr val="EBF1F9"/>
          </a:solidFill>
          <a:ln w="7620">
            <a:solidFill>
              <a:srgbClr val="1C36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0">
                <a:solidFill>
                  <a:srgbClr val="1C3663"/>
                </a:solidFill>
                <a:latin typeface="Calibri"/>
              </a:rPr>
              <a:t>Conditioning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131155" y="992124"/>
            <a:ext cx="237744" cy="82296"/>
          </a:xfrm>
          <a:prstGeom prst="rightArrow">
            <a:avLst/>
          </a:prstGeom>
          <a:solidFill>
            <a:srgbClr val="305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387187" y="877824"/>
            <a:ext cx="1417320" cy="310896"/>
          </a:xfrm>
          <a:prstGeom prst="roundRect">
            <a:avLst/>
          </a:prstGeom>
          <a:solidFill>
            <a:srgbClr val="1C3663"/>
          </a:solidFill>
          <a:ln w="7620">
            <a:solidFill>
              <a:srgbClr val="1C36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Global solve</a:t>
            </a:r>
          </a:p>
        </p:txBody>
      </p:sp>
      <p:sp>
        <p:nvSpPr>
          <p:cNvPr id="9" name="Right Arrow 8"/>
          <p:cNvSpPr/>
          <p:nvPr/>
        </p:nvSpPr>
        <p:spPr>
          <a:xfrm>
            <a:off x="6822795" y="992124"/>
            <a:ext cx="237744" cy="82296"/>
          </a:xfrm>
          <a:prstGeom prst="rightArrow">
            <a:avLst/>
          </a:prstGeom>
          <a:solidFill>
            <a:srgbClr val="305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078827" y="877824"/>
            <a:ext cx="1417320" cy="310896"/>
          </a:xfrm>
          <a:prstGeom prst="roundRect">
            <a:avLst/>
          </a:prstGeom>
          <a:solidFill>
            <a:srgbClr val="EBF1F9"/>
          </a:solidFill>
          <a:ln w="7620">
            <a:solidFill>
              <a:srgbClr val="1C36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0">
                <a:solidFill>
                  <a:srgbClr val="1C3663"/>
                </a:solidFill>
                <a:latin typeface="Calibri"/>
              </a:rPr>
              <a:t>Extensions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8514435" y="992124"/>
            <a:ext cx="237744" cy="82296"/>
          </a:xfrm>
          <a:prstGeom prst="rightArrow">
            <a:avLst/>
          </a:prstGeom>
          <a:solidFill>
            <a:srgbClr val="305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770467" y="877824"/>
            <a:ext cx="1417320" cy="310896"/>
          </a:xfrm>
          <a:prstGeom prst="roundRect">
            <a:avLst/>
          </a:prstGeom>
          <a:solidFill>
            <a:srgbClr val="EBF1F9"/>
          </a:solidFill>
          <a:ln w="7620">
            <a:solidFill>
              <a:srgbClr val="1C36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0">
                <a:solidFill>
                  <a:srgbClr val="1C3663"/>
                </a:solidFill>
                <a:latin typeface="Calibri"/>
              </a:rPr>
              <a:t>Conclusion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463040"/>
            <a:ext cx="54864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b="1" sz="1400">
                <a:solidFill>
                  <a:srgbClr val="696969"/>
                </a:solidFill>
                <a:latin typeface="Calibri"/>
              </a:rPr>
              <a:t>Country-only read</a:t>
            </a:r>
          </a:p>
        </p:txBody>
      </p:sp>
      <p:pic>
        <p:nvPicPr>
          <p:cNvPr id="14" name="Picture 13" descr="fig_partner_energy_dev_dire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20" y="1874519"/>
            <a:ext cx="4023360" cy="2211698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1417320" y="1874519"/>
            <a:ext cx="4023360" cy="2211698"/>
          </a:xfrm>
          <a:prstGeom prst="roundRect">
            <a:avLst/>
          </a:prstGeom>
          <a:noFill/>
          <a:ln w="9525">
            <a:solidFill>
              <a:srgbClr val="D2D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141082"/>
            <a:ext cx="5486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2000"/>
              </a:lnSpc>
            </a:pPr>
            <a:r>
              <a:rPr sz="1050">
                <a:solidFill>
                  <a:srgbClr val="696969"/>
                </a:solidFill>
                <a:latin typeface="Calibri"/>
              </a:rPr>
              <a:t>Euro-area GDP vs baseline: </a:t>
            </a:r>
            <a:r>
              <a:rPr sz="1050" b="1">
                <a:solidFill>
                  <a:srgbClr val="1C3663"/>
                </a:solidFill>
                <a:latin typeface="Calibri"/>
              </a:rPr>
              <a:t>flat</a:t>
            </a:r>
            <a:r>
              <a:rPr sz="1050">
                <a:solidFill>
                  <a:srgbClr val="696969"/>
                </a:solidFill>
                <a:latin typeface="Calibri"/>
              </a:rPr>
              <a:t>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1463040"/>
            <a:ext cx="54864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b="1" sz="1400">
                <a:solidFill>
                  <a:srgbClr val="1C3663"/>
                </a:solidFill>
                <a:latin typeface="Calibri"/>
              </a:rPr>
              <a:t>Global solve</a:t>
            </a:r>
          </a:p>
        </p:txBody>
      </p:sp>
      <p:pic>
        <p:nvPicPr>
          <p:cNvPr id="18" name="Picture 17" descr="fig_partner_energy_dev_coupl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5160" y="1874519"/>
            <a:ext cx="4023360" cy="2211698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6995160" y="1874519"/>
            <a:ext cx="4023360" cy="2211698"/>
          </a:xfrm>
          <a:prstGeom prst="roundRect">
            <a:avLst/>
          </a:prstGeom>
          <a:noFill/>
          <a:ln w="9525">
            <a:solidFill>
              <a:srgbClr val="D2D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0" y="4141082"/>
            <a:ext cx="5486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2000"/>
              </a:lnSpc>
            </a:pPr>
            <a:r>
              <a:rPr sz="1050">
                <a:solidFill>
                  <a:srgbClr val="696969"/>
                </a:solidFill>
                <a:latin typeface="Calibri"/>
              </a:rPr>
              <a:t>The same shock arrives: </a:t>
            </a:r>
            <a:r>
              <a:rPr sz="1050" b="1">
                <a:solidFill>
                  <a:srgbClr val="1C3663"/>
                </a:solidFill>
                <a:latin typeface="Calibri"/>
              </a:rPr>
              <a:t>−0.8pp</a:t>
            </a:r>
            <a:r>
              <a:rPr sz="1050">
                <a:solidFill>
                  <a:srgbClr val="696969"/>
                </a:solidFill>
                <a:latin typeface="Calibri"/>
              </a:rPr>
              <a:t> by 2031.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5833872"/>
            <a:ext cx="11277295" cy="841248"/>
          </a:xfrm>
          <a:prstGeom prst="roundRect">
            <a:avLst/>
          </a:prstGeom>
          <a:solidFill>
            <a:srgbClr val="EBF1F9"/>
          </a:solidFill>
          <a:ln w="11430">
            <a:solidFill>
              <a:srgbClr val="1C36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>
              <a:lnSpc>
                <a:spcPct val="102000"/>
              </a:lnSpc>
            </a:pPr>
            <a:r>
              <a:rPr b="1" sz="1400">
                <a:solidFill>
                  <a:srgbClr val="1C3663"/>
                </a:solidFill>
                <a:latin typeface="Calibri"/>
              </a:rPr>
              <a:t>Why the tool earns its keep:  </a:t>
            </a:r>
            <a:r>
              <a:rPr sz="1350">
                <a:solidFill>
                  <a:srgbClr val="232323"/>
                </a:solidFill>
                <a:latin typeface="Calibri"/>
              </a:rPr>
              <a:t>Read one economy at a time and this hit is </a:t>
            </a:r>
            <a:r>
              <a:rPr sz="1350" b="1">
                <a:solidFill>
                  <a:srgbClr val="1C3663"/>
                </a:solidFill>
                <a:latin typeface="Calibri"/>
              </a:rPr>
              <a:t>invisible</a:t>
            </a:r>
            <a:r>
              <a:rPr sz="1350">
                <a:solidFill>
                  <a:srgbClr val="232323"/>
                </a:solidFill>
                <a:latin typeface="Calibri"/>
              </a:rPr>
              <a:t>; only the coupled solve makes the cross-border spillover </a:t>
            </a:r>
            <a:r>
              <a:rPr sz="1350" b="1">
                <a:solidFill>
                  <a:srgbClr val="1C3663"/>
                </a:solidFill>
                <a:latin typeface="Calibri"/>
              </a:rPr>
              <a:t>show up</a:t>
            </a:r>
            <a:r>
              <a:rPr sz="1350">
                <a:solidFill>
                  <a:srgbClr val="232323"/>
                </a:solidFill>
                <a:latin typeface="Calibri"/>
              </a:rPr>
              <a:t> — and sizes it.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C36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0"/>
            <a:ext cx="11612880" cy="7498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900" b="1">
                <a:solidFill>
                  <a:srgbClr val="FFFFFF"/>
                </a:solidFill>
                <a:latin typeface="Calibri"/>
              </a:rPr>
              <a:t>④  Pin the destination — and the whole path tilts toward it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003907" y="877824"/>
            <a:ext cx="1417320" cy="310896"/>
          </a:xfrm>
          <a:prstGeom prst="roundRect">
            <a:avLst/>
          </a:prstGeom>
          <a:solidFill>
            <a:srgbClr val="EBF1F9"/>
          </a:solidFill>
          <a:ln w="7620">
            <a:solidFill>
              <a:srgbClr val="1C36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0">
                <a:solidFill>
                  <a:srgbClr val="1C3663"/>
                </a:solidFill>
                <a:latin typeface="Calibri"/>
              </a:rPr>
              <a:t>Baseline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439515" y="992124"/>
            <a:ext cx="237744" cy="82296"/>
          </a:xfrm>
          <a:prstGeom prst="rightArrow">
            <a:avLst/>
          </a:prstGeom>
          <a:solidFill>
            <a:srgbClr val="305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95547" y="877824"/>
            <a:ext cx="1417320" cy="310896"/>
          </a:xfrm>
          <a:prstGeom prst="roundRect">
            <a:avLst/>
          </a:prstGeom>
          <a:solidFill>
            <a:srgbClr val="EBF1F9"/>
          </a:solidFill>
          <a:ln w="7620">
            <a:solidFill>
              <a:srgbClr val="1C36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0">
                <a:solidFill>
                  <a:srgbClr val="1C3663"/>
                </a:solidFill>
                <a:latin typeface="Calibri"/>
              </a:rPr>
              <a:t>Conditioning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131155" y="992124"/>
            <a:ext cx="237744" cy="82296"/>
          </a:xfrm>
          <a:prstGeom prst="rightArrow">
            <a:avLst/>
          </a:prstGeom>
          <a:solidFill>
            <a:srgbClr val="305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387187" y="877824"/>
            <a:ext cx="1417320" cy="310896"/>
          </a:xfrm>
          <a:prstGeom prst="roundRect">
            <a:avLst/>
          </a:prstGeom>
          <a:solidFill>
            <a:srgbClr val="EBF1F9"/>
          </a:solidFill>
          <a:ln w="7620">
            <a:solidFill>
              <a:srgbClr val="1C36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0">
                <a:solidFill>
                  <a:srgbClr val="1C3663"/>
                </a:solidFill>
                <a:latin typeface="Calibri"/>
              </a:rPr>
              <a:t>Global solve</a:t>
            </a:r>
          </a:p>
        </p:txBody>
      </p:sp>
      <p:sp>
        <p:nvSpPr>
          <p:cNvPr id="9" name="Right Arrow 8"/>
          <p:cNvSpPr/>
          <p:nvPr/>
        </p:nvSpPr>
        <p:spPr>
          <a:xfrm>
            <a:off x="6822795" y="992124"/>
            <a:ext cx="237744" cy="82296"/>
          </a:xfrm>
          <a:prstGeom prst="rightArrow">
            <a:avLst/>
          </a:prstGeom>
          <a:solidFill>
            <a:srgbClr val="305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078827" y="877824"/>
            <a:ext cx="1417320" cy="310896"/>
          </a:xfrm>
          <a:prstGeom prst="roundRect">
            <a:avLst/>
          </a:prstGeom>
          <a:solidFill>
            <a:srgbClr val="1C3663"/>
          </a:solidFill>
          <a:ln w="7620">
            <a:solidFill>
              <a:srgbClr val="1C36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Extensions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8514435" y="992124"/>
            <a:ext cx="237744" cy="82296"/>
          </a:xfrm>
          <a:prstGeom prst="rightArrow">
            <a:avLst/>
          </a:prstGeom>
          <a:solidFill>
            <a:srgbClr val="305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770467" y="877824"/>
            <a:ext cx="1417320" cy="310896"/>
          </a:xfrm>
          <a:prstGeom prst="roundRect">
            <a:avLst/>
          </a:prstGeom>
          <a:solidFill>
            <a:srgbClr val="EBF1F9"/>
          </a:solidFill>
          <a:ln w="7620">
            <a:solidFill>
              <a:srgbClr val="1C36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0">
                <a:solidFill>
                  <a:srgbClr val="1C3663"/>
                </a:solidFill>
                <a:latin typeface="Calibri"/>
              </a:rPr>
              <a:t>Conclusion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554480"/>
            <a:ext cx="5171846" cy="32918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>
              <a:lnSpc>
                <a:spcPct val="102000"/>
              </a:lnSpc>
              <a:spcAft>
                <a:spcPts val="800"/>
              </a:spcAft>
            </a:pPr>
            <a:r>
              <a:rPr sz="1300">
                <a:solidFill>
                  <a:srgbClr val="232323"/>
                </a:solidFill>
                <a:latin typeface="Calibri"/>
              </a:rPr>
              <a:t>Know only </a:t>
            </a:r>
            <a:r>
              <a:rPr sz="1300" b="1">
                <a:solidFill>
                  <a:srgbClr val="1C3663"/>
                </a:solidFill>
                <a:latin typeface="Calibri"/>
              </a:rPr>
              <a:t>where things should end up</a:t>
            </a:r>
            <a:r>
              <a:rPr sz="1300">
                <a:solidFill>
                  <a:srgbClr val="232323"/>
                </a:solidFill>
                <a:latin typeface="Calibri"/>
              </a:rPr>
              <a:t> — the inflation target, potential growth, the neutral rate?</a:t>
            </a:r>
          </a:p>
          <a:p>
            <a:pPr>
              <a:lnSpc>
                <a:spcPct val="102000"/>
              </a:lnSpc>
              <a:spcAft>
                <a:spcPts val="800"/>
              </a:spcAft>
            </a:pPr>
            <a:r>
              <a:rPr sz="1300">
                <a:solidFill>
                  <a:srgbClr val="232323"/>
                </a:solidFill>
                <a:latin typeface="Calibri"/>
              </a:rPr>
              <a:t>Set that </a:t>
            </a:r>
            <a:r>
              <a:rPr sz="1300" b="1">
                <a:solidFill>
                  <a:srgbClr val="1C3663"/>
                </a:solidFill>
                <a:latin typeface="Calibri"/>
              </a:rPr>
              <a:t>long-run anchor</a:t>
            </a:r>
            <a:r>
              <a:rPr sz="1300">
                <a:solidFill>
                  <a:srgbClr val="232323"/>
                </a:solidFill>
                <a:latin typeface="Calibri"/>
              </a:rPr>
              <a:t>; the model tilts the path toward it, gently, </a:t>
            </a:r>
            <a:r>
              <a:rPr sz="1300" b="1">
                <a:solidFill>
                  <a:srgbClr val="1C3663"/>
                </a:solidFill>
                <a:latin typeface="Calibri"/>
              </a:rPr>
              <a:t>without breaking the near term</a:t>
            </a:r>
            <a:r>
              <a:rPr sz="1300">
                <a:solidFill>
                  <a:srgbClr val="232323"/>
                </a:solidFill>
                <a:latin typeface="Calibri"/>
              </a:rPr>
              <a:t>.</a:t>
            </a:r>
          </a:p>
        </p:txBody>
      </p:sp>
      <p:pic>
        <p:nvPicPr>
          <p:cNvPr id="14" name="Picture 13" descr="fig_ext_anch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1790" y="1600200"/>
            <a:ext cx="5165719" cy="283967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6281790" y="1600200"/>
            <a:ext cx="5165719" cy="2839670"/>
          </a:xfrm>
          <a:prstGeom prst="roundRect">
            <a:avLst/>
          </a:prstGeom>
          <a:noFill/>
          <a:ln w="9525">
            <a:solidFill>
              <a:srgbClr val="D2D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94806" y="4513022"/>
            <a:ext cx="5739688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2000"/>
              </a:lnSpc>
            </a:pPr>
            <a:r>
              <a:rPr sz="1050">
                <a:solidFill>
                  <a:srgbClr val="696969"/>
                </a:solidFill>
                <a:latin typeface="Calibri"/>
              </a:rPr>
              <a:t>US inflation: the tail lands on the anchor (dashed); near term untouched.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33872"/>
            <a:ext cx="11277295" cy="841248"/>
          </a:xfrm>
          <a:prstGeom prst="roundRect">
            <a:avLst/>
          </a:prstGeom>
          <a:solidFill>
            <a:srgbClr val="EBF1F9"/>
          </a:solidFill>
          <a:ln w="11430">
            <a:solidFill>
              <a:srgbClr val="1C36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>
              <a:lnSpc>
                <a:spcPct val="102000"/>
              </a:lnSpc>
            </a:pPr>
            <a:r>
              <a:rPr b="1" sz="1400">
                <a:solidFill>
                  <a:srgbClr val="1C3663"/>
                </a:solidFill>
                <a:latin typeface="Calibri"/>
              </a:rPr>
              <a:t>Long-run anchors:  </a:t>
            </a:r>
            <a:r>
              <a:rPr sz="1350">
                <a:solidFill>
                  <a:srgbClr val="232323"/>
                </a:solidFill>
                <a:latin typeface="Calibri"/>
              </a:rPr>
              <a:t>Set where a variable </a:t>
            </a:r>
            <a:r>
              <a:rPr sz="1350" b="1">
                <a:solidFill>
                  <a:srgbClr val="1C3663"/>
                </a:solidFill>
                <a:latin typeface="Calibri"/>
              </a:rPr>
              <a:t>settles</a:t>
            </a:r>
            <a:r>
              <a:rPr sz="1350">
                <a:solidFill>
                  <a:srgbClr val="232323"/>
                </a:solidFill>
                <a:latin typeface="Calibri"/>
              </a:rPr>
              <a:t>; the path re-shapes to reach it, near term intact.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C36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0"/>
            <a:ext cx="11612880" cy="7498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900" b="1">
                <a:solidFill>
                  <a:srgbClr val="FFFFFF"/>
                </a:solidFill>
                <a:latin typeface="Calibri"/>
              </a:rPr>
              <a:t>④  Fold in an outside forecast as an ingredient — at a trust level you choose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003907" y="877824"/>
            <a:ext cx="1417320" cy="310896"/>
          </a:xfrm>
          <a:prstGeom prst="roundRect">
            <a:avLst/>
          </a:prstGeom>
          <a:solidFill>
            <a:srgbClr val="EBF1F9"/>
          </a:solidFill>
          <a:ln w="7620">
            <a:solidFill>
              <a:srgbClr val="1C36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0">
                <a:solidFill>
                  <a:srgbClr val="1C3663"/>
                </a:solidFill>
                <a:latin typeface="Calibri"/>
              </a:rPr>
              <a:t>Baseline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439515" y="992124"/>
            <a:ext cx="237744" cy="82296"/>
          </a:xfrm>
          <a:prstGeom prst="rightArrow">
            <a:avLst/>
          </a:prstGeom>
          <a:solidFill>
            <a:srgbClr val="305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95547" y="877824"/>
            <a:ext cx="1417320" cy="310896"/>
          </a:xfrm>
          <a:prstGeom prst="roundRect">
            <a:avLst/>
          </a:prstGeom>
          <a:solidFill>
            <a:srgbClr val="EBF1F9"/>
          </a:solidFill>
          <a:ln w="7620">
            <a:solidFill>
              <a:srgbClr val="1C36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0">
                <a:solidFill>
                  <a:srgbClr val="1C3663"/>
                </a:solidFill>
                <a:latin typeface="Calibri"/>
              </a:rPr>
              <a:t>Conditioning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131155" y="992124"/>
            <a:ext cx="237744" cy="82296"/>
          </a:xfrm>
          <a:prstGeom prst="rightArrow">
            <a:avLst/>
          </a:prstGeom>
          <a:solidFill>
            <a:srgbClr val="305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387187" y="877824"/>
            <a:ext cx="1417320" cy="310896"/>
          </a:xfrm>
          <a:prstGeom prst="roundRect">
            <a:avLst/>
          </a:prstGeom>
          <a:solidFill>
            <a:srgbClr val="EBF1F9"/>
          </a:solidFill>
          <a:ln w="7620">
            <a:solidFill>
              <a:srgbClr val="1C36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0">
                <a:solidFill>
                  <a:srgbClr val="1C3663"/>
                </a:solidFill>
                <a:latin typeface="Calibri"/>
              </a:rPr>
              <a:t>Global solve</a:t>
            </a:r>
          </a:p>
        </p:txBody>
      </p:sp>
      <p:sp>
        <p:nvSpPr>
          <p:cNvPr id="9" name="Right Arrow 8"/>
          <p:cNvSpPr/>
          <p:nvPr/>
        </p:nvSpPr>
        <p:spPr>
          <a:xfrm>
            <a:off x="6822795" y="992124"/>
            <a:ext cx="237744" cy="82296"/>
          </a:xfrm>
          <a:prstGeom prst="rightArrow">
            <a:avLst/>
          </a:prstGeom>
          <a:solidFill>
            <a:srgbClr val="305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078827" y="877824"/>
            <a:ext cx="1417320" cy="310896"/>
          </a:xfrm>
          <a:prstGeom prst="roundRect">
            <a:avLst/>
          </a:prstGeom>
          <a:solidFill>
            <a:srgbClr val="1C3663"/>
          </a:solidFill>
          <a:ln w="7620">
            <a:solidFill>
              <a:srgbClr val="1C36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Extensions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8514435" y="992124"/>
            <a:ext cx="237744" cy="82296"/>
          </a:xfrm>
          <a:prstGeom prst="rightArrow">
            <a:avLst/>
          </a:prstGeom>
          <a:solidFill>
            <a:srgbClr val="305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770467" y="877824"/>
            <a:ext cx="1417320" cy="310896"/>
          </a:xfrm>
          <a:prstGeom prst="roundRect">
            <a:avLst/>
          </a:prstGeom>
          <a:solidFill>
            <a:srgbClr val="EBF1F9"/>
          </a:solidFill>
          <a:ln w="7620">
            <a:solidFill>
              <a:srgbClr val="1C36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0">
                <a:solidFill>
                  <a:srgbClr val="1C3663"/>
                </a:solidFill>
                <a:latin typeface="Calibri"/>
              </a:rPr>
              <a:t>Conclusion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554480"/>
            <a:ext cx="5171846" cy="32918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>
              <a:lnSpc>
                <a:spcPct val="102000"/>
              </a:lnSpc>
              <a:spcAft>
                <a:spcPts val="800"/>
              </a:spcAft>
            </a:pPr>
            <a:r>
              <a:rPr sz="1300">
                <a:solidFill>
                  <a:srgbClr val="232323"/>
                </a:solidFill>
                <a:latin typeface="Calibri"/>
              </a:rPr>
              <a:t>A WEO number, a consensus figure, a desk view? </a:t>
            </a:r>
            <a:r>
              <a:rPr sz="1300" b="1">
                <a:solidFill>
                  <a:srgbClr val="1C3663"/>
                </a:solidFill>
                <a:latin typeface="Calibri"/>
              </a:rPr>
              <a:t>Import it directly</a:t>
            </a:r>
            <a:r>
              <a:rPr sz="1300">
                <a:solidFill>
                  <a:srgbClr val="232323"/>
                </a:solidFill>
                <a:latin typeface="Calibri"/>
              </a:rPr>
              <a:t> — as one more ingredient, not a hard override.</a:t>
            </a:r>
          </a:p>
          <a:p>
            <a:pPr>
              <a:lnSpc>
                <a:spcPct val="102000"/>
              </a:lnSpc>
              <a:spcAft>
                <a:spcPts val="800"/>
              </a:spcAft>
            </a:pPr>
            <a:r>
              <a:rPr sz="1300">
                <a:solidFill>
                  <a:srgbClr val="232323"/>
                </a:solidFill>
                <a:latin typeface="Calibri"/>
              </a:rPr>
              <a:t>You set the </a:t>
            </a:r>
            <a:r>
              <a:rPr sz="1300" b="1">
                <a:solidFill>
                  <a:srgbClr val="1C3663"/>
                </a:solidFill>
                <a:latin typeface="Calibri"/>
              </a:rPr>
              <a:t>trust dial</a:t>
            </a:r>
            <a:r>
              <a:rPr sz="1300">
                <a:solidFill>
                  <a:srgbClr val="232323"/>
                </a:solidFill>
                <a:latin typeface="Calibri"/>
              </a:rPr>
              <a:t>: from “just a hint” to “pin it exactly”. Everything else stays </a:t>
            </a:r>
            <a:r>
              <a:rPr sz="1300" b="1">
                <a:solidFill>
                  <a:srgbClr val="1C3663"/>
                </a:solidFill>
                <a:latin typeface="Calibri"/>
              </a:rPr>
              <a:t>consistent</a:t>
            </a:r>
            <a:r>
              <a:rPr sz="1300">
                <a:solidFill>
                  <a:srgbClr val="232323"/>
                </a:solidFill>
                <a:latin typeface="Calibri"/>
              </a:rPr>
              <a:t> around it.</a:t>
            </a:r>
          </a:p>
        </p:txBody>
      </p:sp>
      <p:pic>
        <p:nvPicPr>
          <p:cNvPr id="14" name="Picture 13" descr="fig_ext_we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6584" y="1600200"/>
            <a:ext cx="4936132" cy="2713462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6396584" y="1600200"/>
            <a:ext cx="4936132" cy="2713462"/>
          </a:xfrm>
          <a:prstGeom prst="roundRect">
            <a:avLst/>
          </a:prstGeom>
          <a:noFill/>
          <a:ln w="9525">
            <a:solidFill>
              <a:srgbClr val="D2D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94806" y="4386814"/>
            <a:ext cx="5739688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2000"/>
              </a:lnSpc>
            </a:pPr>
            <a:r>
              <a:rPr sz="1050">
                <a:solidFill>
                  <a:srgbClr val="696969"/>
                </a:solidFill>
                <a:latin typeface="Calibri"/>
              </a:rPr>
              <a:t>US GDP: teal diamonds are the imported WEO path.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33872"/>
            <a:ext cx="11277295" cy="841248"/>
          </a:xfrm>
          <a:prstGeom prst="roundRect">
            <a:avLst/>
          </a:prstGeom>
          <a:solidFill>
            <a:srgbClr val="EBF1F9"/>
          </a:solidFill>
          <a:ln w="11430">
            <a:solidFill>
              <a:srgbClr val="1C36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>
              <a:lnSpc>
                <a:spcPct val="102000"/>
              </a:lnSpc>
            </a:pPr>
            <a:r>
              <a:rPr b="1" sz="1400">
                <a:solidFill>
                  <a:srgbClr val="1C3663"/>
                </a:solidFill>
                <a:latin typeface="Calibri"/>
              </a:rPr>
              <a:t>External forecasts:  </a:t>
            </a:r>
            <a:r>
              <a:rPr sz="1350">
                <a:solidFill>
                  <a:srgbClr val="232323"/>
                </a:solidFill>
                <a:latin typeface="Calibri"/>
              </a:rPr>
              <a:t>Reuse the WEO and desk forecasts we </a:t>
            </a:r>
            <a:r>
              <a:rPr sz="1350" i="1">
                <a:solidFill>
                  <a:srgbClr val="232323"/>
                </a:solidFill>
                <a:latin typeface="Calibri"/>
              </a:rPr>
              <a:t>already</a:t>
            </a:r>
            <a:r>
              <a:rPr sz="1350">
                <a:solidFill>
                  <a:srgbClr val="232323"/>
                </a:solidFill>
                <a:latin typeface="Calibri"/>
              </a:rPr>
              <a:t> produce — as inputs, at a </a:t>
            </a:r>
            <a:r>
              <a:rPr sz="1350" b="1">
                <a:solidFill>
                  <a:srgbClr val="1C3663"/>
                </a:solidFill>
                <a:latin typeface="Calibri"/>
              </a:rPr>
              <a:t>trust level you control</a:t>
            </a:r>
            <a:r>
              <a:rPr sz="1350">
                <a:solidFill>
                  <a:srgbClr val="232323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C36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0"/>
            <a:ext cx="11612880" cy="7498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900" b="1">
                <a:solidFill>
                  <a:srgbClr val="FFFFFF"/>
                </a:solidFill>
                <a:latin typeface="Calibri"/>
              </a:rPr>
              <a:t>④  Ask “what if the central bank does X?” — a genuine policy counterfactual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003907" y="877824"/>
            <a:ext cx="1417320" cy="310896"/>
          </a:xfrm>
          <a:prstGeom prst="roundRect">
            <a:avLst/>
          </a:prstGeom>
          <a:solidFill>
            <a:srgbClr val="EBF1F9"/>
          </a:solidFill>
          <a:ln w="7620">
            <a:solidFill>
              <a:srgbClr val="1C36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0">
                <a:solidFill>
                  <a:srgbClr val="1C3663"/>
                </a:solidFill>
                <a:latin typeface="Calibri"/>
              </a:rPr>
              <a:t>Baseline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439515" y="992124"/>
            <a:ext cx="237744" cy="82296"/>
          </a:xfrm>
          <a:prstGeom prst="rightArrow">
            <a:avLst/>
          </a:prstGeom>
          <a:solidFill>
            <a:srgbClr val="305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95547" y="877824"/>
            <a:ext cx="1417320" cy="310896"/>
          </a:xfrm>
          <a:prstGeom prst="roundRect">
            <a:avLst/>
          </a:prstGeom>
          <a:solidFill>
            <a:srgbClr val="EBF1F9"/>
          </a:solidFill>
          <a:ln w="7620">
            <a:solidFill>
              <a:srgbClr val="1C36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0">
                <a:solidFill>
                  <a:srgbClr val="1C3663"/>
                </a:solidFill>
                <a:latin typeface="Calibri"/>
              </a:rPr>
              <a:t>Conditioning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131155" y="992124"/>
            <a:ext cx="237744" cy="82296"/>
          </a:xfrm>
          <a:prstGeom prst="rightArrow">
            <a:avLst/>
          </a:prstGeom>
          <a:solidFill>
            <a:srgbClr val="305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387187" y="877824"/>
            <a:ext cx="1417320" cy="310896"/>
          </a:xfrm>
          <a:prstGeom prst="roundRect">
            <a:avLst/>
          </a:prstGeom>
          <a:solidFill>
            <a:srgbClr val="EBF1F9"/>
          </a:solidFill>
          <a:ln w="7620">
            <a:solidFill>
              <a:srgbClr val="1C36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0">
                <a:solidFill>
                  <a:srgbClr val="1C3663"/>
                </a:solidFill>
                <a:latin typeface="Calibri"/>
              </a:rPr>
              <a:t>Global solve</a:t>
            </a:r>
          </a:p>
        </p:txBody>
      </p:sp>
      <p:sp>
        <p:nvSpPr>
          <p:cNvPr id="9" name="Right Arrow 8"/>
          <p:cNvSpPr/>
          <p:nvPr/>
        </p:nvSpPr>
        <p:spPr>
          <a:xfrm>
            <a:off x="6822795" y="992124"/>
            <a:ext cx="237744" cy="82296"/>
          </a:xfrm>
          <a:prstGeom prst="rightArrow">
            <a:avLst/>
          </a:prstGeom>
          <a:solidFill>
            <a:srgbClr val="305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078827" y="877824"/>
            <a:ext cx="1417320" cy="310896"/>
          </a:xfrm>
          <a:prstGeom prst="roundRect">
            <a:avLst/>
          </a:prstGeom>
          <a:solidFill>
            <a:srgbClr val="1C3663"/>
          </a:solidFill>
          <a:ln w="7620">
            <a:solidFill>
              <a:srgbClr val="1C36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Extensions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8514435" y="992124"/>
            <a:ext cx="237744" cy="82296"/>
          </a:xfrm>
          <a:prstGeom prst="rightArrow">
            <a:avLst/>
          </a:prstGeom>
          <a:solidFill>
            <a:srgbClr val="305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770467" y="877824"/>
            <a:ext cx="1417320" cy="310896"/>
          </a:xfrm>
          <a:prstGeom prst="roundRect">
            <a:avLst/>
          </a:prstGeom>
          <a:solidFill>
            <a:srgbClr val="EBF1F9"/>
          </a:solidFill>
          <a:ln w="7620">
            <a:solidFill>
              <a:srgbClr val="1C36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0">
                <a:solidFill>
                  <a:srgbClr val="1C3663"/>
                </a:solidFill>
                <a:latin typeface="Calibri"/>
              </a:rPr>
              <a:t>Conclusion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554480"/>
            <a:ext cx="5171846" cy="32918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>
              <a:lnSpc>
                <a:spcPct val="102000"/>
              </a:lnSpc>
              <a:spcAft>
                <a:spcPts val="800"/>
              </a:spcAft>
            </a:pPr>
            <a:r>
              <a:rPr sz="1300">
                <a:solidFill>
                  <a:srgbClr val="232323"/>
                </a:solidFill>
                <a:latin typeface="Calibri"/>
              </a:rPr>
              <a:t>This tells you </a:t>
            </a:r>
            <a:r>
              <a:rPr sz="1300" b="1">
                <a:solidFill>
                  <a:srgbClr val="1C3663"/>
                </a:solidFill>
                <a:latin typeface="Calibri"/>
              </a:rPr>
              <a:t>what a policy choice does</a:t>
            </a:r>
            <a:r>
              <a:rPr sz="1300">
                <a:solidFill>
                  <a:srgbClr val="232323"/>
                </a:solidFill>
                <a:latin typeface="Calibri"/>
              </a:rPr>
              <a:t> — a </a:t>
            </a:r>
            <a:r>
              <a:rPr sz="1300" b="1">
                <a:solidFill>
                  <a:srgbClr val="1C3663"/>
                </a:solidFill>
                <a:latin typeface="Calibri"/>
              </a:rPr>
              <a:t>structural</a:t>
            </a:r>
            <a:r>
              <a:rPr sz="1300">
                <a:solidFill>
                  <a:srgbClr val="232323"/>
                </a:solidFill>
                <a:latin typeface="Calibri"/>
              </a:rPr>
              <a:t> answer from a fully specified DSGE model.</a:t>
            </a:r>
          </a:p>
          <a:p>
            <a:pPr>
              <a:lnSpc>
                <a:spcPct val="102000"/>
              </a:lnSpc>
              <a:spcAft>
                <a:spcPts val="800"/>
              </a:spcAft>
            </a:pPr>
            <a:r>
              <a:rPr sz="1300">
                <a:solidFill>
                  <a:srgbClr val="232323"/>
                </a:solidFill>
                <a:latin typeface="Calibri"/>
              </a:rPr>
              <a:t>Layer a </a:t>
            </a:r>
            <a:r>
              <a:rPr sz="1300" b="1">
                <a:solidFill>
                  <a:srgbClr val="1C3663"/>
                </a:solidFill>
                <a:latin typeface="Calibri"/>
              </a:rPr>
              <a:t>policy shock</a:t>
            </a:r>
            <a:r>
              <a:rPr sz="1300">
                <a:solidFill>
                  <a:srgbClr val="232323"/>
                </a:solidFill>
                <a:latin typeface="Calibri"/>
              </a:rPr>
              <a:t> on any scenario; the model traces the </a:t>
            </a:r>
            <a:r>
              <a:rPr sz="1300" b="1">
                <a:solidFill>
                  <a:srgbClr val="1C3663"/>
                </a:solidFill>
                <a:latin typeface="Calibri"/>
              </a:rPr>
              <a:t>counterfactual path</a:t>
            </a:r>
            <a:r>
              <a:rPr sz="1300">
                <a:solidFill>
                  <a:srgbClr val="232323"/>
                </a:solidFill>
                <a:latin typeface="Calibri"/>
              </a:rPr>
              <a:t>.</a:t>
            </a:r>
          </a:p>
        </p:txBody>
      </p:sp>
      <p:pic>
        <p:nvPicPr>
          <p:cNvPr id="14" name="Picture 13" descr="fig_ext_mm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8775" y="1600200"/>
            <a:ext cx="4591751" cy="2524151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6568775" y="1600200"/>
            <a:ext cx="4591751" cy="2524151"/>
          </a:xfrm>
          <a:prstGeom prst="roundRect">
            <a:avLst/>
          </a:prstGeom>
          <a:noFill/>
          <a:ln w="9525">
            <a:solidFill>
              <a:srgbClr val="D2D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94806" y="4197503"/>
            <a:ext cx="5739688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2000"/>
              </a:lnSpc>
            </a:pPr>
            <a:r>
              <a:rPr sz="1050">
                <a:solidFill>
                  <a:srgbClr val="696969"/>
                </a:solidFill>
                <a:latin typeface="Calibri"/>
              </a:rPr>
              <a:t>US policy rate: counterfactual vs. baseline scenario.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33872"/>
            <a:ext cx="11277295" cy="841248"/>
          </a:xfrm>
          <a:prstGeom prst="roundRect">
            <a:avLst/>
          </a:prstGeom>
          <a:solidFill>
            <a:srgbClr val="EBF1F9"/>
          </a:solidFill>
          <a:ln w="11430">
            <a:solidFill>
              <a:srgbClr val="1C36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>
              <a:lnSpc>
                <a:spcPct val="102000"/>
              </a:lnSpc>
            </a:pPr>
            <a:r>
              <a:rPr b="1" sz="1400">
                <a:solidFill>
                  <a:srgbClr val="1C3663"/>
                </a:solidFill>
                <a:latin typeface="Calibri"/>
              </a:rPr>
              <a:t>Policy counterfactuals:  </a:t>
            </a:r>
            <a:r>
              <a:rPr sz="1350">
                <a:solidFill>
                  <a:srgbClr val="232323"/>
                </a:solidFill>
                <a:latin typeface="Calibri"/>
              </a:rPr>
              <a:t>From “what will happen” to “</a:t>
            </a:r>
            <a:r>
              <a:rPr sz="1350" b="1">
                <a:solidFill>
                  <a:srgbClr val="1C3663"/>
                </a:solidFill>
                <a:latin typeface="Calibri"/>
              </a:rPr>
              <a:t>what should we do</a:t>
            </a:r>
            <a:r>
              <a:rPr sz="1350">
                <a:solidFill>
                  <a:srgbClr val="232323"/>
                </a:solidFill>
                <a:latin typeface="Calibri"/>
              </a:rPr>
              <a:t>” — a structural (MMB/DSGE) policy experiment.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693408"/>
            <a:ext cx="112471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>
              <a:lnSpc>
                <a:spcPct val="102000"/>
              </a:lnSpc>
            </a:pPr>
            <a:r>
              <a:rPr sz="850" i="1">
                <a:solidFill>
                  <a:srgbClr val="962D2D"/>
                </a:solidFill>
                <a:latin typeface="Calibri"/>
              </a:rPr>
              <a:t>[on the roadmap: deeper MMB library, cross-country WEO propagation, external-balance/NFA satellite]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C36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0"/>
            <a:ext cx="11612880" cy="7498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900" b="1">
                <a:solidFill>
                  <a:srgbClr val="FFFFFF"/>
                </a:solidFill>
                <a:latin typeface="Calibri"/>
              </a:rPr>
              <a:t>⑤  One tool now gives us a current, global, and shareable read on policy — we ask you to adopt it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003907" y="877824"/>
            <a:ext cx="1417320" cy="310896"/>
          </a:xfrm>
          <a:prstGeom prst="roundRect">
            <a:avLst/>
          </a:prstGeom>
          <a:solidFill>
            <a:srgbClr val="EBF1F9"/>
          </a:solidFill>
          <a:ln w="7620">
            <a:solidFill>
              <a:srgbClr val="1C36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0">
                <a:solidFill>
                  <a:srgbClr val="1C3663"/>
                </a:solidFill>
                <a:latin typeface="Calibri"/>
              </a:rPr>
              <a:t>Baseline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439515" y="992124"/>
            <a:ext cx="237744" cy="82296"/>
          </a:xfrm>
          <a:prstGeom prst="rightArrow">
            <a:avLst/>
          </a:prstGeom>
          <a:solidFill>
            <a:srgbClr val="305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95547" y="877824"/>
            <a:ext cx="1417320" cy="310896"/>
          </a:xfrm>
          <a:prstGeom prst="roundRect">
            <a:avLst/>
          </a:prstGeom>
          <a:solidFill>
            <a:srgbClr val="EBF1F9"/>
          </a:solidFill>
          <a:ln w="7620">
            <a:solidFill>
              <a:srgbClr val="1C36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0">
                <a:solidFill>
                  <a:srgbClr val="1C3663"/>
                </a:solidFill>
                <a:latin typeface="Calibri"/>
              </a:rPr>
              <a:t>Conditioning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131155" y="992124"/>
            <a:ext cx="237744" cy="82296"/>
          </a:xfrm>
          <a:prstGeom prst="rightArrow">
            <a:avLst/>
          </a:prstGeom>
          <a:solidFill>
            <a:srgbClr val="305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387187" y="877824"/>
            <a:ext cx="1417320" cy="310896"/>
          </a:xfrm>
          <a:prstGeom prst="roundRect">
            <a:avLst/>
          </a:prstGeom>
          <a:solidFill>
            <a:srgbClr val="EBF1F9"/>
          </a:solidFill>
          <a:ln w="7620">
            <a:solidFill>
              <a:srgbClr val="1C36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0">
                <a:solidFill>
                  <a:srgbClr val="1C3663"/>
                </a:solidFill>
                <a:latin typeface="Calibri"/>
              </a:rPr>
              <a:t>Global solve</a:t>
            </a:r>
          </a:p>
        </p:txBody>
      </p:sp>
      <p:sp>
        <p:nvSpPr>
          <p:cNvPr id="9" name="Right Arrow 8"/>
          <p:cNvSpPr/>
          <p:nvPr/>
        </p:nvSpPr>
        <p:spPr>
          <a:xfrm>
            <a:off x="6822795" y="992124"/>
            <a:ext cx="237744" cy="82296"/>
          </a:xfrm>
          <a:prstGeom prst="rightArrow">
            <a:avLst/>
          </a:prstGeom>
          <a:solidFill>
            <a:srgbClr val="305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078827" y="877824"/>
            <a:ext cx="1417320" cy="310896"/>
          </a:xfrm>
          <a:prstGeom prst="roundRect">
            <a:avLst/>
          </a:prstGeom>
          <a:solidFill>
            <a:srgbClr val="EBF1F9"/>
          </a:solidFill>
          <a:ln w="7620">
            <a:solidFill>
              <a:srgbClr val="1C36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0">
                <a:solidFill>
                  <a:srgbClr val="1C3663"/>
                </a:solidFill>
                <a:latin typeface="Calibri"/>
              </a:rPr>
              <a:t>Extensions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8514435" y="992124"/>
            <a:ext cx="237744" cy="82296"/>
          </a:xfrm>
          <a:prstGeom prst="rightArrow">
            <a:avLst/>
          </a:prstGeom>
          <a:solidFill>
            <a:srgbClr val="305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770467" y="877824"/>
            <a:ext cx="1417320" cy="310896"/>
          </a:xfrm>
          <a:prstGeom prst="roundRect">
            <a:avLst/>
          </a:prstGeom>
          <a:solidFill>
            <a:srgbClr val="1C3663"/>
          </a:solidFill>
          <a:ln w="7620">
            <a:solidFill>
              <a:srgbClr val="1C36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Conclusion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463040"/>
            <a:ext cx="576072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b="1" sz="1300">
                <a:solidFill>
                  <a:srgbClr val="232323"/>
                </a:solidFill>
                <a:latin typeface="Calibri"/>
              </a:rPr>
              <a:t>What we built, in three lines: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1828800"/>
            <a:ext cx="5760720" cy="3200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250" b="1">
                <a:solidFill>
                  <a:srgbClr val="27744B"/>
                </a:solidFill>
                <a:latin typeface="Calibri"/>
              </a:rPr>
              <a:t>+ </a:t>
            </a:r>
            <a:r>
              <a:rPr sz="1250" b="1">
                <a:solidFill>
                  <a:srgbClr val="1C3663"/>
                </a:solidFill>
                <a:latin typeface="Calibri"/>
              </a:rPr>
              <a:t>Current &amp; consistent</a:t>
            </a:r>
            <a:r>
              <a:rPr sz="1250">
                <a:solidFill>
                  <a:srgbClr val="232323"/>
                </a:solidFill>
                <a:latin typeface="Calibri"/>
              </a:rPr>
              <a:t> — every economy sits on the same up-to-date vintage, so the numbers add up across desks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250" b="1">
                <a:solidFill>
                  <a:srgbClr val="27744B"/>
                </a:solidFill>
                <a:latin typeface="Calibri"/>
              </a:rPr>
              <a:t>+ </a:t>
            </a:r>
            <a:r>
              <a:rPr sz="1250" b="1">
                <a:solidFill>
                  <a:srgbClr val="1C3663"/>
                </a:solidFill>
                <a:latin typeface="Calibri"/>
              </a:rPr>
              <a:t>Genuinely global</a:t>
            </a:r>
            <a:r>
              <a:rPr sz="1250">
                <a:solidFill>
                  <a:srgbClr val="232323"/>
                </a:solidFill>
                <a:latin typeface="Calibri"/>
              </a:rPr>
              <a:t> — shocks travel across 50 economies through trade and finance, not one country at a time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250" b="1">
                <a:solidFill>
                  <a:srgbClr val="27744B"/>
                </a:solidFill>
                <a:latin typeface="Calibri"/>
              </a:rPr>
              <a:t>+ </a:t>
            </a:r>
            <a:r>
              <a:rPr sz="1250" b="1">
                <a:solidFill>
                  <a:srgbClr val="1C3663"/>
                </a:solidFill>
                <a:latin typeface="Calibri"/>
              </a:rPr>
              <a:t>Our forecasts, built in</a:t>
            </a:r>
            <a:r>
              <a:rPr sz="1250">
                <a:solidFill>
                  <a:srgbClr val="232323"/>
                </a:solidFill>
                <a:latin typeface="Calibri"/>
              </a:rPr>
              <a:t> — WEO and staff views enter as dials, and any run is one-click </a:t>
            </a:r>
            <a:r>
              <a:rPr sz="1250" b="1">
                <a:solidFill>
                  <a:srgbClr val="1C3663"/>
                </a:solidFill>
                <a:latin typeface="Calibri"/>
              </a:rPr>
              <a:t>shareable and reproducible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1463040"/>
            <a:ext cx="5394960" cy="40233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>
              <a:lnSpc>
                <a:spcPct val="102000"/>
              </a:lnSpc>
              <a:spcAft>
                <a:spcPts val="800"/>
              </a:spcAft>
            </a:pPr>
            <a:r>
              <a:rPr sz="1250" b="1">
                <a:solidFill>
                  <a:srgbClr val="1C3663"/>
                </a:solidFill>
                <a:latin typeface="Calibri"/>
              </a:rPr>
              <a:t>The arc:</a:t>
            </a:r>
            <a:r>
              <a:rPr sz="1250">
                <a:solidFill>
                  <a:srgbClr val="232323"/>
                </a:solidFill>
                <a:latin typeface="Calibri"/>
              </a:rPr>
              <a:t> a live baseline → </a:t>
            </a:r>
            <a:r>
              <a:rPr sz="1250" b="1">
                <a:solidFill>
                  <a:srgbClr val="1C3663"/>
                </a:solidFill>
                <a:latin typeface="Calibri"/>
              </a:rPr>
              <a:t>condition</a:t>
            </a:r>
            <a:r>
              <a:rPr sz="1250">
                <a:solidFill>
                  <a:srgbClr val="232323"/>
                </a:solidFill>
                <a:latin typeface="Calibri"/>
              </a:rPr>
              <a:t> it on the story you care about → let it </a:t>
            </a:r>
            <a:r>
              <a:rPr sz="1250" b="1">
                <a:solidFill>
                  <a:srgbClr val="1C3663"/>
                </a:solidFill>
                <a:latin typeface="Calibri"/>
              </a:rPr>
              <a:t>propagate globally</a:t>
            </a:r>
            <a:r>
              <a:rPr sz="1250">
                <a:solidFill>
                  <a:srgbClr val="232323"/>
                </a:solidFill>
                <a:latin typeface="Calibri"/>
              </a:rPr>
              <a:t> → layer in </a:t>
            </a:r>
            <a:r>
              <a:rPr sz="1250" b="1">
                <a:solidFill>
                  <a:srgbClr val="1C3663"/>
                </a:solidFill>
                <a:latin typeface="Calibri"/>
              </a:rPr>
              <a:t>policy and external-balance</a:t>
            </a:r>
            <a:r>
              <a:rPr sz="1250">
                <a:solidFill>
                  <a:srgbClr val="232323"/>
                </a:solidFill>
                <a:latin typeface="Calibri"/>
              </a:rPr>
              <a:t> extensions.</a:t>
            </a:r>
          </a:p>
          <a:p>
            <a:pPr>
              <a:lnSpc>
                <a:spcPct val="102000"/>
              </a:lnSpc>
              <a:spcAft>
                <a:spcPts val="800"/>
              </a:spcAft>
            </a:pPr>
            <a:r>
              <a:rPr sz="1250" b="1">
                <a:solidFill>
                  <a:srgbClr val="1C3663"/>
                </a:solidFill>
                <a:latin typeface="Calibri"/>
              </a:rPr>
              <a:t>The ask:</a:t>
            </a:r>
            <a:r>
              <a:rPr sz="1250">
                <a:solidFill>
                  <a:srgbClr val="232323"/>
                </a:solidFill>
                <a:latin typeface="Calibri"/>
              </a:rPr>
              <a:t> </a:t>
            </a:r>
            <a:r>
              <a:rPr sz="1150" i="1">
                <a:solidFill>
                  <a:srgbClr val="962D2D"/>
                </a:solidFill>
                <a:latin typeface="Calibri"/>
              </a:rPr>
              <a:t>[MF/Jesper: endorse the tool, resource the last-mile hardening, and adopt it into the FSAP / Article IV workflow.]</a:t>
            </a:r>
          </a:p>
          <a:p>
            <a:pPr>
              <a:lnSpc>
                <a:spcPct val="102000"/>
              </a:lnSpc>
              <a:spcAft>
                <a:spcPts val="800"/>
              </a:spcAft>
            </a:pPr>
            <a:r>
              <a:rPr sz="1250">
                <a:solidFill>
                  <a:srgbClr val="232323"/>
                </a:solidFill>
                <a:latin typeface="Calibri"/>
              </a:rPr>
              <a:t>It is </a:t>
            </a:r>
            <a:r>
              <a:rPr sz="1250" b="1">
                <a:solidFill>
                  <a:srgbClr val="1C3663"/>
                </a:solidFill>
                <a:latin typeface="Calibri"/>
              </a:rPr>
              <a:t>live today</a:t>
            </a:r>
            <a:r>
              <a:rPr sz="1250">
                <a:solidFill>
                  <a:srgbClr val="232323"/>
                </a:solidFill>
                <a:latin typeface="Calibri"/>
              </a:rPr>
              <a:t>, covering </a:t>
            </a:r>
            <a:r>
              <a:rPr sz="1250" b="1">
                <a:solidFill>
                  <a:srgbClr val="1C3663"/>
                </a:solidFill>
                <a:latin typeface="Calibri"/>
              </a:rPr>
              <a:t>50 economies</a:t>
            </a:r>
            <a:r>
              <a:rPr sz="1250">
                <a:solidFill>
                  <a:srgbClr val="232323"/>
                </a:solidFill>
                <a:latin typeface="Calibri"/>
              </a:rPr>
              <a:t> — ready to pilot on the next surveillance cycle.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5833872"/>
            <a:ext cx="11277295" cy="841248"/>
          </a:xfrm>
          <a:prstGeom prst="roundRect">
            <a:avLst/>
          </a:prstGeom>
          <a:solidFill>
            <a:srgbClr val="EBF1F9"/>
          </a:solidFill>
          <a:ln w="11430">
            <a:solidFill>
              <a:srgbClr val="1C36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>
              <a:lnSpc>
                <a:spcPct val="102000"/>
              </a:lnSpc>
            </a:pPr>
            <a:r>
              <a:rPr b="1" sz="1400">
                <a:solidFill>
                  <a:srgbClr val="1C3663"/>
                </a:solidFill>
                <a:latin typeface="Calibri"/>
              </a:rPr>
              <a:t>The one line:  </a:t>
            </a:r>
            <a:r>
              <a:rPr sz="1350">
                <a:solidFill>
                  <a:srgbClr val="232323"/>
                </a:solidFill>
                <a:latin typeface="Calibri"/>
              </a:rPr>
              <a:t>One live, shareable tool turns scattered forecasts into a single consistent, global answer to “what if?”.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C36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0"/>
            <a:ext cx="11612880" cy="749808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r>
              <a:rPr sz="1900" b="1" i="0">
                <a:solidFill>
                  <a:srgbClr val="FFFFFF"/>
                </a:solidFill>
                <a:latin typeface="Calibri"/>
              </a:rPr>
              <a:t>Background — how the coupled global solve works (GVAR)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5943600" cy="420624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>
              <a:spcAft>
                <a:spcPts val="800"/>
              </a:spcAft>
            </a:pPr>
            <a:r>
              <a:rPr sz="1300" b="1" i="0">
                <a:solidFill>
                  <a:srgbClr val="1C3663"/>
                </a:solidFill>
                <a:latin typeface="Calibri"/>
              </a:rPr>
              <a:t>The idea</a:t>
            </a:r>
          </a:p>
          <a:p>
            <a:pPr>
              <a:spcAft>
                <a:spcPts val="800"/>
              </a:spcAft>
            </a:pPr>
            <a:r>
              <a:rPr sz="1200" b="1" i="0">
                <a:solidFill>
                  <a:srgbClr val="1C3663"/>
                </a:solidFill>
                <a:latin typeface="Calibri"/>
              </a:rPr>
              <a:t>▸  </a:t>
            </a:r>
            <a:r>
              <a:rPr sz="1250" b="0" i="0">
                <a:solidFill>
                  <a:srgbClr val="232323"/>
                </a:solidFill>
                <a:latin typeface="Calibri"/>
              </a:rPr>
              <a:t>Each economy is estimated with its own variables PLUS a set of trade-weighted “foreign” variables — its partners’ activity, prices and rates.</a:t>
            </a:r>
          </a:p>
          <a:p>
            <a:pPr>
              <a:spcAft>
                <a:spcPts val="800"/>
              </a:spcAft>
            </a:pPr>
            <a:r>
              <a:rPr sz="1200" b="1" i="0">
                <a:solidFill>
                  <a:srgbClr val="1C3663"/>
                </a:solidFill>
                <a:latin typeface="Calibri"/>
              </a:rPr>
              <a:t>▸  </a:t>
            </a:r>
            <a:r>
              <a:rPr sz="1250" b="0" i="0">
                <a:solidFill>
                  <a:srgbClr val="232323"/>
                </a:solidFill>
                <a:latin typeface="Calibri"/>
              </a:rPr>
              <a:t>Stacking all 50 economies, those foreign links tie every model to every other into one big system.</a:t>
            </a:r>
          </a:p>
          <a:p>
            <a:pPr>
              <a:spcAft>
                <a:spcPts val="800"/>
              </a:spcAft>
            </a:pPr>
            <a:r>
              <a:rPr sz="1200" b="1" i="0">
                <a:solidFill>
                  <a:srgbClr val="1C3663"/>
                </a:solidFill>
                <a:latin typeface="Calibri"/>
              </a:rPr>
              <a:t>▸  </a:t>
            </a:r>
            <a:r>
              <a:rPr sz="1250" b="0" i="0">
                <a:solidFill>
                  <a:srgbClr val="232323"/>
                </a:solidFill>
                <a:latin typeface="Calibri"/>
              </a:rPr>
              <a:t>We then solve for the one state where every economy’s forecast is mutually consistent with its partners’ — the fixed point.</a:t>
            </a:r>
          </a:p>
          <a:p>
            <a:pPr>
              <a:spcAft>
                <a:spcPts val="800"/>
              </a:spcAft>
            </a:pPr>
            <a:r>
              <a:rPr sz="1200" b="1" i="0">
                <a:solidFill>
                  <a:srgbClr val="1C3663"/>
                </a:solidFill>
                <a:latin typeface="Calibri"/>
              </a:rPr>
              <a:t>▸  </a:t>
            </a:r>
            <a:r>
              <a:rPr sz="1200" b="0" i="0">
                <a:solidFill>
                  <a:srgbClr val="696969"/>
                </a:solidFill>
                <a:latin typeface="Calibri"/>
              </a:rPr>
              <a:t>Computed once from a pre-built inverse (fast), or iterated to convergence — either way, no country is solved in isolation.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0" y="1234440"/>
            <a:ext cx="4846320" cy="914400"/>
          </a:xfrm>
          <a:prstGeom prst="roundRect">
            <a:avLst/>
          </a:prstGeom>
          <a:solidFill>
            <a:srgbClr val="F4F5F7"/>
          </a:solidFill>
          <a:ln w="9525">
            <a:solidFill>
              <a:srgbClr val="D2D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22592" y="1298448"/>
            <a:ext cx="4517136" cy="27432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r>
              <a:rPr sz="1050" b="1" i="0">
                <a:solidFill>
                  <a:srgbClr val="1C3663"/>
                </a:solidFill>
                <a:latin typeface="Calibri"/>
              </a:rPr>
              <a:t>Foreign (trade-weighted) variables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1563624"/>
            <a:ext cx="4846320" cy="530352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ctr"/>
            <a:r>
              <a:rPr sz="1700" i="1">
                <a:solidFill>
                  <a:srgbClr val="232323"/>
                </a:solidFill>
                <a:latin typeface="Cambria Math"/>
              </a:rPr>
              <a:t>x</a:t>
            </a:r>
            <a:r>
              <a:rPr sz="1700" i="1" baseline="-25000">
                <a:solidFill>
                  <a:srgbClr val="232323"/>
                </a:solidFill>
                <a:latin typeface="Cambria Math"/>
              </a:rPr>
              <a:t>i</a:t>
            </a:r>
            <a:r>
              <a:rPr sz="1700" i="0" baseline="30000">
                <a:solidFill>
                  <a:srgbClr val="232323"/>
                </a:solidFill>
                <a:latin typeface="Cambria Math"/>
              </a:rPr>
              <a:t>*</a:t>
            </a:r>
            <a:r>
              <a:rPr sz="1700" i="0">
                <a:solidFill>
                  <a:srgbClr val="232323"/>
                </a:solidFill>
                <a:latin typeface="Cambria Math"/>
              </a:rPr>
              <a:t>  =  </a:t>
            </a:r>
            <a:r>
              <a:rPr sz="1700" i="0">
                <a:solidFill>
                  <a:srgbClr val="232323"/>
                </a:solidFill>
                <a:latin typeface="Cambria Math"/>
              </a:rPr>
              <a:t>Σ</a:t>
            </a:r>
            <a:r>
              <a:rPr sz="1700" i="0" baseline="-25000">
                <a:solidFill>
                  <a:srgbClr val="232323"/>
                </a:solidFill>
                <a:latin typeface="Cambria Math"/>
              </a:rPr>
              <a:t>j</a:t>
            </a:r>
            <a:r>
              <a:rPr sz="1700" i="0">
                <a:solidFill>
                  <a:srgbClr val="232323"/>
                </a:solidFill>
                <a:latin typeface="Cambria Math"/>
              </a:rPr>
              <a:t> </a:t>
            </a:r>
            <a:r>
              <a:rPr sz="1700" i="1">
                <a:solidFill>
                  <a:srgbClr val="232323"/>
                </a:solidFill>
                <a:latin typeface="Cambria Math"/>
              </a:rPr>
              <a:t>w</a:t>
            </a:r>
            <a:r>
              <a:rPr sz="1700" i="1" baseline="-25000">
                <a:solidFill>
                  <a:srgbClr val="232323"/>
                </a:solidFill>
                <a:latin typeface="Cambria Math"/>
              </a:rPr>
              <a:t>ij</a:t>
            </a:r>
            <a:r>
              <a:rPr sz="1700" i="0">
                <a:solidFill>
                  <a:srgbClr val="232323"/>
                </a:solidFill>
                <a:latin typeface="Cambria Math"/>
              </a:rPr>
              <a:t> </a:t>
            </a:r>
            <a:r>
              <a:rPr sz="1700" i="1">
                <a:solidFill>
                  <a:srgbClr val="232323"/>
                </a:solidFill>
                <a:latin typeface="Cambria Math"/>
              </a:rPr>
              <a:t>x</a:t>
            </a:r>
            <a:r>
              <a:rPr sz="1700" i="1" baseline="-25000">
                <a:solidFill>
                  <a:srgbClr val="232323"/>
                </a:solidFill>
                <a:latin typeface="Cambria Math"/>
              </a:rPr>
              <a:t>j</a:t>
            </a:r>
          </a:p>
        </p:txBody>
      </p:sp>
      <p:sp>
        <p:nvSpPr>
          <p:cNvPr id="8" name="Down Arrow 7"/>
          <p:cNvSpPr/>
          <p:nvPr/>
        </p:nvSpPr>
        <p:spPr>
          <a:xfrm>
            <a:off x="9208008" y="2212848"/>
            <a:ext cx="146304" cy="237744"/>
          </a:xfrm>
          <a:prstGeom prst="downArrow">
            <a:avLst/>
          </a:prstGeom>
          <a:solidFill>
            <a:srgbClr val="305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858000" y="2487168"/>
            <a:ext cx="4846320" cy="914400"/>
          </a:xfrm>
          <a:prstGeom prst="roundRect">
            <a:avLst/>
          </a:prstGeom>
          <a:solidFill>
            <a:srgbClr val="F4F5F7"/>
          </a:solidFill>
          <a:ln w="9525">
            <a:solidFill>
              <a:srgbClr val="D2D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22592" y="2551176"/>
            <a:ext cx="4517136" cy="27432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r>
              <a:rPr sz="1050" b="1" i="0">
                <a:solidFill>
                  <a:srgbClr val="1C3663"/>
                </a:solidFill>
                <a:latin typeface="Calibri"/>
              </a:rPr>
              <a:t>Stack every economy + its links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2816352"/>
            <a:ext cx="4846320" cy="530352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ctr"/>
            <a:r>
              <a:rPr sz="1700" i="1">
                <a:solidFill>
                  <a:srgbClr val="232323"/>
                </a:solidFill>
                <a:latin typeface="Cambria Math"/>
              </a:rPr>
              <a:t>x</a:t>
            </a:r>
            <a:r>
              <a:rPr sz="1700" i="0">
                <a:solidFill>
                  <a:srgbClr val="232323"/>
                </a:solidFill>
                <a:latin typeface="Cambria Math"/>
              </a:rPr>
              <a:t>  =  </a:t>
            </a:r>
            <a:r>
              <a:rPr sz="1700" i="1">
                <a:solidFill>
                  <a:srgbClr val="232323"/>
                </a:solidFill>
                <a:latin typeface="Cambria Math"/>
              </a:rPr>
              <a:t>a</a:t>
            </a:r>
            <a:r>
              <a:rPr sz="1700" i="0">
                <a:solidFill>
                  <a:srgbClr val="232323"/>
                </a:solidFill>
                <a:latin typeface="Cambria Math"/>
              </a:rPr>
              <a:t>  +  </a:t>
            </a:r>
            <a:r>
              <a:rPr sz="1700" i="1">
                <a:solidFill>
                  <a:srgbClr val="232323"/>
                </a:solidFill>
                <a:latin typeface="Cambria Math"/>
              </a:rPr>
              <a:t>M</a:t>
            </a:r>
            <a:r>
              <a:rPr sz="1700" i="0">
                <a:solidFill>
                  <a:srgbClr val="232323"/>
                </a:solidFill>
                <a:latin typeface="Cambria Math"/>
              </a:rPr>
              <a:t> </a:t>
            </a:r>
            <a:r>
              <a:rPr sz="1700" i="1">
                <a:solidFill>
                  <a:srgbClr val="232323"/>
                </a:solidFill>
                <a:latin typeface="Cambria Math"/>
              </a:rPr>
              <a:t>x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9208008" y="3465576"/>
            <a:ext cx="146304" cy="237744"/>
          </a:xfrm>
          <a:prstGeom prst="downArrow">
            <a:avLst/>
          </a:prstGeom>
          <a:solidFill>
            <a:srgbClr val="305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858000" y="3739896"/>
            <a:ext cx="4846320" cy="914400"/>
          </a:xfrm>
          <a:prstGeom prst="roundRect">
            <a:avLst/>
          </a:prstGeom>
          <a:solidFill>
            <a:srgbClr val="F4F5F7"/>
          </a:solidFill>
          <a:ln w="9525">
            <a:solidFill>
              <a:srgbClr val="D2D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22592" y="3803904"/>
            <a:ext cx="4517136" cy="27432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r>
              <a:rPr sz="1050" b="1" i="0">
                <a:solidFill>
                  <a:srgbClr val="1C3663"/>
                </a:solidFill>
                <a:latin typeface="Calibri"/>
              </a:rPr>
              <a:t>Solve the fixed point (mutually consistent world)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4069080"/>
            <a:ext cx="4846320" cy="530352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ctr"/>
            <a:r>
              <a:rPr sz="1700" i="1">
                <a:solidFill>
                  <a:srgbClr val="232323"/>
                </a:solidFill>
                <a:latin typeface="Cambria Math"/>
              </a:rPr>
              <a:t>x</a:t>
            </a:r>
            <a:r>
              <a:rPr sz="1700" i="0">
                <a:solidFill>
                  <a:srgbClr val="232323"/>
                </a:solidFill>
                <a:latin typeface="Cambria Math"/>
              </a:rPr>
              <a:t>  =  (I − </a:t>
            </a:r>
            <a:r>
              <a:rPr sz="1700" i="1">
                <a:solidFill>
                  <a:srgbClr val="232323"/>
                </a:solidFill>
                <a:latin typeface="Cambria Math"/>
              </a:rPr>
              <a:t>M</a:t>
            </a:r>
            <a:r>
              <a:rPr sz="1700" i="0">
                <a:solidFill>
                  <a:srgbClr val="232323"/>
                </a:solidFill>
                <a:latin typeface="Cambria Math"/>
              </a:rPr>
              <a:t>)</a:t>
            </a:r>
            <a:r>
              <a:rPr sz="1700" i="0" baseline="30000">
                <a:solidFill>
                  <a:srgbClr val="232323"/>
                </a:solidFill>
                <a:latin typeface="Cambria Math"/>
              </a:rPr>
              <a:t>−1</a:t>
            </a:r>
            <a:r>
              <a:rPr sz="1700" i="0">
                <a:solidFill>
                  <a:srgbClr val="232323"/>
                </a:solidFill>
                <a:latin typeface="Cambria Math"/>
              </a:rPr>
              <a:t> </a:t>
            </a:r>
            <a:r>
              <a:rPr sz="1700" i="1">
                <a:solidFill>
                  <a:srgbClr val="232323"/>
                </a:solidFill>
                <a:latin typeface="Cambria Math"/>
              </a:rPr>
              <a:t>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4828032"/>
            <a:ext cx="4846320" cy="45720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r>
              <a:rPr sz="950" b="0" i="0">
                <a:solidFill>
                  <a:srgbClr val="696969"/>
                </a:solidFill>
                <a:latin typeface="Calibri"/>
              </a:rPr>
              <a:t>M holds the trade-weighted cross-country links; a is each economy’s own dynamics.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33872"/>
            <a:ext cx="11277295" cy="841248"/>
          </a:xfrm>
          <a:prstGeom prst="roundRect">
            <a:avLst/>
          </a:prstGeom>
          <a:solidFill>
            <a:srgbClr val="EBF1F9"/>
          </a:solidFill>
          <a:ln w="11430">
            <a:solidFill>
              <a:srgbClr val="1C36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400" b="1" i="0">
                <a:solidFill>
                  <a:srgbClr val="1C3663"/>
                </a:solidFill>
                <a:latin typeface="Calibri"/>
              </a:rPr>
              <a:t>In plain terms:  </a:t>
            </a:r>
            <a:r>
              <a:rPr sz="1350" b="0" i="0">
                <a:solidFill>
                  <a:srgbClr val="232323"/>
                </a:solidFill>
                <a:latin typeface="Calibri"/>
              </a:rPr>
              <a:t>No country moves alone — the solve finds the world path where every economy’s reaction to its partners is </a:t>
            </a:r>
            <a:r>
              <a:rPr sz="1350" b="1" i="0">
                <a:solidFill>
                  <a:srgbClr val="1C3663"/>
                </a:solidFill>
                <a:latin typeface="Calibri"/>
              </a:rPr>
              <a:t>mutually consistent</a:t>
            </a:r>
            <a:r>
              <a:rPr sz="1350" b="0" i="0">
                <a:solidFill>
                  <a:srgbClr val="232323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