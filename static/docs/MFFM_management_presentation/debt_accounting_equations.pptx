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Government debt accounting — one quarter, as implemented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1091672" cy="932688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78408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50" b="1" i="0">
                <a:solidFill>
                  <a:srgbClr val="1C3663"/>
                </a:solidFill>
                <a:latin typeface="Calibri"/>
              </a:rPr>
              <a:t>Nominal GDP growth (quarterly, decimal; ℓ = 100·ln of the level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1672" cy="56692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600" i="1" b="0">
                <a:solidFill>
                  <a:srgbClr val="232323"/>
                </a:solidFill>
                <a:latin typeface="Cambria Math"/>
              </a:rPr>
              <a:t>g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 baseline="30000">
                <a:solidFill>
                  <a:srgbClr val="232323"/>
                </a:solidFill>
                <a:latin typeface="Cambria Math"/>
              </a:rPr>
              <a:t>n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 =  [ (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ℓ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 baseline="30000">
                <a:solidFill>
                  <a:srgbClr val="232323"/>
                </a:solidFill>
                <a:latin typeface="Cambria Math"/>
              </a:rPr>
              <a:t>gdp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−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ℓ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t−1</a:t>
            </a:r>
            <a:r>
              <a:rPr sz="1600" i="0" b="0" baseline="30000">
                <a:solidFill>
                  <a:srgbClr val="232323"/>
                </a:solidFill>
                <a:latin typeface="Cambria Math"/>
              </a:rPr>
              <a:t>gdp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) + (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ℓ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 baseline="30000">
                <a:solidFill>
                  <a:srgbClr val="232323"/>
                </a:solidFill>
                <a:latin typeface="Cambria Math"/>
              </a:rPr>
              <a:t>defl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−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ℓ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t−1</a:t>
            </a:r>
            <a:r>
              <a:rPr sz="1600" i="0" b="0" baseline="30000">
                <a:solidFill>
                  <a:srgbClr val="232323"/>
                </a:solidFill>
                <a:latin typeface="Cambria Math"/>
              </a:rPr>
              <a:t>defl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) ]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56816"/>
            <a:ext cx="11091672" cy="932688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50" b="1" i="0">
                <a:solidFill>
                  <a:srgbClr val="1C3663"/>
                </a:solidFill>
                <a:latin typeface="Calibri"/>
              </a:rPr>
              <a:t>Flow updates (annual ratios, % of GDP)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11091672" cy="56692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600" i="1" b="0">
                <a:solidFill>
                  <a:srgbClr val="232323"/>
                </a:solidFill>
                <a:latin typeface="Cambria Math"/>
              </a:rPr>
              <a:t>pb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 = 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rev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−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pexp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    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int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 = 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i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 baseline="30000">
                <a:solidFill>
                  <a:srgbClr val="232323"/>
                </a:solidFill>
                <a:latin typeface="Cambria Math"/>
              </a:rPr>
              <a:t>eff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·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t−1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/ 100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    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def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 = 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int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600" i="0" b="0">
                <a:solidFill>
                  <a:srgbClr val="232323"/>
                </a:solidFill>
                <a:latin typeface="Cambria Math"/>
              </a:rPr>
              <a:t> − </a:t>
            </a:r>
            <a:r>
              <a:rPr sz="1600" i="1" b="0">
                <a:solidFill>
                  <a:srgbClr val="232323"/>
                </a:solidFill>
                <a:latin typeface="Cambria Math"/>
              </a:rPr>
              <a:t>pb</a:t>
            </a:r>
            <a:r>
              <a:rPr sz="1600" i="1" b="0" baseline="-25000">
                <a:solidFill>
                  <a:srgbClr val="232323"/>
                </a:solidFill>
                <a:latin typeface="Cambria Math"/>
              </a:rPr>
              <a:t>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99232"/>
            <a:ext cx="11091672" cy="1188720"/>
          </a:xfrm>
          <a:prstGeom prst="roundRect">
            <a:avLst/>
          </a:prstGeom>
          <a:solidFill>
            <a:srgbClr val="EBF1F9"/>
          </a:solidFill>
          <a:ln w="1778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063239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50" b="1" i="0">
                <a:solidFill>
                  <a:srgbClr val="1C3663"/>
                </a:solidFill>
                <a:latin typeface="Calibri"/>
              </a:rPr>
              <a:t>The debt update (the roll-forward; seeded at the last observed ratio d₀)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0127"/>
            <a:ext cx="11091672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90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9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  =  </a:t>
            </a:r>
            <a:r>
              <a:rPr sz="190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900" i="1" b="0" baseline="-25000">
                <a:solidFill>
                  <a:srgbClr val="232323"/>
                </a:solidFill>
                <a:latin typeface="Cambria Math"/>
              </a:rPr>
              <a:t>t−1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 · 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(1 + </a:t>
            </a:r>
            <a:r>
              <a:rPr sz="1900" i="1" b="0">
                <a:solidFill>
                  <a:srgbClr val="232323"/>
                </a:solidFill>
                <a:latin typeface="Cambria Math"/>
              </a:rPr>
              <a:t>i</a:t>
            </a:r>
            <a:r>
              <a:rPr sz="19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900" i="0" b="0" baseline="30000">
                <a:solidFill>
                  <a:srgbClr val="232323"/>
                </a:solidFill>
                <a:latin typeface="Cambria Math"/>
              </a:rPr>
              <a:t>eff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/400)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 / 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(1 + </a:t>
            </a:r>
            <a:r>
              <a:rPr sz="1900" i="1" b="0">
                <a:solidFill>
                  <a:srgbClr val="232323"/>
                </a:solidFill>
                <a:latin typeface="Cambria Math"/>
              </a:rPr>
              <a:t>g</a:t>
            </a:r>
            <a:r>
              <a:rPr sz="19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900" i="0" b="0" baseline="30000">
                <a:solidFill>
                  <a:srgbClr val="232323"/>
                </a:solidFill>
                <a:latin typeface="Cambria Math"/>
              </a:rPr>
              <a:t>n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)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  −  </a:t>
            </a:r>
            <a:r>
              <a:rPr sz="1900" i="1" b="0">
                <a:solidFill>
                  <a:srgbClr val="232323"/>
                </a:solidFill>
                <a:latin typeface="Cambria Math"/>
              </a:rPr>
              <a:t>pb</a:t>
            </a:r>
            <a:r>
              <a:rPr sz="19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/4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  +  </a:t>
            </a:r>
            <a:r>
              <a:rPr sz="1900" i="1" b="0">
                <a:solidFill>
                  <a:srgbClr val="232323"/>
                </a:solidFill>
                <a:latin typeface="Cambria Math"/>
              </a:rPr>
              <a:t>sfa</a:t>
            </a:r>
            <a:r>
              <a:rPr sz="1900" i="0" b="0">
                <a:solidFill>
                  <a:srgbClr val="232323"/>
                </a:solidFill>
                <a:latin typeface="Cambria Math"/>
              </a:rPr>
              <a:t>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77056"/>
            <a:ext cx="1060704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950" b="0" i="0">
                <a:solidFill>
                  <a:srgbClr val="696969"/>
                </a:solidFill>
                <a:latin typeface="Calibri"/>
              </a:rPr>
              <a:t>sfa = the structural stock-flow constant (long-run mean; sfaDefault: US 1.75, EA 0.33, JP 2.23, UK 3.15, CA 3.19, CN 4.02 % of GDP) — deliberately not the forecast SFA column.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15968"/>
            <a:ext cx="11091672" cy="118872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379976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50" b="1" i="0">
                <a:solidFill>
                  <a:srgbClr val="1C3663"/>
                </a:solidFill>
                <a:latin typeface="Calibri"/>
              </a:rPr>
              <a:t>Change per quarter — the snowball decomposition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26864"/>
            <a:ext cx="11091672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450" i="0" b="0">
                <a:solidFill>
                  <a:srgbClr val="232323"/>
                </a:solidFill>
                <a:latin typeface="Cambria Math"/>
              </a:rPr>
              <a:t>Δ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  =  [ (1 +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i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450" i="0" b="0" baseline="30000">
                <a:solidFill>
                  <a:srgbClr val="232323"/>
                </a:solidFill>
                <a:latin typeface="Cambria Math"/>
              </a:rPr>
              <a:t>eff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/400)/(1 +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g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450" i="0" b="0" baseline="30000">
                <a:solidFill>
                  <a:srgbClr val="232323"/>
                </a:solidFill>
                <a:latin typeface="Cambria Math"/>
              </a:rPr>
              <a:t>n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) − 1 ] ·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t−1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  − 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pb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/4  + 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sfa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/4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   ≈   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(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i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450" i="0" b="0" baseline="30000">
                <a:solidFill>
                  <a:srgbClr val="232323"/>
                </a:solidFill>
                <a:latin typeface="Cambria Math"/>
              </a:rPr>
              <a:t>eff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/400 −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g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450" i="0" b="0" baseline="30000">
                <a:solidFill>
                  <a:srgbClr val="232323"/>
                </a:solidFill>
                <a:latin typeface="Cambria Math"/>
              </a:rPr>
              <a:t>n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)/(1 +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g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450" i="0" b="0" baseline="30000">
                <a:solidFill>
                  <a:srgbClr val="232323"/>
                </a:solidFill>
                <a:latin typeface="Cambria Math"/>
              </a:rPr>
              <a:t>n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) ·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t−1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  − 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pb</a:t>
            </a:r>
            <a:r>
              <a:rPr sz="145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/4  +  </a:t>
            </a:r>
            <a:r>
              <a:rPr sz="1450" i="1" b="0">
                <a:solidFill>
                  <a:srgbClr val="232323"/>
                </a:solidFill>
                <a:latin typeface="Cambria Math"/>
              </a:rPr>
              <a:t>sfa</a:t>
            </a:r>
            <a:r>
              <a:rPr sz="1450" i="0" b="0">
                <a:solidFill>
                  <a:srgbClr val="232323"/>
                </a:solidFill>
                <a:latin typeface="Cambria Math"/>
              </a:rPr>
              <a:t>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193792"/>
            <a:ext cx="1060704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950" b="0" i="0">
                <a:solidFill>
                  <a:srgbClr val="696969"/>
                </a:solidFill>
                <a:latin typeface="Calibri"/>
              </a:rPr>
              <a:t>Debt rises mechanically whenever the quarterized effective rate exceeds quarterly nominal growth (i − g &gt; 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00" b="1" i="0">
                <a:solidFill>
                  <a:srgbClr val="1C3663"/>
                </a:solidFill>
                <a:latin typeface="Calibri"/>
              </a:rPr>
              <a:t>Estimated drivers:  </a:t>
            </a:r>
            <a:r>
              <a:rPr sz="1100" b="0" i="0">
                <a:solidFill>
                  <a:srgbClr val="232323"/>
                </a:solidFill>
                <a:latin typeface="Calibri"/>
              </a:rPr>
              <a:t>rev, pexp (% of GDP), the effective rate iᵉᶠᶠ (% p.a.), SFA — ordinary BVAR variables. </a:t>
            </a:r>
            <a:r>
              <a:rPr sz="1100" b="1" i="0">
                <a:solidFill>
                  <a:srgbClr val="1C3663"/>
                </a:solidFill>
                <a:latin typeface="Calibri"/>
              </a:rPr>
              <a:t>Derived by identity:  </a:t>
            </a:r>
            <a:r>
              <a:rPr sz="1100" b="0" i="0">
                <a:solidFill>
                  <a:srgbClr val="232323"/>
                </a:solidFill>
                <a:latin typeface="Calibri"/>
              </a:rPr>
              <a:t>pb, interest, deficit, Δd, and the debt ratio d — never estimated freely: the identity has a near-unit root (1+i)/(1+g), so free estimation is explosive.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Debt evolution over time — compounding, and the exact inversion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11091672" cy="9144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24128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50" b="1" i="0">
                <a:solidFill>
                  <a:srgbClr val="1C3663"/>
                </a:solidFill>
                <a:latin typeface="Calibri"/>
              </a:rPr>
              <a:t>The one-quarter compounding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1672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800" i="1" b="0">
                <a:solidFill>
                  <a:srgbClr val="232323"/>
                </a:solidFill>
                <a:latin typeface="Cambria Math"/>
              </a:rPr>
              <a:t>R</a:t>
            </a:r>
            <a:r>
              <a:rPr sz="18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800" i="0" b="0">
                <a:solidFill>
                  <a:srgbClr val="232323"/>
                </a:solidFill>
                <a:latin typeface="Cambria Math"/>
              </a:rPr>
              <a:t>  ≡  (1 + </a:t>
            </a:r>
            <a:r>
              <a:rPr sz="1800" i="1" b="0">
                <a:solidFill>
                  <a:srgbClr val="232323"/>
                </a:solidFill>
                <a:latin typeface="Cambria Math"/>
              </a:rPr>
              <a:t>i</a:t>
            </a:r>
            <a:r>
              <a:rPr sz="18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800" i="0" b="0" baseline="30000">
                <a:solidFill>
                  <a:srgbClr val="232323"/>
                </a:solidFill>
                <a:latin typeface="Cambria Math"/>
              </a:rPr>
              <a:t>eff</a:t>
            </a:r>
            <a:r>
              <a:rPr sz="1800" i="0" b="0">
                <a:solidFill>
                  <a:srgbClr val="232323"/>
                </a:solidFill>
                <a:latin typeface="Cambria Math"/>
              </a:rPr>
              <a:t>/400)</a:t>
            </a:r>
            <a:r>
              <a:rPr sz="1800" i="0" b="0">
                <a:solidFill>
                  <a:srgbClr val="232323"/>
                </a:solidFill>
                <a:latin typeface="Cambria Math"/>
              </a:rPr>
              <a:t> / (1 + </a:t>
            </a:r>
            <a:r>
              <a:rPr sz="1800" i="1" b="0">
                <a:solidFill>
                  <a:srgbClr val="232323"/>
                </a:solidFill>
                <a:latin typeface="Cambria Math"/>
              </a:rPr>
              <a:t>g</a:t>
            </a:r>
            <a:r>
              <a:rPr sz="18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800" i="0" b="0" baseline="30000">
                <a:solidFill>
                  <a:srgbClr val="232323"/>
                </a:solidFill>
                <a:latin typeface="Cambria Math"/>
              </a:rPr>
              <a:t>n</a:t>
            </a:r>
            <a:r>
              <a:rPr sz="1800" i="0" b="0">
                <a:solidFill>
                  <a:srgbClr val="232323"/>
                </a:solidFill>
                <a:latin typeface="Cambria Math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91672" cy="1572768"/>
          </a:xfrm>
          <a:prstGeom prst="roundRect">
            <a:avLst/>
          </a:prstGeom>
          <a:solidFill>
            <a:srgbClr val="EBF1F9"/>
          </a:solidFill>
          <a:ln w="1778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50" b="1" i="0">
                <a:solidFill>
                  <a:srgbClr val="1C3663"/>
                </a:solidFill>
                <a:latin typeface="Calibri"/>
              </a:rPr>
              <a:t>The T-quarter evolution (the recursion unrolled)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22576"/>
            <a:ext cx="11091672" cy="932687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70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700" i="0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 =  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700" i="0" b="0" baseline="-25000">
                <a:solidFill>
                  <a:srgbClr val="232323"/>
                </a:solidFill>
                <a:latin typeface="Cambria Math"/>
              </a:rPr>
              <a:t>0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· 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∏</a:t>
            </a:r>
            <a:r>
              <a:rPr sz="1700" i="0" b="0" baseline="-25000">
                <a:solidFill>
                  <a:srgbClr val="232323"/>
                </a:solidFill>
                <a:latin typeface="Cambria Math"/>
              </a:rPr>
              <a:t>t=1..T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R</a:t>
            </a:r>
            <a:r>
              <a:rPr sz="17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  +   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∑</a:t>
            </a:r>
            <a:r>
              <a:rPr sz="1700" i="0" b="0" baseline="-25000">
                <a:solidFill>
                  <a:srgbClr val="232323"/>
                </a:solidFill>
                <a:latin typeface="Cambria Math"/>
              </a:rPr>
              <a:t>t=1..T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( 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∏</a:t>
            </a:r>
            <a:r>
              <a:rPr sz="1700" i="0" b="0" baseline="-25000">
                <a:solidFill>
                  <a:srgbClr val="232323"/>
                </a:solidFill>
                <a:latin typeface="Cambria Math"/>
              </a:rPr>
              <a:t>s=t+1..T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R</a:t>
            </a:r>
            <a:r>
              <a:rPr sz="1700" i="1" b="0" baseline="-25000">
                <a:solidFill>
                  <a:srgbClr val="232323"/>
                </a:solidFill>
                <a:latin typeface="Cambria Math"/>
              </a:rPr>
              <a:t>s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)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· ( 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sfa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− 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pb</a:t>
            </a:r>
            <a:r>
              <a:rPr sz="17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) /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73552"/>
            <a:ext cx="1060704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950" b="0" i="0">
                <a:solidFill>
                  <a:srgbClr val="696969"/>
                </a:solidFill>
                <a:latin typeface="Calibri"/>
              </a:rPr>
              <a:t>The inherited stock compounds at the interest–growth ratio; each quarter’s net flow is carried forward at all subsequent R. With R ≈ 1 (near-unit root) small persistent flows accumulate one-for-one — and the compounding is convex in the drivers, so the per-draw debt distribution is right-skewed.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21608"/>
            <a:ext cx="11091672" cy="118872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785616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50" b="1" i="0">
                <a:solidFill>
                  <a:srgbClr val="1C3663"/>
                </a:solidFill>
                <a:latin typeface="Calibri"/>
              </a:rPr>
              <a:t>Exact inversion — the primary balance that delivers a target debt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32504"/>
            <a:ext cx="11091672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700" i="1" b="0">
                <a:solidFill>
                  <a:srgbClr val="232323"/>
                </a:solidFill>
                <a:latin typeface="Cambria Math"/>
              </a:rPr>
              <a:t>pb</a:t>
            </a:r>
            <a:r>
              <a:rPr sz="17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 =  4 · [ (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700" i="1" b="0" baseline="-25000">
                <a:solidFill>
                  <a:srgbClr val="232323"/>
                </a:solidFill>
                <a:latin typeface="Cambria Math"/>
              </a:rPr>
              <a:t>t−1</a:t>
            </a:r>
            <a:r>
              <a:rPr sz="1700" i="0" b="0" baseline="30000">
                <a:solidFill>
                  <a:srgbClr val="232323"/>
                </a:solidFill>
                <a:latin typeface="Cambria Math"/>
              </a:rPr>
              <a:t>tgt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+ 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int</a:t>
            </a:r>
            <a:r>
              <a:rPr sz="17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/4) / (1 + 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g</a:t>
            </a:r>
            <a:r>
              <a:rPr sz="17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 b="0" baseline="30000">
                <a:solidFill>
                  <a:srgbClr val="232323"/>
                </a:solidFill>
                <a:latin typeface="Cambria Math"/>
              </a:rPr>
              <a:t>n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)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 −  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d</a:t>
            </a:r>
            <a:r>
              <a:rPr sz="1700" i="1" b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 b="0" baseline="30000">
                <a:solidFill>
                  <a:srgbClr val="232323"/>
                </a:solidFill>
                <a:latin typeface="Cambria Math"/>
              </a:rPr>
              <a:t>tgt</a:t>
            </a:r>
            <a:r>
              <a:rPr sz="1700" i="0" b="0">
                <a:solidFill>
                  <a:srgbClr val="232323"/>
                </a:solidFill>
                <a:latin typeface="Cambria Math"/>
              </a:rPr>
              <a:t> ]  +  </a:t>
            </a:r>
            <a:r>
              <a:rPr sz="1700" i="1" b="0">
                <a:solidFill>
                  <a:srgbClr val="232323"/>
                </a:solidFill>
                <a:latin typeface="Cambria Math"/>
              </a:rPr>
              <a:t>sfa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99432"/>
            <a:ext cx="1060704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950" b="0" i="0">
                <a:solidFill>
                  <a:srgbClr val="696969"/>
                </a:solidFill>
                <a:latin typeface="Calibri"/>
              </a:rPr>
              <a:t>This is what a dragged Debt-to-GDP path conditions on: the required pb is pinned as the linear combination rev − pexp in the smoother.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38928"/>
            <a:ext cx="11091672" cy="1371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50" b="1" i="0">
                <a:solidFill>
                  <a:srgbClr val="1C3663"/>
                </a:solidFill>
                <a:latin typeface="Calibri"/>
              </a:rPr>
              <a:t>Reading the dynamics:  </a:t>
            </a:r>
            <a:r>
              <a:rPr sz="1150" b="0" i="0">
                <a:solidFill>
                  <a:srgbClr val="232323"/>
                </a:solidFill>
                <a:latin typeface="Calibri"/>
              </a:rPr>
              <a:t>three forces move the ratio — the snowball (i − g, automatic), the primary balance (policy), and the stock-flow constant (measurement/perimeter). A long-run growth anchor changes the terminal gⁿ and therefore owns the debt slope through the snowball — arithmetic, not a fiscal reform. Uncertainty bands push every posterior draw through this same identity, so the debt band widens exactly as fast as budget-and-growth uncertainty implies.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