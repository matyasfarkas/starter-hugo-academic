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17320"/>
            <a:ext cx="1033272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400" b="1" i="0">
                <a:solidFill>
                  <a:srgbClr val="1C3663"/>
                </a:solidFill>
                <a:latin typeface="Calibri"/>
              </a:rPr>
              <a:t>The Global Solve, Two Ways</a:t>
            </a:r>
          </a:p>
          <a:p>
            <a:pPr algn="ctr">
              <a:spcBef>
                <a:spcPts val="600"/>
              </a:spcBef>
            </a:pPr>
            <a:r>
              <a:rPr sz="2100" b="1" i="0">
                <a:solidFill>
                  <a:srgbClr val="305B96"/>
                </a:solidFill>
                <a:latin typeface="Calibri"/>
              </a:rPr>
              <a:t>EM-Bayesian G-BVAR  vs.  the classical Pesaran GVAR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3063240"/>
            <a:ext cx="2286000" cy="27432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1500">
                <a:solidFill>
                  <a:srgbClr val="232323"/>
                </a:solidFill>
                <a:latin typeface="Calibri"/>
              </a:rPr>
              <a:t>Same skeleton — country VARX* models linked by trade-weighted foreign variables — two ways to estimate it and to solve the coupled global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617720"/>
            <a:ext cx="9418320" cy="1554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232323"/>
                </a:solidFill>
                <a:latin typeface="Calibri"/>
              </a:rPr>
              <a:t>Mátyás Farkas</a:t>
            </a:r>
          </a:p>
          <a:p>
            <a:pPr algn="ctr">
              <a:spcBef>
                <a:spcPts val="700"/>
              </a:spcBef>
            </a:pPr>
            <a:r>
              <a:rPr sz="1200" b="0" i="0">
                <a:solidFill>
                  <a:srgbClr val="696969"/>
                </a:solidFill>
                <a:latin typeface="Calibri"/>
              </a:rPr>
              <a:t>International Monetary Fund</a:t>
            </a:r>
          </a:p>
          <a:p>
            <a:pPr algn="ctr">
              <a:spcBef>
                <a:spcPts val="700"/>
              </a:spcBef>
            </a:pPr>
            <a:r>
              <a:rPr sz="1150" b="0" i="0">
                <a:solidFill>
                  <a:srgbClr val="696969"/>
                </a:solidFill>
                <a:latin typeface="Calibri"/>
              </a:rPr>
              <a:t>Technical background note — MFFM global solve</a:t>
            </a:r>
          </a:p>
          <a:p>
            <a:pPr algn="ctr">
              <a:spcBef>
                <a:spcPts val="700"/>
              </a:spcBef>
            </a:pPr>
            <a:r>
              <a:rPr sz="900" b="0" i="1">
                <a:solidFill>
                  <a:srgbClr val="696969"/>
                </a:solidFill>
                <a:latin typeface="Calibri"/>
              </a:rPr>
              <a:t>Views expressed are my own and do not necessarily represent the IMF.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Executive summary — both are GVARs; the tool generalizes the classical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350" b="1">
                <a:solidFill>
                  <a:srgbClr val="1C3663"/>
                </a:solidFill>
                <a:latin typeface="Calibri"/>
              </a:rPr>
              <a:t>▸ </a:t>
            </a:r>
            <a:r>
              <a:rPr sz="1350" b="1">
                <a:solidFill>
                  <a:srgbClr val="1C3663"/>
                </a:solidFill>
                <a:latin typeface="Calibri"/>
              </a:rPr>
              <a:t>Both are GVARs.</a:t>
            </a:r>
            <a:r>
              <a:rPr sz="1350">
                <a:solidFill>
                  <a:srgbClr val="232323"/>
                </a:solidFill>
                <a:latin typeface="Calibri"/>
              </a:rPr>
              <a:t> Every economy is a VAR in its own variables plus </a:t>
            </a:r>
            <a:r>
              <a:rPr sz="1350" b="1">
                <a:solidFill>
                  <a:srgbClr val="1C3663"/>
                </a:solidFill>
                <a:latin typeface="Calibri"/>
              </a:rPr>
              <a:t>trade-weighted foreign “stars”</a:t>
            </a:r>
            <a:r>
              <a:rPr sz="1350">
                <a:solidFill>
                  <a:srgbClr val="232323"/>
                </a:solidFill>
                <a:latin typeface="Calibri"/>
              </a:rPr>
              <a:t> (partners’ activity, prices, rates); the country models are stacked and solved into </a:t>
            </a:r>
            <a:r>
              <a:rPr sz="1350" b="1">
                <a:solidFill>
                  <a:srgbClr val="1C3663"/>
                </a:solidFill>
                <a:latin typeface="Calibri"/>
              </a:rPr>
              <a:t>one global system</a:t>
            </a:r>
            <a:r>
              <a:rPr sz="135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350" b="1">
                <a:solidFill>
                  <a:srgbClr val="1C3663"/>
                </a:solidFill>
                <a:latin typeface="Calibri"/>
              </a:rPr>
              <a:t>▸ </a:t>
            </a:r>
            <a:r>
              <a:rPr sz="1350" b="1">
                <a:solidFill>
                  <a:srgbClr val="1C3663"/>
                </a:solidFill>
                <a:latin typeface="Calibri"/>
              </a:rPr>
              <a:t>(a) Bayesian, not OLS.</a:t>
            </a:r>
            <a:r>
              <a:rPr sz="1350">
                <a:solidFill>
                  <a:srgbClr val="232323"/>
                </a:solidFill>
                <a:latin typeface="Calibri"/>
              </a:rPr>
              <a:t> Each bloc is a GLP hierarchical-Minnesota BVAR (shrunk toward a random walk, tightness λ / sum-of-coefficients μ sampled) — not the classical per-bloc OLS VARX* / reduced-rank VECMX*.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350" b="1">
                <a:solidFill>
                  <a:srgbClr val="1C3663"/>
                </a:solidFill>
                <a:latin typeface="Calibri"/>
              </a:rPr>
              <a:t>▸ </a:t>
            </a:r>
            <a:r>
              <a:rPr sz="1350" b="1">
                <a:solidFill>
                  <a:srgbClr val="1C3663"/>
                </a:solidFill>
                <a:latin typeface="Calibri"/>
              </a:rPr>
              <a:t>(b) It completes the data.</a:t>
            </a:r>
            <a:r>
              <a:rPr sz="1350">
                <a:solidFill>
                  <a:srgbClr val="232323"/>
                </a:solidFill>
                <a:latin typeface="Calibri"/>
              </a:rPr>
              <a:t> An </a:t>
            </a:r>
            <a:r>
              <a:rPr sz="1350" b="1">
                <a:solidFill>
                  <a:srgbClr val="1C3663"/>
                </a:solidFill>
                <a:latin typeface="Calibri"/>
              </a:rPr>
              <a:t>EM loop</a:t>
            </a:r>
            <a:r>
              <a:rPr sz="1350">
                <a:solidFill>
                  <a:srgbClr val="232323"/>
                </a:solidFill>
                <a:latin typeface="Calibri"/>
              </a:rPr>
              <a:t> with a Durbin–Koopman simulation smoother fills ragged edges and COVID-as-missing macros (financials kept observed) — the classical GVAR estimates each bloc on its own span, then couples on a common window (truncate / dummy, </a:t>
            </a:r>
            <a:r>
              <a:rPr sz="1350">
                <a:solidFill>
                  <a:srgbClr val="962D2D"/>
                </a:solidFill>
                <a:latin typeface="Calibri"/>
              </a:rPr>
              <a:t>no imputation</a:t>
            </a:r>
            <a:r>
              <a:rPr sz="1350">
                <a:solidFill>
                  <a:srgbClr val="232323"/>
                </a:solidFill>
                <a:latin typeface="Calibri"/>
              </a:rPr>
              <a:t>).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350" b="1">
                <a:solidFill>
                  <a:srgbClr val="1C3663"/>
                </a:solidFill>
                <a:latin typeface="Calibri"/>
              </a:rPr>
              <a:t>▸ </a:t>
            </a:r>
            <a:r>
              <a:rPr sz="1350" b="1">
                <a:solidFill>
                  <a:srgbClr val="1C3663"/>
                </a:solidFill>
                <a:latin typeface="Calibri"/>
              </a:rPr>
              <a:t>(c) The US is endogenous.</a:t>
            </a:r>
            <a:r>
              <a:rPr sz="1350">
                <a:solidFill>
                  <a:srgbClr val="232323"/>
                </a:solidFill>
                <a:latin typeface="Calibri"/>
              </a:rPr>
              <a:t> It carries its own ROW*_US stars (n 37→40) so the </a:t>
            </a:r>
            <a:r>
              <a:rPr sz="1350" b="1">
                <a:solidFill>
                  <a:srgbClr val="1C3663"/>
                </a:solidFill>
                <a:latin typeface="Calibri"/>
              </a:rPr>
              <a:t>world feeds back</a:t>
            </a:r>
            <a:r>
              <a:rPr sz="1350">
                <a:solidFill>
                  <a:srgbClr val="232323"/>
                </a:solidFill>
                <a:latin typeface="Calibri"/>
              </a:rPr>
              <a:t> onto it; the classical GVAR treats the US as the dominant </a:t>
            </a:r>
            <a:r>
              <a:rPr sz="1350" i="1">
                <a:solidFill>
                  <a:srgbClr val="232323"/>
                </a:solidFill>
                <a:latin typeface="Calibri"/>
              </a:rPr>
              <a:t>source</a:t>
            </a:r>
            <a:r>
              <a:rPr sz="1350">
                <a:solidFill>
                  <a:srgbClr val="232323"/>
                </a:solidFill>
                <a:latin typeface="Calibri"/>
              </a:rPr>
              <a:t> of the weakly-exogenous global commons.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350" b="1">
                <a:solidFill>
                  <a:srgbClr val="1C3663"/>
                </a:solidFill>
                <a:latin typeface="Calibri"/>
              </a:rPr>
              <a:t>▸ </a:t>
            </a:r>
            <a:r>
              <a:rPr sz="1350" b="1">
                <a:solidFill>
                  <a:srgbClr val="1C3663"/>
                </a:solidFill>
                <a:latin typeface="Calibri"/>
              </a:rPr>
              <a:t>(d) An affine fixed point.</a:t>
            </a:r>
            <a:r>
              <a:rPr sz="1350">
                <a:solidFill>
                  <a:srgbClr val="232323"/>
                </a:solidFill>
                <a:latin typeface="Calibri"/>
              </a:rPr>
              <a:t> The coupled solve reduces to x = Mx + d ⇒ x = (I−M)⁻¹d with a </a:t>
            </a:r>
            <a:r>
              <a:rPr sz="1350" b="1">
                <a:solidFill>
                  <a:srgbClr val="1C3663"/>
                </a:solidFill>
                <a:latin typeface="Calibri"/>
              </a:rPr>
              <a:t>pre-shipped inverse</a:t>
            </a:r>
            <a:r>
              <a:rPr sz="1350">
                <a:solidFill>
                  <a:srgbClr val="232323"/>
                </a:solidFill>
                <a:latin typeface="Calibri"/>
              </a:rPr>
              <a:t>, coupling by projection step; the classical solve stacks and inverts the contemporaneous matrix G₀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70448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In one line:  </a:t>
            </a:r>
            <a:r>
              <a:rPr sz="1300">
                <a:solidFill>
                  <a:srgbClr val="232323"/>
                </a:solidFill>
                <a:latin typeface="Calibri"/>
              </a:rPr>
              <a:t>A </a:t>
            </a:r>
            <a:r>
              <a:rPr sz="1300" b="1">
                <a:solidFill>
                  <a:srgbClr val="1C3663"/>
                </a:solidFill>
                <a:latin typeface="Calibri"/>
              </a:rPr>
              <a:t>superset, not a rewrite</a:t>
            </a:r>
            <a:r>
              <a:rPr sz="1300">
                <a:solidFill>
                  <a:srgbClr val="232323"/>
                </a:solidFill>
                <a:latin typeface="Calibri"/>
              </a:rPr>
              <a:t>: the same VARX* + trade-weighted-star GVAR skeleton, made Bayesian, gap-tolerant, US-endogenous, and solved as an affine deviation fixed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What the classical GVAR does (Pesaran–Schuermann–Weiner; Dees–di Mauro–Pesaran–Smith)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>
                <a:solidFill>
                  <a:srgbClr val="232323"/>
                </a:solidFill>
                <a:latin typeface="Calibri"/>
              </a:rPr>
              <a:t>Estimate each country </a:t>
            </a:r>
            <a:r>
              <a:rPr sz="1250" b="1">
                <a:solidFill>
                  <a:srgbClr val="1C3663"/>
                </a:solidFill>
                <a:latin typeface="Calibri"/>
              </a:rPr>
              <a:t>separately</a:t>
            </a:r>
            <a:r>
              <a:rPr sz="1250">
                <a:solidFill>
                  <a:srgbClr val="232323"/>
                </a:solidFill>
                <a:latin typeface="Calibri"/>
              </a:rPr>
              <a:t>, build weakly-exogenous stars from observed partners, then </a:t>
            </a:r>
            <a:r>
              <a:rPr sz="1250" b="1">
                <a:solidFill>
                  <a:srgbClr val="1C3663"/>
                </a:solidFill>
                <a:latin typeface="Calibri"/>
              </a:rPr>
              <a:t>stack and invert G₀ once</a:t>
            </a:r>
            <a:r>
              <a:rPr sz="125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pic>
        <p:nvPicPr>
          <p:cNvPr id="5" name="Picture 4" descr="fig_pes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375" y="1261872"/>
            <a:ext cx="6454944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868375" y="1261872"/>
            <a:ext cx="6454944" cy="4480560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870448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The classical recipe:  </a:t>
            </a:r>
            <a:r>
              <a:rPr sz="1300" b="1">
                <a:solidFill>
                  <a:srgbClr val="1C3663"/>
                </a:solidFill>
                <a:latin typeface="Calibri"/>
              </a:rPr>
              <a:t>N separate</a:t>
            </a:r>
            <a:r>
              <a:rPr sz="1300">
                <a:solidFill>
                  <a:srgbClr val="232323"/>
                </a:solidFill>
                <a:latin typeface="Calibri"/>
              </a:rPr>
              <a:t> VARX* / VECMX* blocs, each on its own sample · fixed-weight, weakly-exogenous stars · a </a:t>
            </a:r>
            <a:r>
              <a:rPr sz="1300">
                <a:solidFill>
                  <a:srgbClr val="962D2D"/>
                </a:solidFill>
                <a:latin typeface="Calibri"/>
              </a:rPr>
              <a:t>common solve window</a:t>
            </a:r>
            <a:r>
              <a:rPr sz="1300">
                <a:solidFill>
                  <a:srgbClr val="232323"/>
                </a:solidFill>
                <a:latin typeface="Calibri"/>
              </a:rPr>
              <a:t> (ragged edges truncated, no imputation) · US a source · one G₀ inversion.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How the EM-Bayesian G-BVAR differs — completion loop, Bayesian blocs, endogenous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>
                <a:solidFill>
                  <a:srgbClr val="232323"/>
                </a:solidFill>
                <a:latin typeface="Calibri"/>
              </a:rPr>
              <a:t>An </a:t>
            </a:r>
            <a:r>
              <a:rPr sz="1200" b="1">
                <a:solidFill>
                  <a:srgbClr val="1C3663"/>
                </a:solidFill>
                <a:latin typeface="Calibri"/>
              </a:rPr>
              <a:t>EM + DK-smoother</a:t>
            </a:r>
            <a:r>
              <a:rPr sz="1200">
                <a:solidFill>
                  <a:srgbClr val="232323"/>
                </a:solidFill>
                <a:latin typeface="Calibri"/>
              </a:rPr>
              <a:t> loop completes the panels and rebuilds the stars; GLP-Bayesian blocs; the US is </a:t>
            </a:r>
            <a:r>
              <a:rPr sz="1200" b="1">
                <a:solidFill>
                  <a:srgbClr val="1C3663"/>
                </a:solidFill>
                <a:latin typeface="Calibri"/>
              </a:rPr>
              <a:t>endogenous</a:t>
            </a:r>
            <a:r>
              <a:rPr sz="1200">
                <a:solidFill>
                  <a:srgbClr val="232323"/>
                </a:solidFill>
                <a:latin typeface="Calibri"/>
              </a:rPr>
              <a:t>; the coupled solve is an </a:t>
            </a:r>
            <a:r>
              <a:rPr sz="1200" b="1">
                <a:solidFill>
                  <a:srgbClr val="1C3663"/>
                </a:solidFill>
                <a:latin typeface="Calibri"/>
              </a:rPr>
              <a:t>affine fixed point</a:t>
            </a:r>
            <a:r>
              <a:rPr sz="1200">
                <a:solidFill>
                  <a:srgbClr val="232323"/>
                </a:solidFill>
                <a:latin typeface="Calibri"/>
              </a:rPr>
              <a:t> with a pre-computed inverse.</a:t>
            </a:r>
          </a:p>
        </p:txBody>
      </p:sp>
      <p:pic>
        <p:nvPicPr>
          <p:cNvPr id="5" name="Picture 4" descr="fig_gb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529" y="1261872"/>
            <a:ext cx="9106636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542529" y="1261872"/>
            <a:ext cx="9106636" cy="4480560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5870448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The four generalizations: 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Bayesian GLP shrinkage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EM/DK data completion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endogenous US (world feeds back)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affine (I−M)⁻¹d solve.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Side by side — the same GVAR skeleton, five points of departure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148840" cy="475488"/>
          </a:xfrm>
          <a:prstGeom prst="rect">
            <a:avLst/>
          </a:prstGeom>
          <a:solidFill>
            <a:srgbClr val="1C366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148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960120"/>
            <a:ext cx="4553712" cy="475488"/>
          </a:xfrm>
          <a:prstGeom prst="rect">
            <a:avLst/>
          </a:prstGeom>
          <a:solidFill>
            <a:srgbClr val="305B9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960120"/>
            <a:ext cx="4553712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Classical Pesaran GVAR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51192" y="960120"/>
            <a:ext cx="4480560" cy="475488"/>
          </a:xfrm>
          <a:prstGeom prst="rect">
            <a:avLst/>
          </a:prstGeom>
          <a:solidFill>
            <a:srgbClr val="1C366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1192" y="960120"/>
            <a:ext cx="44805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EM-Bayesian G-BVAR (this tool)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5608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35608"/>
            <a:ext cx="2057400" cy="8613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3663"/>
                </a:solidFill>
                <a:latin typeface="Calibri"/>
              </a:rPr>
              <a:t>Estimation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35608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1435608"/>
            <a:ext cx="4517136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Each country </a:t>
            </a:r>
            <a:r>
              <a:rPr sz="1100" b="1">
                <a:solidFill>
                  <a:srgbClr val="1C3663"/>
                </a:solidFill>
                <a:latin typeface="Calibri"/>
              </a:rPr>
              <a:t>separately</a:t>
            </a:r>
            <a:r>
              <a:rPr sz="1100">
                <a:solidFill>
                  <a:srgbClr val="232323"/>
                </a:solidFill>
                <a:latin typeface="Calibri"/>
              </a:rPr>
              <a:t>: per-bloc OLS VARX* — or reduced-rank VECMX* ML. Fixed weights, no shrinkage prior.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435608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1435608"/>
            <a:ext cx="4443984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 b="1">
                <a:solidFill>
                  <a:srgbClr val="1C3663"/>
                </a:solidFill>
                <a:latin typeface="Calibri"/>
              </a:rPr>
              <a:t>GLP hierarchical-Minnesota BVAR</a:t>
            </a:r>
            <a:r>
              <a:rPr sz="1100">
                <a:solidFill>
                  <a:srgbClr val="232323"/>
                </a:solidFill>
                <a:latin typeface="Calibri"/>
              </a:rPr>
              <a:t> per bloc; shrunk to a random walk; λ, μ sampled, not fixed; posterior-mean companion exported.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96972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96972"/>
            <a:ext cx="2057400" cy="8613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3663"/>
                </a:solidFill>
                <a:latin typeface="Calibri"/>
              </a:rPr>
              <a:t>Foreign 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296972"/>
            <a:ext cx="4553712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2296972"/>
            <a:ext cx="4517136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Stars  x*_i = Σ w_ij x_j  over partners j≠i; from </a:t>
            </a:r>
            <a:r>
              <a:rPr sz="1100" b="1">
                <a:solidFill>
                  <a:srgbClr val="1C3663"/>
                </a:solidFill>
                <a:latin typeface="Calibri"/>
              </a:rPr>
              <a:t>observed</a:t>
            </a:r>
            <a:r>
              <a:rPr sz="1100">
                <a:solidFill>
                  <a:srgbClr val="232323"/>
                </a:solidFill>
                <a:latin typeface="Calibri"/>
              </a:rPr>
              <a:t> data; </a:t>
            </a:r>
            <a:r>
              <a:rPr sz="1100" b="1">
                <a:solidFill>
                  <a:srgbClr val="1C3663"/>
                </a:solidFill>
                <a:latin typeface="Calibri"/>
              </a:rPr>
              <a:t>weakly exogenous</a:t>
            </a:r>
            <a:r>
              <a:rPr sz="1100">
                <a:solidFill>
                  <a:srgbClr val="232323"/>
                </a:solidFill>
                <a:latin typeface="Calibri"/>
              </a:rPr>
              <a:t> (tested per bloc).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51192" y="2296972"/>
            <a:ext cx="4480560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2296972"/>
            <a:ext cx="4443984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3 stars per bloc (DEM / INF / FIN); </a:t>
            </a:r>
            <a:r>
              <a:rPr sz="1100" b="1">
                <a:solidFill>
                  <a:srgbClr val="1C3663"/>
                </a:solidFill>
                <a:latin typeface="Calibri"/>
              </a:rPr>
              <a:t>per-quarter renormalised</a:t>
            </a:r>
            <a:r>
              <a:rPr sz="1100">
                <a:solidFill>
                  <a:srgbClr val="232323"/>
                </a:solidFill>
                <a:latin typeface="Calibri"/>
              </a:rPr>
              <a:t> weights; estimated as ordinary columns, </a:t>
            </a:r>
            <a:r>
              <a:rPr sz="1100" b="1">
                <a:solidFill>
                  <a:srgbClr val="1C3663"/>
                </a:solidFill>
                <a:latin typeface="Calibri"/>
              </a:rPr>
              <a:t>pinned affinely</a:t>
            </a:r>
            <a:r>
              <a:rPr sz="1100">
                <a:solidFill>
                  <a:srgbClr val="232323"/>
                </a:solidFill>
                <a:latin typeface="Calibri"/>
              </a:rPr>
              <a:t> at solve.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8337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58337"/>
            <a:ext cx="2057400" cy="8613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3663"/>
                </a:solidFill>
                <a:latin typeface="Calibri"/>
              </a:rPr>
              <a:t>Missing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158337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3158337"/>
            <a:ext cx="4517136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Each bloc on its </a:t>
            </a:r>
            <a:r>
              <a:rPr sz="1100" b="1">
                <a:solidFill>
                  <a:srgbClr val="1C3663"/>
                </a:solidFill>
                <a:latin typeface="Calibri"/>
              </a:rPr>
              <a:t>own span</a:t>
            </a:r>
            <a:r>
              <a:rPr sz="1100">
                <a:solidFill>
                  <a:srgbClr val="232323"/>
                </a:solidFill>
                <a:latin typeface="Calibri"/>
              </a:rPr>
              <a:t>; the </a:t>
            </a:r>
            <a:r>
              <a:rPr sz="1100" b="1">
                <a:solidFill>
                  <a:srgbClr val="1C3663"/>
                </a:solidFill>
                <a:latin typeface="Calibri"/>
              </a:rPr>
              <a:t>coupled solve</a:t>
            </a:r>
            <a:r>
              <a:rPr sz="1100">
                <a:solidFill>
                  <a:srgbClr val="232323"/>
                </a:solidFill>
                <a:latin typeface="Calibri"/>
              </a:rPr>
              <a:t> uses a common window (ragged edges truncated); COVID dummied — </a:t>
            </a:r>
            <a:r>
              <a:rPr sz="1100">
                <a:solidFill>
                  <a:srgbClr val="962D2D"/>
                </a:solidFill>
                <a:latin typeface="Calibri"/>
              </a:rPr>
              <a:t>no model-based imputation</a:t>
            </a:r>
            <a:r>
              <a:rPr sz="11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3158337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79" y="3158337"/>
            <a:ext cx="4443984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 b="1">
                <a:solidFill>
                  <a:srgbClr val="1C3663"/>
                </a:solidFill>
                <a:latin typeface="Calibri"/>
              </a:rPr>
              <a:t>EM + DK simulation smoother</a:t>
            </a:r>
            <a:r>
              <a:rPr sz="1100">
                <a:solidFill>
                  <a:srgbClr val="232323"/>
                </a:solidFill>
                <a:latin typeface="Calibri"/>
              </a:rPr>
              <a:t> completes ragged &amp; COVID-missing macros; financials kept observed; coupling by </a:t>
            </a:r>
            <a:r>
              <a:rPr sz="1100" b="1">
                <a:solidFill>
                  <a:srgbClr val="1C3663"/>
                </a:solidFill>
                <a:latin typeface="Calibri"/>
              </a:rPr>
              <a:t>projection step</a:t>
            </a:r>
            <a:r>
              <a:rPr sz="11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19702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19702"/>
            <a:ext cx="2057400" cy="8613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3663"/>
                </a:solidFill>
                <a:latin typeface="Calibri"/>
              </a:rPr>
              <a:t>Dominant unit (US)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4019702"/>
            <a:ext cx="4553712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8" y="4019702"/>
            <a:ext cx="4517136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US = </a:t>
            </a:r>
            <a:r>
              <a:rPr sz="1100" b="1">
                <a:solidFill>
                  <a:srgbClr val="1C3663"/>
                </a:solidFill>
                <a:latin typeface="Calibri"/>
              </a:rPr>
              <a:t>dominant unit</a:t>
            </a:r>
            <a:r>
              <a:rPr sz="1100">
                <a:solidFill>
                  <a:srgbClr val="232323"/>
                </a:solidFill>
                <a:latin typeface="Calibri"/>
              </a:rPr>
              <a:t> — source of the weakly-exogenous global commons. Its foreign </a:t>
            </a:r>
            <a:r>
              <a:rPr sz="1100" b="1">
                <a:solidFill>
                  <a:srgbClr val="1C3663"/>
                </a:solidFill>
                <a:latin typeface="Calibri"/>
              </a:rPr>
              <a:t>financial</a:t>
            </a:r>
            <a:r>
              <a:rPr sz="1100">
                <a:solidFill>
                  <a:srgbClr val="232323"/>
                </a:solidFill>
                <a:latin typeface="Calibri"/>
              </a:rPr>
              <a:t> stars are restricted (x*_US restricted), so the financial channel is </a:t>
            </a:r>
            <a:r>
              <a:rPr sz="1100">
                <a:solidFill>
                  <a:srgbClr val="962D2D"/>
                </a:solidFill>
                <a:latin typeface="Calibri"/>
              </a:rPr>
              <a:t>one-directional — the world does not feed back through finance</a:t>
            </a:r>
            <a:r>
              <a:rPr sz="11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4019702"/>
            <a:ext cx="4480560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79" y="4019702"/>
            <a:ext cx="4443984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US </a:t>
            </a:r>
            <a:r>
              <a:rPr sz="1100" b="1">
                <a:solidFill>
                  <a:srgbClr val="1C3663"/>
                </a:solidFill>
                <a:latin typeface="Calibri"/>
              </a:rPr>
              <a:t>endogenous</a:t>
            </a:r>
            <a:r>
              <a:rPr sz="1100">
                <a:solidFill>
                  <a:srgbClr val="232323"/>
                </a:solidFill>
                <a:latin typeface="Calibri"/>
              </a:rPr>
              <a:t>: own ROW*_US stars, n 37→40; </a:t>
            </a:r>
            <a:r>
              <a:rPr sz="1100" b="1">
                <a:solidFill>
                  <a:srgbClr val="1C3663"/>
                </a:solidFill>
                <a:latin typeface="Calibri"/>
              </a:rPr>
              <a:t>world feeds back</a:t>
            </a:r>
            <a:r>
              <a:rPr sz="1100">
                <a:solidFill>
                  <a:srgbClr val="232323"/>
                </a:solidFill>
                <a:latin typeface="Calibri"/>
              </a:rPr>
              <a:t>; US drives the 4 global commons.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81067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881067"/>
            <a:ext cx="2057400" cy="86136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200" b="1" i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881067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70048" y="4881067"/>
            <a:ext cx="4517136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Stack  G₀ x_t = a + Σ Gℓ x_(t−ℓ) + u;  </a:t>
            </a:r>
            <a:r>
              <a:rPr sz="1100" b="1">
                <a:solidFill>
                  <a:srgbClr val="1C3663"/>
                </a:solidFill>
                <a:latin typeface="Calibri"/>
              </a:rPr>
              <a:t>invert G₀ once</a:t>
            </a:r>
            <a:r>
              <a:rPr sz="1100">
                <a:solidFill>
                  <a:srgbClr val="232323"/>
                </a:solidFill>
                <a:latin typeface="Calibri"/>
              </a:rPr>
              <a:t> → reduced-form GVAR (GIRFs).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1192" y="4881067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79" y="4881067"/>
            <a:ext cx="4443984" cy="861364"/>
          </a:xfrm>
          <a:prstGeom prst="rect">
            <a:avLst/>
          </a:prstGeom>
          <a:noFill/>
        </p:spPr>
        <p:txBody>
          <a:bodyPr wrap="square" anchor="ctr" lIns="109728" rIns="109728" tIns="18288" bIns="18288">
            <a:spAutoFit/>
          </a:bodyPr>
          <a:lstStyle/>
          <a:p>
            <a:pPr>
              <a:lnSpc>
                <a:spcPct val="103000"/>
              </a:lnSpc>
            </a:pPr>
            <a:r>
              <a:rPr sz="1100">
                <a:solidFill>
                  <a:srgbClr val="232323"/>
                </a:solidFill>
                <a:latin typeface="Calibri"/>
              </a:rPr>
              <a:t>Affine deviation  x = Mx + d ⇒ x = (I−M)⁻¹d;  </a:t>
            </a:r>
            <a:r>
              <a:rPr sz="1100" b="1">
                <a:solidFill>
                  <a:srgbClr val="1C3663"/>
                </a:solidFill>
                <a:latin typeface="Calibri"/>
              </a:rPr>
              <a:t>pre-shipped inverse</a:t>
            </a:r>
            <a:r>
              <a:rPr sz="1100">
                <a:solidFill>
                  <a:srgbClr val="232323"/>
                </a:solidFill>
                <a:latin typeface="Calibri"/>
              </a:rPr>
              <a:t>; unique since ρ(M) = 0.947.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Read the columns:  </a:t>
            </a:r>
            <a:r>
              <a:rPr sz="1300">
                <a:solidFill>
                  <a:srgbClr val="232323"/>
                </a:solidFill>
                <a:latin typeface="Calibri"/>
              </a:rPr>
              <a:t>Left = the textbook GVAR; right = the </a:t>
            </a:r>
            <a:r>
              <a:rPr sz="1300" b="1">
                <a:solidFill>
                  <a:srgbClr val="1C3663"/>
                </a:solidFill>
                <a:latin typeface="Calibri"/>
              </a:rPr>
              <a:t>same construction</a:t>
            </a:r>
            <a:r>
              <a:rPr sz="1300">
                <a:solidFill>
                  <a:srgbClr val="232323"/>
                </a:solidFill>
                <a:latin typeface="Calibri"/>
              </a:rPr>
              <a:t> made Bayesian, gap-tolerant, US-endogenous and affine.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0"/>
            <a:ext cx="11612880" cy="7498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The shipped numbers, and what the generalization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3663"/>
                </a:solidFill>
                <a:latin typeface="Calibri"/>
              </a:rPr>
              <a:t>The shipped 33-bloc coupled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76072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 b="1">
                <a:solidFill>
                  <a:srgbClr val="1C3663"/>
                </a:solidFill>
                <a:latin typeface="Calibri"/>
              </a:rPr>
              <a:t>ρ(M) = 0.946626 &lt; 1</a:t>
            </a:r>
            <a:r>
              <a:rPr sz="1250">
                <a:solidFill>
                  <a:srgbClr val="232323"/>
                </a:solidFill>
                <a:latin typeface="Calibri"/>
              </a:rPr>
              <a:t> → the fixed point is unique (frozen-anchor legacy: ρ ≈ 0.70).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>
                <a:solidFill>
                  <a:srgbClr val="232323"/>
                </a:solidFill>
                <a:latin typeface="Calibri"/>
              </a:rPr>
              <a:t>Augmented state </a:t>
            </a:r>
            <a:r>
              <a:rPr sz="1250" b="1">
                <a:solidFill>
                  <a:srgbClr val="1C3663"/>
                </a:solidFill>
                <a:latin typeface="Calibri"/>
              </a:rPr>
              <a:t>dim = 2060</a:t>
            </a:r>
            <a:r>
              <a:rPr sz="1250">
                <a:solidFill>
                  <a:srgbClr val="232323"/>
                </a:solidFill>
                <a:latin typeface="Calibri"/>
              </a:rPr>
              <a:t> = 33·3·20 + 4·20 (stars stacked with US-global deltas) — verified against the shipped artifact.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 b="1">
                <a:solidFill>
                  <a:srgbClr val="1C3663"/>
                </a:solidFill>
                <a:latin typeface="Calibri"/>
              </a:rPr>
              <a:t>50 economies</a:t>
            </a:r>
            <a:r>
              <a:rPr sz="1250">
                <a:solidFill>
                  <a:srgbClr val="232323"/>
                </a:solidFill>
                <a:latin typeface="Calibri"/>
              </a:rPr>
              <a:t> = 33 GVAR-coupled blocs + 17 euro members; lags p = 3, horizon H = 20.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>
                <a:solidFill>
                  <a:srgbClr val="232323"/>
                </a:solidFill>
                <a:latin typeface="Calibri"/>
              </a:rPr>
              <a:t>EM loop: MAXIT ≤ 12, TOL = 0.03; GLP Gibbs nDraws = 1000, nBurn = 500.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1C3663"/>
                </a:solidFill>
                <a:latin typeface="Calibri"/>
              </a:rPr>
              <a:t>▸ </a:t>
            </a:r>
            <a:r>
              <a:rPr sz="1250" b="1">
                <a:solidFill>
                  <a:srgbClr val="1C3663"/>
                </a:solidFill>
                <a:latin typeface="Calibri"/>
              </a:rPr>
              <a:t>Pre-shipping the M + (I−M)⁻¹ artifact</a:t>
            </a:r>
            <a:r>
              <a:rPr sz="1250">
                <a:solidFill>
                  <a:srgbClr val="232323"/>
                </a:solidFill>
                <a:latin typeface="Calibri"/>
              </a:rPr>
              <a:t> skips the ≈19-min in-browser smoother-probe M-build (24 blocs; more at 33) and the ≈46-min in-JS inverse — offline the inverse itself is ≈1 s (BLAS). Warm in-browser solve ≈4.5 s; a US-pinned structure falls back to the inverse-free Neumann path (fresh 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960120"/>
            <a:ext cx="5212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1C3663"/>
                </a:solidFill>
                <a:latin typeface="Calibri"/>
              </a:rPr>
              <a:t>What it buys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371600"/>
            <a:ext cx="521208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Current, shrunk estimates</a:t>
            </a:r>
            <a:r>
              <a:rPr sz="1250">
                <a:solidFill>
                  <a:srgbClr val="232323"/>
                </a:solidFill>
                <a:latin typeface="Calibri"/>
              </a:rPr>
              <a:t> on ragged, COVID-scarred data — no common-window truncation.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>
                <a:solidFill>
                  <a:srgbClr val="232323"/>
                </a:solidFill>
                <a:latin typeface="Calibri"/>
              </a:rPr>
              <a:t>A genuine </a:t>
            </a:r>
            <a:r>
              <a:rPr sz="1250" b="1">
                <a:solidFill>
                  <a:srgbClr val="1C3663"/>
                </a:solidFill>
                <a:latin typeface="Calibri"/>
              </a:rPr>
              <a:t>world→US feedback</a:t>
            </a:r>
            <a:r>
              <a:rPr sz="1250">
                <a:solidFill>
                  <a:srgbClr val="232323"/>
                </a:solidFill>
                <a:latin typeface="Calibri"/>
              </a:rPr>
              <a:t> channel the classical GVAR excludes by construction.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One affine solve</a:t>
            </a:r>
            <a:r>
              <a:rPr sz="1250">
                <a:solidFill>
                  <a:srgbClr val="232323"/>
                </a:solidFill>
                <a:latin typeface="Calibri"/>
              </a:rPr>
              <a:t>, computed once from a pre-built inverse, reused for every scenario.</a:t>
            </a:r>
          </a:p>
          <a:p>
            <a:pPr>
              <a:lnSpc>
                <a:spcPct val="103000"/>
              </a:lnSpc>
              <a:spcAft>
                <a:spcPts val="900"/>
              </a:spcAft>
            </a:pPr>
            <a:r>
              <a:rPr sz="1250" b="1">
                <a:solidFill>
                  <a:srgbClr val="27744B"/>
                </a:solidFill>
                <a:latin typeface="Calibri"/>
              </a:rPr>
              <a:t>+ </a:t>
            </a:r>
            <a:r>
              <a:rPr sz="1250" b="1">
                <a:solidFill>
                  <a:srgbClr val="1C3663"/>
                </a:solidFill>
                <a:latin typeface="Calibri"/>
              </a:rPr>
              <a:t>Coupling by projection step</a:t>
            </a:r>
            <a:r>
              <a:rPr sz="1250">
                <a:solidFill>
                  <a:srgbClr val="232323"/>
                </a:solidFill>
                <a:latin typeface="Calibri"/>
              </a:rPr>
              <a:t>, not calendar date — a bloc ending a quarter early is </a:t>
            </a:r>
            <a:r>
              <a:rPr sz="1250" i="1">
                <a:solidFill>
                  <a:srgbClr val="232323"/>
                </a:solidFill>
                <a:latin typeface="Calibri"/>
              </a:rPr>
              <a:t>completed</a:t>
            </a:r>
            <a:r>
              <a:rPr sz="1250">
                <a:solidFill>
                  <a:srgbClr val="232323"/>
                </a:solidFill>
                <a:latin typeface="Calibri"/>
              </a:rPr>
              <a:t>, not dropped everywhere.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10972" cy="4160520"/>
          </a:xfrm>
          <a:prstGeom prst="rect">
            <a:avLst/>
          </a:prstGeom>
          <a:solidFill>
            <a:srgbClr val="D2D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5870448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Bottom line:  </a:t>
            </a:r>
            <a:r>
              <a:rPr sz="1300">
                <a:solidFill>
                  <a:srgbClr val="232323"/>
                </a:solidFill>
                <a:latin typeface="Calibri"/>
              </a:rPr>
              <a:t>The classical GVAR is the </a:t>
            </a:r>
            <a:r>
              <a:rPr sz="1300" b="1">
                <a:solidFill>
                  <a:srgbClr val="1C3663"/>
                </a:solidFill>
                <a:latin typeface="Calibri"/>
              </a:rPr>
              <a:t>fixed-weight, common-window, exogenous-US special case</a:t>
            </a:r>
            <a:r>
              <a:rPr sz="1300">
                <a:solidFill>
                  <a:srgbClr val="232323"/>
                </a:solidFill>
                <a:latin typeface="Calibri"/>
              </a:rPr>
              <a:t>; the tool relaxes all three and keeps the solve linear.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